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4" r:id="rId3"/>
    <p:sldId id="265" r:id="rId4"/>
    <p:sldId id="272" r:id="rId5"/>
    <p:sldId id="275" r:id="rId6"/>
    <p:sldId id="273" r:id="rId7"/>
    <p:sldId id="271" r:id="rId8"/>
    <p:sldId id="266" r:id="rId9"/>
    <p:sldId id="285" r:id="rId10"/>
    <p:sldId id="284" r:id="rId11"/>
    <p:sldId id="267" r:id="rId12"/>
    <p:sldId id="286" r:id="rId13"/>
    <p:sldId id="289" r:id="rId14"/>
    <p:sldId id="290" r:id="rId15"/>
    <p:sldId id="293" r:id="rId16"/>
    <p:sldId id="291" r:id="rId17"/>
    <p:sldId id="268" r:id="rId18"/>
    <p:sldId id="287" r:id="rId19"/>
    <p:sldId id="263" r:id="rId20"/>
    <p:sldId id="294" r:id="rId21"/>
    <p:sldId id="288" r:id="rId22"/>
    <p:sldId id="295" r:id="rId23"/>
    <p:sldId id="296" r:id="rId24"/>
    <p:sldId id="298" r:id="rId25"/>
    <p:sldId id="269" r:id="rId26"/>
    <p:sldId id="280" r:id="rId27"/>
    <p:sldId id="299" r:id="rId28"/>
    <p:sldId id="282" r:id="rId29"/>
    <p:sldId id="281" r:id="rId30"/>
    <p:sldId id="283" r:id="rId31"/>
    <p:sldId id="276" r:id="rId32"/>
    <p:sldId id="278" r:id="rId33"/>
    <p:sldId id="279" r:id="rId34"/>
    <p:sldId id="270" r:id="rId35"/>
    <p:sldId id="310" r:id="rId36"/>
    <p:sldId id="311" r:id="rId37"/>
    <p:sldId id="300" r:id="rId38"/>
    <p:sldId id="304" r:id="rId39"/>
    <p:sldId id="305" r:id="rId40"/>
    <p:sldId id="306" r:id="rId41"/>
    <p:sldId id="309" r:id="rId42"/>
    <p:sldId id="307" r:id="rId43"/>
    <p:sldId id="308" r:id="rId44"/>
    <p:sldId id="312" r:id="rId45"/>
    <p:sldId id="274" r:id="rId46"/>
    <p:sldId id="292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404040"/>
    <a:srgbClr val="7AB9DF"/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60"/>
  </p:normalViewPr>
  <p:slideViewPr>
    <p:cSldViewPr snapToGrid="0">
      <p:cViewPr varScale="1">
        <p:scale>
          <a:sx n="66" d="100"/>
          <a:sy n="66" d="100"/>
        </p:scale>
        <p:origin x="7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01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59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90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24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10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68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96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43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31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96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57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2019-10-06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9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39705" y="2049612"/>
              <a:ext cx="3165987" cy="3031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800" dirty="0">
                  <a:solidFill>
                    <a:srgbClr val="5B9BD5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05 </a:t>
              </a:r>
              <a:r>
                <a:rPr lang="ko-KR" altLang="en-US" sz="4800" dirty="0">
                  <a:solidFill>
                    <a:srgbClr val="5B9BD5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회귀</a:t>
              </a:r>
              <a:endParaRPr lang="en-US" altLang="ko-KR" sz="48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48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AD5BD4-0D98-4306-AD39-B06A516B230D}"/>
              </a:ext>
            </a:extLst>
          </p:cNvPr>
          <p:cNvSpPr/>
          <p:nvPr/>
        </p:nvSpPr>
        <p:spPr>
          <a:xfrm>
            <a:off x="3336919" y="3968353"/>
            <a:ext cx="5518159" cy="87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kern="0" dirty="0">
                <a:solidFill>
                  <a:srgbClr val="515560"/>
                </a:solidFill>
              </a:rPr>
              <a:t>실리콘밸리</a:t>
            </a:r>
            <a:r>
              <a:rPr lang="en-US" altLang="ko-KR" sz="2000" i="1" kern="0" dirty="0">
                <a:solidFill>
                  <a:srgbClr val="515560"/>
                </a:solidFill>
              </a:rPr>
              <a:t> </a:t>
            </a:r>
            <a:endParaRPr lang="en-US" altLang="ko-KR" i="1" kern="0" dirty="0">
              <a:solidFill>
                <a:srgbClr val="5155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ko-KR" altLang="en-US" sz="1600" kern="0" dirty="0" err="1">
                <a:solidFill>
                  <a:schemeClr val="bg1">
                    <a:lumMod val="50000"/>
                  </a:schemeClr>
                </a:solidFill>
              </a:rPr>
              <a:t>안홍석</a:t>
            </a:r>
            <a:r>
              <a:rPr lang="ko-KR" altLang="en-US" sz="1600" kern="0" dirty="0">
                <a:solidFill>
                  <a:schemeClr val="bg1">
                    <a:lumMod val="50000"/>
                  </a:schemeClr>
                </a:solidFill>
              </a:rPr>
              <a:t> 이승진 이영현 </a:t>
            </a:r>
            <a:r>
              <a:rPr lang="ko-KR" altLang="en-US" sz="1600" kern="0" dirty="0" err="1">
                <a:solidFill>
                  <a:schemeClr val="bg1">
                    <a:lumMod val="50000"/>
                  </a:schemeClr>
                </a:solidFill>
              </a:rPr>
              <a:t>이한결</a:t>
            </a:r>
            <a:r>
              <a:rPr lang="ko-KR" altLang="en-US" sz="1600" kern="0" dirty="0">
                <a:solidFill>
                  <a:schemeClr val="bg1">
                    <a:lumMod val="50000"/>
                  </a:schemeClr>
                </a:solidFill>
              </a:rPr>
              <a:t> 조수민</a:t>
            </a:r>
            <a:endParaRPr lang="ko-KR" altLang="en-US" sz="2800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rgbClr val="5B9BD5"/>
              </a:solidFill>
            </a:endParaRP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602F2836-1D92-4A47-B47B-301F800060BA}"/>
              </a:ext>
            </a:extLst>
          </p:cNvPr>
          <p:cNvSpPr/>
          <p:nvPr/>
        </p:nvSpPr>
        <p:spPr>
          <a:xfrm>
            <a:off x="868218" y="0"/>
            <a:ext cx="7389091" cy="6858000"/>
          </a:xfrm>
          <a:prstGeom prst="parallelogram">
            <a:avLst>
              <a:gd name="adj" fmla="val 62587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0404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CDEFB-12E9-44CD-BCF4-98ED70CEA0A7}"/>
              </a:ext>
            </a:extLst>
          </p:cNvPr>
          <p:cNvSpPr txBox="1"/>
          <p:nvPr/>
        </p:nvSpPr>
        <p:spPr>
          <a:xfrm>
            <a:off x="628072" y="517236"/>
            <a:ext cx="34174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Contents</a:t>
            </a:r>
            <a:endParaRPr lang="ko-KR" altLang="en-US" sz="44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38432-45DE-45B5-A8E7-F5C9ED5F4526}"/>
              </a:ext>
            </a:extLst>
          </p:cNvPr>
          <p:cNvSpPr txBox="1"/>
          <p:nvPr/>
        </p:nvSpPr>
        <p:spPr>
          <a:xfrm>
            <a:off x="4376691" y="1844065"/>
            <a:ext cx="757265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01 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회귀 소개</a:t>
            </a:r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02 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단순 선형 회귀를 통한 회귀 이해</a:t>
            </a:r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03 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sz="2100" dirty="0" err="1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  <a:p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04  </a:t>
            </a:r>
            <a:r>
              <a:rPr lang="ko-KR" altLang="en-US" sz="2100" dirty="0" err="1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2100" dirty="0" err="1">
                <a:solidFill>
                  <a:schemeClr val="bg1">
                    <a:lumMod val="9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05 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06  </a:t>
            </a:r>
            <a:r>
              <a:rPr lang="ko-KR" altLang="en-US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sz="2100" dirty="0" err="1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sz="2100" dirty="0" err="1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sz="2100" dirty="0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sz="2100" dirty="0" err="1">
                <a:solidFill>
                  <a:schemeClr val="bg1">
                    <a:lumMod val="95000"/>
                  </a:schemeClr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sz="2100" dirty="0">
              <a:solidFill>
                <a:schemeClr val="bg1">
                  <a:lumMod val="95000"/>
                </a:schemeClr>
              </a:solidFill>
              <a:ea typeface="나눔스퀘어 ExtraBold" panose="020B0600000101010101" pitchFamily="50" charset="-127"/>
            </a:endParaRPr>
          </a:p>
          <a:p>
            <a:endParaRPr lang="ko-KR" altLang="en-US" sz="1600" dirty="0">
              <a:solidFill>
                <a:schemeClr val="bg1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6D912948-F4B5-4227-A77A-E0080B511ED6}"/>
              </a:ext>
            </a:extLst>
          </p:cNvPr>
          <p:cNvSpPr/>
          <p:nvPr/>
        </p:nvSpPr>
        <p:spPr>
          <a:xfrm>
            <a:off x="535707" y="0"/>
            <a:ext cx="4409155" cy="6858000"/>
          </a:xfrm>
          <a:prstGeom prst="parallelogram">
            <a:avLst>
              <a:gd name="adj" fmla="val 98179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1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5B9BD5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01  </a:t>
              </a:r>
              <a:r>
                <a:rPr lang="ko-KR" altLang="en-US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회귀소개</a:t>
              </a: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914400" indent="-914400" algn="ctr">
                <a:lnSpc>
                  <a:spcPct val="150000"/>
                </a:lnSpc>
                <a:buAutoNum type="arabicPlain"/>
              </a:pPr>
              <a:endParaRPr lang="en-US" altLang="ko-KR" sz="20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58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85351A-A03F-4914-B22F-867389043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012" y="4074850"/>
            <a:ext cx="10569976" cy="235068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현대 통계학을 떠받치고 있는 주요 기둥 중 하나</a:t>
            </a:r>
            <a:endParaRPr lang="en-US" altLang="ko-KR" sz="240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엔지니어링</a:t>
            </a: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의학</a:t>
            </a: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사회과학</a:t>
            </a: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경제학 등의 분야가 발전하는데 큰 기여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2500" b="1" dirty="0">
                <a:solidFill>
                  <a:srgbClr val="5959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회귀분석</a:t>
            </a:r>
            <a:r>
              <a:rPr lang="en-US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ko-KR" sz="24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값이 평균과 같은 일정한 값으로 돌아가려는 경향을 이용한 통계학 기법</a:t>
            </a:r>
          </a:p>
          <a:p>
            <a:endParaRPr lang="ko-KR" altLang="ko-KR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307853A-A813-46CE-A0CA-004E6EB9A752}"/>
              </a:ext>
            </a:extLst>
          </p:cNvPr>
          <p:cNvSpPr/>
          <p:nvPr/>
        </p:nvSpPr>
        <p:spPr>
          <a:xfrm>
            <a:off x="4666211" y="948155"/>
            <a:ext cx="2859578" cy="2859578"/>
          </a:xfrm>
          <a:prstGeom prst="ellipse">
            <a:avLst/>
          </a:prstGeom>
          <a:solidFill>
            <a:srgbClr val="7AB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4800" b="1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</a:t>
            </a:r>
            <a:endParaRPr lang="en-US" altLang="ko-KR" sz="4800" b="1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CF1005-6CD5-4E4F-BAD6-0C97C7977A50}"/>
              </a:ext>
            </a:extLst>
          </p:cNvPr>
          <p:cNvSpPr/>
          <p:nvPr/>
        </p:nvSpPr>
        <p:spPr>
          <a:xfrm>
            <a:off x="358543" y="213152"/>
            <a:ext cx="1425390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회귀소개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420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6CF1005-6CD5-4E4F-BAD6-0C97C7977A50}"/>
              </a:ext>
            </a:extLst>
          </p:cNvPr>
          <p:cNvSpPr/>
          <p:nvPr/>
        </p:nvSpPr>
        <p:spPr>
          <a:xfrm>
            <a:off x="358543" y="213152"/>
            <a:ext cx="1425390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회귀소개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CA12C53C-E1EC-4464-9E79-832B067D4112}"/>
                  </a:ext>
                </a:extLst>
              </p:cNvPr>
              <p:cNvSpPr/>
              <p:nvPr/>
            </p:nvSpPr>
            <p:spPr>
              <a:xfrm>
                <a:off x="1757423" y="1368791"/>
                <a:ext cx="867715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ko-KR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ko-KR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ko-KR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ko-KR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3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sSup>
                            <m:sSupPr>
                              <m:ctrlPr>
                                <a:rPr lang="ko-KR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ko-KR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ko-KR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CA12C53C-E1EC-4464-9E79-832B067D4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23" y="1368791"/>
                <a:ext cx="867715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68D383-31A7-4844-920C-B096BAD944A1}"/>
                  </a:ext>
                </a:extLst>
              </p:cNvPr>
              <p:cNvSpPr txBox="1"/>
              <p:nvPr/>
            </p:nvSpPr>
            <p:spPr>
              <a:xfrm>
                <a:off x="1393794" y="2851577"/>
                <a:ext cx="6436311" cy="17543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: </a:t>
                </a:r>
                <a:r>
                  <a:rPr lang="ko-KR" altLang="en-US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종속변수                 </a:t>
                </a:r>
                <a:endParaRPr lang="en-US" altLang="ko-KR" dirty="0">
                  <a:solidFill>
                    <a:srgbClr val="595959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endParaRPr lang="en-US" altLang="ko-KR" dirty="0">
                  <a:solidFill>
                    <a:srgbClr val="595959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ko-KR" altLang="en-US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ko-KR" altLang="en-US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ko-KR" b="0" i="0" smtClean="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: </a:t>
                </a:r>
                <a:r>
                  <a:rPr lang="ko-KR" altLang="en-US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독립변수                              </a:t>
                </a:r>
                <a:endParaRPr lang="en-US" altLang="ko-KR" dirty="0">
                  <a:solidFill>
                    <a:srgbClr val="595959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endParaRPr lang="en-US" altLang="ko-KR" dirty="0">
                  <a:solidFill>
                    <a:srgbClr val="595959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ko-KR" altLang="en-US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ko-KR" altLang="en-US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0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</a:t>
                </a:r>
                <a:r>
                  <a:rPr lang="ko-KR" altLang="en-US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ko-KR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</a:t>
                </a:r>
                <a:r>
                  <a:rPr lang="ko-KR" altLang="en-US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: </a:t>
                </a:r>
                <a:r>
                  <a:rPr lang="ko-KR" altLang="en-US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회귀 계수</a:t>
                </a:r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 Regression coefficients)   </a:t>
                </a:r>
                <a:r>
                  <a:rPr lang="ko-KR" altLang="en-US" dirty="0">
                    <a:solidFill>
                      <a:srgbClr val="FFC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★</a:t>
                </a:r>
                <a:r>
                  <a:rPr lang="en-US" altLang="ko-KR" dirty="0">
                    <a:solidFill>
                      <a:srgbClr val="595959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68D383-31A7-4844-920C-B096BAD94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794" y="2851577"/>
                <a:ext cx="6436311" cy="1754326"/>
              </a:xfrm>
              <a:prstGeom prst="rect">
                <a:avLst/>
              </a:prstGeom>
              <a:blipFill>
                <a:blip r:embed="rId3"/>
                <a:stretch>
                  <a:fillRect t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99A48C0-75B9-435B-9666-725AEAA97FB0}"/>
              </a:ext>
            </a:extLst>
          </p:cNvPr>
          <p:cNvSpPr/>
          <p:nvPr/>
        </p:nvSpPr>
        <p:spPr>
          <a:xfrm>
            <a:off x="5934720" y="3278079"/>
            <a:ext cx="528223" cy="301841"/>
          </a:xfrm>
          <a:prstGeom prst="rightArrow">
            <a:avLst/>
          </a:prstGeom>
          <a:solidFill>
            <a:srgbClr val="7AB9DF"/>
          </a:solidFill>
          <a:ln>
            <a:solidFill>
              <a:srgbClr val="7AB9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851C2-C713-4A71-BEAC-6594FE5EB694}"/>
              </a:ext>
            </a:extLst>
          </p:cNvPr>
          <p:cNvSpPr txBox="1"/>
          <p:nvPr/>
        </p:nvSpPr>
        <p:spPr>
          <a:xfrm>
            <a:off x="7310781" y="2202650"/>
            <a:ext cx="16408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머신 러닝</a:t>
            </a:r>
            <a:endParaRPr lang="en-US" altLang="ko-KR" sz="2800" dirty="0">
              <a:solidFill>
                <a:schemeClr val="accent1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600" dirty="0">
              <a:solidFill>
                <a:srgbClr val="7AB9D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b="1" dirty="0" err="1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결정값</a:t>
            </a:r>
            <a:endParaRPr lang="en-US" altLang="ko-KR" b="1" dirty="0">
              <a:solidFill>
                <a:srgbClr val="7AB9D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endParaRPr lang="en-US" altLang="ko-KR" b="1" dirty="0">
              <a:solidFill>
                <a:srgbClr val="7AB9D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피처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9DE6A-1827-4CC0-A630-59F137C6B3CA}"/>
              </a:ext>
            </a:extLst>
          </p:cNvPr>
          <p:cNvSpPr txBox="1"/>
          <p:nvPr/>
        </p:nvSpPr>
        <p:spPr>
          <a:xfrm>
            <a:off x="773835" y="5003970"/>
            <a:ext cx="1064432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ko-KR" sz="2400" dirty="0" err="1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머신러닝</a:t>
            </a:r>
            <a:r>
              <a:rPr lang="ko-KR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회귀 예측의 핵심</a:t>
            </a:r>
            <a:r>
              <a:rPr lang="en-US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</a:p>
          <a:p>
            <a:endParaRPr lang="en-US" altLang="ko-KR" sz="1300" dirty="0">
              <a:solidFill>
                <a:srgbClr val="595959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주어진 피처와 결정 값 데이터 기반에서 학습을 통해 </a:t>
            </a:r>
            <a:r>
              <a:rPr lang="ko-KR" altLang="ko-KR" sz="2400" u="sng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최적의 회귀 계수</a:t>
            </a:r>
            <a:r>
              <a:rPr lang="ko-KR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찾아내는 것</a:t>
            </a:r>
          </a:p>
        </p:txBody>
      </p:sp>
    </p:spTree>
    <p:extLst>
      <p:ext uri="{BB962C8B-B14F-4D97-AF65-F5344CB8AC3E}">
        <p14:creationId xmlns:p14="http://schemas.microsoft.com/office/powerpoint/2010/main" val="186772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6CF1005-6CD5-4E4F-BAD6-0C97C7977A50}"/>
              </a:ext>
            </a:extLst>
          </p:cNvPr>
          <p:cNvSpPr/>
          <p:nvPr/>
        </p:nvSpPr>
        <p:spPr>
          <a:xfrm>
            <a:off x="358543" y="213152"/>
            <a:ext cx="1425390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회귀소개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F03EA7B-C5D5-4EC9-AD94-2AA59DC2F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980412"/>
              </p:ext>
            </p:extLst>
          </p:nvPr>
        </p:nvGraphicFramePr>
        <p:xfrm>
          <a:off x="2032000" y="131079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250377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0941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독립변수 개수</a:t>
                      </a:r>
                    </a:p>
                  </a:txBody>
                  <a:tcPr>
                    <a:solidFill>
                      <a:srgbClr val="7AB9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회귀 계수의 결합</a:t>
                      </a:r>
                    </a:p>
                  </a:txBody>
                  <a:tcPr>
                    <a:solidFill>
                      <a:srgbClr val="7AB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28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</a:t>
                      </a:r>
                      <a:r>
                        <a:rPr lang="en-US" altLang="ko-KR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단일 회귀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선형</a:t>
                      </a:r>
                      <a:r>
                        <a:rPr lang="en-US" altLang="ko-KR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선형 회귀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065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여러 개</a:t>
                      </a:r>
                      <a:r>
                        <a:rPr lang="en-US" altLang="ko-KR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다중 회귀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비선형</a:t>
                      </a:r>
                      <a:r>
                        <a:rPr lang="en-US" altLang="ko-KR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rgbClr val="595959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비선형 회귀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28393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31DC164-3AA0-4E96-88D5-FCDEFA145B3B}"/>
              </a:ext>
            </a:extLst>
          </p:cNvPr>
          <p:cNvSpPr txBox="1"/>
          <p:nvPr/>
        </p:nvSpPr>
        <p:spPr>
          <a:xfrm>
            <a:off x="5218545" y="775206"/>
            <a:ext cx="175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 유형 구분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5DA85A7-140D-466E-BAD3-4A1F2A666686}"/>
              </a:ext>
            </a:extLst>
          </p:cNvPr>
          <p:cNvGrpSpPr/>
          <p:nvPr/>
        </p:nvGrpSpPr>
        <p:grpSpPr>
          <a:xfrm>
            <a:off x="480291" y="3029527"/>
            <a:ext cx="11231418" cy="3398932"/>
            <a:chOff x="4350309" y="1893159"/>
            <a:chExt cx="3344779" cy="334477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0388297-A6EC-4ABF-8881-391793CBFD46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71DCDB-747F-4027-9551-D15976EFFB51}"/>
                </a:ext>
              </a:extLst>
            </p:cNvPr>
            <p:cNvSpPr/>
            <p:nvPr/>
          </p:nvSpPr>
          <p:spPr>
            <a:xfrm>
              <a:off x="4387442" y="2001194"/>
              <a:ext cx="3270512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914400" indent="-914400" algn="ctr">
                <a:lnSpc>
                  <a:spcPct val="150000"/>
                </a:lnSpc>
                <a:buAutoNum type="arabicPlain"/>
              </a:pPr>
              <a:endParaRPr lang="en-US" altLang="ko-KR" sz="20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60CA1A5-1172-4D4F-9CCA-4E1382B50720}"/>
              </a:ext>
            </a:extLst>
          </p:cNvPr>
          <p:cNvSpPr txBox="1"/>
          <p:nvPr/>
        </p:nvSpPr>
        <p:spPr>
          <a:xfrm>
            <a:off x="780470" y="3429000"/>
            <a:ext cx="10631055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선형 회귀</a:t>
            </a:r>
            <a:endParaRPr lang="en-US" altLang="ko-KR" sz="2500" b="1" dirty="0">
              <a:solidFill>
                <a:srgbClr val="595959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0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가장 많이 사용</a:t>
            </a:r>
            <a:r>
              <a:rPr lang="ko-KR" altLang="en-US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되는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유형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ko-KR" sz="220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200" dirty="0" err="1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실제값과</a:t>
            </a: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2200" dirty="0" err="1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예측값의</a:t>
            </a: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차이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오류의 제곱 값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최소화하는 직선형 회귀선을 최적화하는 방식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ko-KR" sz="220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규제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(Regularization)</a:t>
            </a:r>
            <a:r>
              <a:rPr lang="ko-KR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방법에 따라 다시 별도의 유형으로 나뉨</a:t>
            </a:r>
            <a:r>
              <a:rPr lang="en-US" altLang="ko-KR" sz="22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ko-KR" sz="220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</a:t>
            </a:r>
            <a:r>
              <a:rPr lang="ko-KR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규제</a:t>
            </a:r>
            <a:r>
              <a:rPr lang="en-US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일반적인 선형 회귀의 </a:t>
            </a:r>
            <a:r>
              <a:rPr lang="ko-KR" altLang="ko-KR" dirty="0" err="1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과적합</a:t>
            </a:r>
            <a:r>
              <a:rPr lang="ko-KR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문제를 해결하기 위해서 회귀 계수에 페널티 값을 적용하는 것</a:t>
            </a:r>
            <a:r>
              <a:rPr lang="en-US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ko-KR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24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C3C44-C49E-4EB0-B445-0F5C9491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1037"/>
            <a:ext cx="10515600" cy="1078129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36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선형 회귀 모델</a:t>
            </a:r>
            <a:r>
              <a:rPr lang="en-US" altLang="ko-KR" sz="36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ko-KR" altLang="en-US" sz="3600" dirty="0">
              <a:solidFill>
                <a:srgbClr val="595959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1EAB86F9-5A72-4338-8814-383E682A5F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028297"/>
              </p:ext>
            </p:extLst>
          </p:nvPr>
        </p:nvGraphicFramePr>
        <p:xfrm>
          <a:off x="445363" y="1690688"/>
          <a:ext cx="11301273" cy="47916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3392">
                  <a:extLst>
                    <a:ext uri="{9D8B030D-6E8A-4147-A177-3AD203B41FA5}">
                      <a16:colId xmlns:a16="http://schemas.microsoft.com/office/drawing/2014/main" val="227134181"/>
                    </a:ext>
                  </a:extLst>
                </a:gridCol>
                <a:gridCol w="8877881">
                  <a:extLst>
                    <a:ext uri="{9D8B030D-6E8A-4147-A177-3AD203B41FA5}">
                      <a16:colId xmlns:a16="http://schemas.microsoft.com/office/drawing/2014/main" val="1839895550"/>
                    </a:ext>
                  </a:extLst>
                </a:gridCol>
              </a:tblGrid>
              <a:tr h="8927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b="1" dirty="0"/>
                        <a:t>일반 선형 회귀 </a:t>
                      </a:r>
                      <a:endParaRPr lang="ko-KR" altLang="en-US" b="1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ko-KR" sz="1700" b="0" dirty="0" err="1">
                          <a:solidFill>
                            <a:srgbClr val="595959"/>
                          </a:solidFill>
                        </a:rPr>
                        <a:t>예측값과</a:t>
                      </a:r>
                      <a:r>
                        <a:rPr lang="ko-KR" altLang="ko-KR" sz="1700" b="0" dirty="0">
                          <a:solidFill>
                            <a:srgbClr val="595959"/>
                          </a:solidFill>
                        </a:rPr>
                        <a:t> 실제 값의 </a:t>
                      </a:r>
                      <a:r>
                        <a:rPr lang="en-US" altLang="ko-KR" sz="1700" b="0" dirty="0">
                          <a:solidFill>
                            <a:srgbClr val="595959"/>
                          </a:solidFill>
                        </a:rPr>
                        <a:t>RSS(Residual Sum of Squares)</a:t>
                      </a:r>
                      <a:r>
                        <a:rPr lang="ko-KR" altLang="ko-KR" sz="1700" b="0" dirty="0">
                          <a:solidFill>
                            <a:srgbClr val="595959"/>
                          </a:solidFill>
                        </a:rPr>
                        <a:t>를 최소화할 수 있도록 회귀 계수를 최적화 하며</a:t>
                      </a:r>
                      <a:r>
                        <a:rPr lang="en-US" altLang="ko-KR" sz="1700" b="0" dirty="0">
                          <a:solidFill>
                            <a:srgbClr val="595959"/>
                          </a:solidFill>
                        </a:rPr>
                        <a:t>, </a:t>
                      </a:r>
                      <a:r>
                        <a:rPr lang="ko-KR" altLang="ko-KR" sz="1700" b="0" dirty="0">
                          <a:solidFill>
                            <a:srgbClr val="595959"/>
                          </a:solidFill>
                        </a:rPr>
                        <a:t>규제</a:t>
                      </a:r>
                      <a:r>
                        <a:rPr lang="en-US" altLang="ko-KR" sz="1700" b="0" dirty="0">
                          <a:solidFill>
                            <a:srgbClr val="595959"/>
                          </a:solidFill>
                        </a:rPr>
                        <a:t>(Regularization)</a:t>
                      </a:r>
                      <a:r>
                        <a:rPr lang="ko-KR" altLang="ko-KR" sz="1700" b="0" dirty="0">
                          <a:solidFill>
                            <a:srgbClr val="595959"/>
                          </a:solidFill>
                        </a:rPr>
                        <a:t>를 적용하지 않은 모델</a:t>
                      </a:r>
                      <a:endParaRPr lang="ko-KR" altLang="en-US" sz="17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82473"/>
                  </a:ext>
                </a:extLst>
              </a:tr>
              <a:tr h="8788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b="1" dirty="0" err="1"/>
                        <a:t>릿지</a:t>
                      </a:r>
                      <a:r>
                        <a:rPr lang="en-US" altLang="ko-KR" b="1" dirty="0"/>
                        <a:t>(Ridge)</a:t>
                      </a:r>
                      <a:endParaRPr lang="ko-KR" altLang="en-US" b="1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선형 회귀에 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L2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규제를 추가한 회귀 모델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 L2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규제는 상대적으로 큰 회귀 계수 값의 예측 영향도를 감소시키기 위해서 회귀 </a:t>
                      </a:r>
                      <a:r>
                        <a:rPr lang="ko-KR" altLang="ko-KR" sz="1700" dirty="0" err="1">
                          <a:solidFill>
                            <a:srgbClr val="595959"/>
                          </a:solidFill>
                        </a:rPr>
                        <a:t>계수값을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 더 작게 만드는 규제 모델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이다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</a:t>
                      </a:r>
                      <a:endParaRPr lang="ko-KR" altLang="ko-KR" sz="1700" dirty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586218"/>
                  </a:ext>
                </a:extLst>
              </a:tr>
              <a:tr h="1154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b="1" dirty="0" err="1"/>
                        <a:t>라쏘</a:t>
                      </a:r>
                      <a:r>
                        <a:rPr lang="en-US" altLang="ko-KR" b="1" dirty="0"/>
                        <a:t>(Lasso)</a:t>
                      </a:r>
                      <a:endParaRPr lang="ko-KR" altLang="en-US" b="1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선형 회귀에 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L1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규제를 적용한 방식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 L2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규제가 회귀 계수 값의 크기를 줄이는 데 반해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, L1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규제는 예측 영향력이 작은 피처의 회귀 계수를 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0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으로 만들어 회귀 예측 시 피처가 선택되지 않게 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한다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 L1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규제는 피처 선택 기능으로도 불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린다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</a:t>
                      </a:r>
                      <a:endParaRPr lang="ko-KR" altLang="ko-KR" sz="1700" dirty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220774"/>
                  </a:ext>
                </a:extLst>
              </a:tr>
              <a:tr h="905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b="1" dirty="0" err="1"/>
                        <a:t>엘라스틱넷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altLang="ko-KR" b="1" dirty="0" err="1"/>
                        <a:t>ElasticNet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L2, L1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규제를 함께 결합한 모델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 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주로 피처가 많은 데이터 세트에서 적용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되고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, L1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규제로 피처의 개수를 줄임과 동시에 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L2 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규제로 계수 값의 크기를 조정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한다</a:t>
                      </a:r>
                      <a:endParaRPr lang="ko-KR" altLang="ko-KR" sz="1700" dirty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986054"/>
                  </a:ext>
                </a:extLst>
              </a:tr>
              <a:tr h="960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b="1" dirty="0"/>
                        <a:t>로지스틱 회귀</a:t>
                      </a:r>
                      <a:r>
                        <a:rPr lang="en-US" altLang="ko-KR" b="1" dirty="0"/>
                        <a:t>(Logistic Regression)</a:t>
                      </a:r>
                      <a:endParaRPr lang="ko-KR" altLang="en-US" b="1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매우 강력한 분류 알고리즘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으로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rgbClr val="595959"/>
                          </a:solidFill>
                        </a:rPr>
                        <a:t>분류에 사용되는 선형 모델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. 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이진분류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, 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희소영역의 분류</a:t>
                      </a:r>
                      <a:r>
                        <a:rPr lang="en-US" altLang="ko-KR" sz="1700" dirty="0">
                          <a:solidFill>
                            <a:srgbClr val="595959"/>
                          </a:solidFill>
                        </a:rPr>
                        <a:t>, </a:t>
                      </a:r>
                      <a:r>
                        <a:rPr lang="ko-KR" altLang="ko-KR" sz="1700" dirty="0">
                          <a:solidFill>
                            <a:srgbClr val="595959"/>
                          </a:solidFill>
                        </a:rPr>
                        <a:t>텍스트 분류와 같은 영역에서 뛰어난 예측 성능을 보임</a:t>
                      </a:r>
                      <a:endParaRPr lang="ko-KR" altLang="en-US" sz="170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770586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BF78D2-58F1-43A8-86E7-A65F4C1F7809}"/>
              </a:ext>
            </a:extLst>
          </p:cNvPr>
          <p:cNvSpPr/>
          <p:nvPr/>
        </p:nvSpPr>
        <p:spPr>
          <a:xfrm>
            <a:off x="358543" y="213152"/>
            <a:ext cx="1425390" cy="467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회귀소개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879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7AB9D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02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 </a:t>
              </a:r>
              <a:r>
                <a:rPr lang="ko-KR" altLang="en-US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단순 선형 회귀를 통한 회귀 이해</a:t>
              </a: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3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EBE4D5D-BD55-48EF-BEFE-89994BED53C7}"/>
              </a:ext>
            </a:extLst>
          </p:cNvPr>
          <p:cNvSpPr/>
          <p:nvPr/>
        </p:nvSpPr>
        <p:spPr>
          <a:xfrm>
            <a:off x="358543" y="210737"/>
            <a:ext cx="3772186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단순 선형 회귀를 통한 회귀 이해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4098" name="Picture 2" descr="실제값과 모델 사이의 오류값에 대한 이미지 검색결과">
            <a:extLst>
              <a:ext uri="{FF2B5EF4-FFF2-40B4-BE49-F238E27FC236}">
                <a16:creationId xmlns:a16="http://schemas.microsoft.com/office/drawing/2014/main" id="{60DB0AE6-0E76-4031-BDD4-5C39269E2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43" y="1926453"/>
            <a:ext cx="4933766" cy="387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FBC97C8-85E8-4FA4-9845-632082686FFB}"/>
                  </a:ext>
                </a:extLst>
              </p:cNvPr>
              <p:cNvSpPr/>
              <p:nvPr/>
            </p:nvSpPr>
            <p:spPr>
              <a:xfrm>
                <a:off x="5292309" y="1819922"/>
                <a:ext cx="6603769" cy="4404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독립변수도 하나</a:t>
                </a:r>
                <a:r>
                  <a:rPr lang="en-US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종속변수도 하나인 선형 회귀</a:t>
                </a:r>
                <a:r>
                  <a:rPr lang="en-US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.</a:t>
                </a:r>
                <a:endParaRPr lang="ko-KR" altLang="ko-KR" kern="100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일차 함수 그래프 모형</a:t>
                </a:r>
                <a:r>
                  <a:rPr lang="en-US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. </a:t>
                </a: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altLang="ko-KR" sz="900" kern="100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ko-KR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acc>
                    <m:r>
                      <a:rPr lang="en-US" altLang="ko-KR" b="1" kern="10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kern="10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 kern="10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ko-KR" b="1" i="1" kern="10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endParaRPr lang="ko-KR" altLang="ko-KR" b="1" kern="100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ko-KR" sz="1600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기울기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600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sz="1600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600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절편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600" i="1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sz="1600" kern="10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 -&gt; </a:t>
                </a:r>
                <a:r>
                  <a:rPr lang="ko-KR" altLang="ko-KR" sz="1600" kern="100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Times New Roman" panose="02020603050405020304" pitchFamily="18" charset="0"/>
                  </a:rPr>
                  <a:t>회귀 계수</a:t>
                </a:r>
                <a:endParaRPr lang="en-US" altLang="ko-KR" sz="1600" kern="100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en-US" altLang="ko-KR" sz="1050" kern="100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b="1" dirty="0">
                    <a:solidFill>
                      <a:srgbClr val="7AB9DF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     </a:t>
                </a:r>
                <a:r>
                  <a:rPr lang="ko-KR" altLang="ko-KR" sz="2000" b="1" dirty="0" err="1">
                    <a:solidFill>
                      <a:srgbClr val="7AB9DF"/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잔차</a:t>
                </a:r>
                <a:r>
                  <a:rPr lang="en-US" altLang="ko-KR" sz="2000" dirty="0">
                    <a:solidFill>
                      <a:srgbClr val="404040"/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   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실제 값과 회귀 모델의 차이에 따른 </a:t>
                </a:r>
                <a:r>
                  <a:rPr lang="ko-KR" altLang="ko-KR" dirty="0" err="1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오류값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.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남은 오류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.</a:t>
                </a:r>
              </a:p>
              <a:p>
                <a:endParaRPr lang="ko-KR" altLang="ko-KR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ko-KR" b="1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최적의 회귀 모델</a:t>
                </a:r>
                <a:endParaRPr lang="en-US" altLang="ko-KR" b="1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전체 데이터의 </a:t>
                </a:r>
                <a:r>
                  <a:rPr lang="ko-KR" altLang="ko-KR" dirty="0" err="1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잔차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(</a:t>
                </a:r>
                <a:r>
                  <a:rPr lang="ko-KR" altLang="ko-KR" dirty="0" err="1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오류값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)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합이 최소가 되는 모델</a:t>
                </a:r>
                <a:endParaRPr lang="en-US" altLang="ko-KR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ko-KR" dirty="0" err="1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오류값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 합이 최소가 될 수 있는 최적의 회귀 계수를 찾는다는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 </a:t>
                </a:r>
                <a:r>
                  <a:rPr lang="ko-KR" altLang="en-US" dirty="0">
                    <a:solidFill>
                      <a:srgbClr val="404040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</a:rPr>
                  <a:t>것</a:t>
                </a:r>
                <a:endParaRPr lang="en-US" altLang="ko-KR" dirty="0">
                  <a:solidFill>
                    <a:srgbClr val="404040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FBC97C8-85E8-4FA4-9845-632082686F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309" y="1819922"/>
                <a:ext cx="6603769" cy="4404604"/>
              </a:xfrm>
              <a:prstGeom prst="rect">
                <a:avLst/>
              </a:prstGeom>
              <a:blipFill>
                <a:blip r:embed="rId3"/>
                <a:stretch>
                  <a:fillRect l="-739" t="-554" b="-1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2EA847C1-4A9E-4C7C-9221-E20CB37378CF}"/>
              </a:ext>
            </a:extLst>
          </p:cNvPr>
          <p:cNvSpPr/>
          <p:nvPr/>
        </p:nvSpPr>
        <p:spPr>
          <a:xfrm>
            <a:off x="5313692" y="1376094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3BDA4C-6D49-4C6C-B7B6-614E228E5E6A}"/>
              </a:ext>
            </a:extLst>
          </p:cNvPr>
          <p:cNvSpPr/>
          <p:nvPr/>
        </p:nvSpPr>
        <p:spPr>
          <a:xfrm>
            <a:off x="5607715" y="1222432"/>
            <a:ext cx="2021707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b="1" kern="1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단순 선형 회귀</a:t>
            </a:r>
            <a:endParaRPr lang="en-US" altLang="ko-KR" sz="2400" b="1" kern="100" dirty="0">
              <a:solidFill>
                <a:srgbClr val="40404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F71A3EA-CF6B-424D-840F-041438CC8F29}"/>
              </a:ext>
            </a:extLst>
          </p:cNvPr>
          <p:cNvCxnSpPr/>
          <p:nvPr/>
        </p:nvCxnSpPr>
        <p:spPr>
          <a:xfrm>
            <a:off x="3062796" y="1819922"/>
            <a:ext cx="825623" cy="825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80FFCE-7FE1-4409-AB5E-93C67367D280}"/>
              </a:ext>
            </a:extLst>
          </p:cNvPr>
          <p:cNvSpPr txBox="1"/>
          <p:nvPr/>
        </p:nvSpPr>
        <p:spPr>
          <a:xfrm>
            <a:off x="1618349" y="1486774"/>
            <a:ext cx="2541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실제값과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모델 사이의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오류값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9EE3B0-F481-4A3C-8682-66F2E80D6BDB}"/>
              </a:ext>
            </a:extLst>
          </p:cNvPr>
          <p:cNvSpPr/>
          <p:nvPr/>
        </p:nvSpPr>
        <p:spPr>
          <a:xfrm>
            <a:off x="5374495" y="4022224"/>
            <a:ext cx="149291" cy="122753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07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EBE4D5D-BD55-48EF-BEFE-89994BED53C7}"/>
              </a:ext>
            </a:extLst>
          </p:cNvPr>
          <p:cNvSpPr/>
          <p:nvPr/>
        </p:nvSpPr>
        <p:spPr>
          <a:xfrm>
            <a:off x="358543" y="210737"/>
            <a:ext cx="3772186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단순 선형 회귀를 통한 회귀 이해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5DA85A7-140D-466E-BAD3-4A1F2A666686}"/>
              </a:ext>
            </a:extLst>
          </p:cNvPr>
          <p:cNvGrpSpPr/>
          <p:nvPr/>
        </p:nvGrpSpPr>
        <p:grpSpPr>
          <a:xfrm>
            <a:off x="1675882" y="3098306"/>
            <a:ext cx="8840233" cy="1349407"/>
            <a:chOff x="4350309" y="1893159"/>
            <a:chExt cx="3344779" cy="334477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0388297-A6EC-4ABF-8881-391793CBFD46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71DCDB-747F-4027-9551-D15976EFFB51}"/>
                </a:ext>
              </a:extLst>
            </p:cNvPr>
            <p:cNvSpPr/>
            <p:nvPr/>
          </p:nvSpPr>
          <p:spPr>
            <a:xfrm>
              <a:off x="4374511" y="2046199"/>
              <a:ext cx="3296372" cy="3038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914400" indent="-914400" algn="ctr">
                <a:lnSpc>
                  <a:spcPct val="150000"/>
                </a:lnSpc>
                <a:buAutoNum type="arabicPlain"/>
              </a:pPr>
              <a:endParaRPr lang="en-US" altLang="ko-KR" sz="20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0CA1A5-1172-4D4F-9CCA-4E1382B50720}"/>
                  </a:ext>
                </a:extLst>
              </p:cNvPr>
              <p:cNvSpPr txBox="1"/>
              <p:nvPr/>
            </p:nvSpPr>
            <p:spPr>
              <a:xfrm>
                <a:off x="780467" y="1165352"/>
                <a:ext cx="10631055" cy="1462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※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ko-KR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오류</a:t>
                </a:r>
                <a:r>
                  <a:rPr lang="en-US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ko-KR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값은 </a:t>
                </a:r>
                <a:r>
                  <a:rPr lang="en-US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+ </a:t>
                </a:r>
                <a:r>
                  <a:rPr lang="ko-KR" altLang="en-US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나</a:t>
                </a:r>
                <a:r>
                  <a:rPr lang="en-US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– </a:t>
                </a:r>
                <a:r>
                  <a:rPr lang="ko-KR" altLang="en-US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로 나올 수 있다</a:t>
                </a:r>
                <a:r>
                  <a:rPr lang="en-US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. </a:t>
                </a:r>
                <a:r>
                  <a:rPr lang="ko-KR" altLang="en-US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전체 데이터의 오류 합을 구하기 위해 </a:t>
                </a:r>
                <a:r>
                  <a:rPr lang="ko-KR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단순히 </a:t>
                </a:r>
                <a:r>
                  <a:rPr lang="ko-KR" altLang="en-US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더하면</a:t>
                </a:r>
                <a:r>
                  <a:rPr lang="ko-KR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오류 합이 크게 줄어들 수 있다</a:t>
                </a:r>
                <a:r>
                  <a:rPr lang="en-US" altLang="ko-KR" sz="1700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rgbClr val="7AB9DF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   →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오류 합을 계산할 </a:t>
                </a:r>
                <a:r>
                  <a:rPr lang="ko-KR" altLang="en-US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때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는 절댓값을 취해서 더하거나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(Mean Absolute Error)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     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ko-KR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오류 값의 제곱을 구해서 더하는 방식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(RSS)</a:t>
                </a:r>
                <a:r>
                  <a:rPr lang="ko-KR" altLang="en-US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을 사용</a:t>
                </a:r>
                <a:r>
                  <a:rPr lang="en-US" altLang="ko-KR" dirty="0">
                    <a:solidFill>
                      <a:srgbClr val="40404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ko-KR" sz="2400" b="1" i="1" smtClean="0">
                            <a:solidFill>
                              <a:srgbClr val="7AB9D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1" i="1">
                            <a:solidFill>
                              <a:srgbClr val="7AB9D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𝑬𝒓𝒓𝒐𝒓𝒔</m:t>
                        </m:r>
                      </m:e>
                      <m:sup>
                        <m:r>
                          <a:rPr lang="en-US" altLang="ko-KR" sz="2400" b="1" i="1">
                            <a:solidFill>
                              <a:srgbClr val="7AB9D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sz="2400" b="1" i="1">
                        <a:solidFill>
                          <a:srgbClr val="7AB9D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1" i="1">
                        <a:solidFill>
                          <a:srgbClr val="7AB9D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𝐑𝐒𝐒</m:t>
                    </m:r>
                  </m:oMath>
                </a14:m>
                <a:endParaRPr lang="ko-KR" altLang="ko-KR" sz="2400" b="1" dirty="0">
                  <a:solidFill>
                    <a:srgbClr val="7AB9D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0CA1A5-1172-4D4F-9CCA-4E1382B50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67" y="1165352"/>
                <a:ext cx="10631055" cy="1462773"/>
              </a:xfrm>
              <a:prstGeom prst="rect">
                <a:avLst/>
              </a:prstGeom>
              <a:blipFill>
                <a:blip r:embed="rId2"/>
                <a:stretch>
                  <a:fillRect l="-573" r="-745" b="-5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DE47857-F015-4141-A79B-1A55A43B26C2}"/>
                  </a:ext>
                </a:extLst>
              </p:cNvPr>
              <p:cNvSpPr/>
              <p:nvPr/>
            </p:nvSpPr>
            <p:spPr>
              <a:xfrm>
                <a:off x="2571089" y="3283473"/>
                <a:ext cx="7049815" cy="89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ko-KR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ko-KR" altLang="en-US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ko-KR" altLang="en-US" sz="28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ko-KR" altLang="en-US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ko-KR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Sup>
                        <m:sSubSupPr>
                          <m:ctrlPr>
                            <a:rPr lang="ko-KR" alt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ko-KR" altLang="en-US" sz="2800" i="0">
                              <a:latin typeface="Cambria Math" panose="02040503050406030204" pitchFamily="18" charset="0"/>
                            </a:rPr>
                            <m:t>ⅈ=1</m:t>
                          </m:r>
                        </m:sub>
                        <m:sup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sSup>
                        <m:sSupPr>
                          <m:ctrlPr>
                            <a:rPr lang="ko-KR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ko-KR" altLang="en-US" sz="2800" i="0">
                                  <a:latin typeface="Cambria Math" panose="02040503050406030204" pitchFamily="18" charset="0"/>
                                </a:rPr>
                                <m:t>ⅈ−</m:t>
                              </m:r>
                              <m:d>
                                <m:dPr>
                                  <m:ctrlPr>
                                    <a:rPr lang="ko-KR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ko-KR" altLang="en-US" sz="28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ko-KR" altLang="en-US" sz="28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ko-KR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ko-KR" altLang="en-US" sz="28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ko-KR" altLang="en-US" sz="28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ko-KR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ko-KR" altLang="en-US" sz="2800" i="0">
                                      <a:latin typeface="Cambria Math" panose="02040503050406030204" pitchFamily="18" charset="0"/>
                                    </a:rPr>
                                    <m:t>ⅈ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ko-KR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DE47857-F015-4141-A79B-1A55A43B2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089" y="3283473"/>
                <a:ext cx="7049815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5542DC1-46DF-447A-BEE6-D8ED4D930127}"/>
              </a:ext>
            </a:extLst>
          </p:cNvPr>
          <p:cNvSpPr txBox="1"/>
          <p:nvPr/>
        </p:nvSpPr>
        <p:spPr>
          <a:xfrm>
            <a:off x="639192" y="4793941"/>
            <a:ext cx="11194742" cy="1437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&lt; </a:t>
            </a:r>
            <a:r>
              <a:rPr lang="ko-KR" altLang="ko-KR" sz="2400" b="1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머신 러닝 회귀 알고리즘</a:t>
            </a:r>
            <a:r>
              <a:rPr lang="en-US" altLang="ko-KR" sz="2400" b="1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&gt; </a:t>
            </a:r>
          </a:p>
          <a:p>
            <a:pPr>
              <a:lnSpc>
                <a:spcPct val="150000"/>
              </a:lnSpc>
            </a:pPr>
            <a:r>
              <a:rPr lang="ko-KR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계속 학습하면서 비용함수가 반환하는 값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오류값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지속해서 감소시키고 최종적으로는 더 이상 감소하지 않는 최소의 오류 값을 구하는 것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377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7AB9D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03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 </a:t>
              </a:r>
              <a:r>
                <a:rPr lang="ko-KR" altLang="en-US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비용 최소화하기 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- </a:t>
              </a:r>
              <a:r>
                <a:rPr lang="ko-KR" altLang="en-US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경사 </a:t>
              </a:r>
              <a:r>
                <a:rPr lang="ko-KR" altLang="en-US" sz="4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하강법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(Gradient Descent)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943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7E9E6C-2710-4DBB-A652-BE3D7A01F712}"/>
              </a:ext>
            </a:extLst>
          </p:cNvPr>
          <p:cNvSpPr/>
          <p:nvPr/>
        </p:nvSpPr>
        <p:spPr>
          <a:xfrm>
            <a:off x="357181" y="205483"/>
            <a:ext cx="5600315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D74E8D-FB4F-41B8-A780-AD66570ED866}"/>
              </a:ext>
            </a:extLst>
          </p:cNvPr>
          <p:cNvSpPr/>
          <p:nvPr/>
        </p:nvSpPr>
        <p:spPr>
          <a:xfrm>
            <a:off x="573015" y="1048526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2B46FF-8079-450C-8693-3D97E3C3A348}"/>
              </a:ext>
            </a:extLst>
          </p:cNvPr>
          <p:cNvSpPr/>
          <p:nvPr/>
        </p:nvSpPr>
        <p:spPr>
          <a:xfrm>
            <a:off x="604980" y="1518320"/>
            <a:ext cx="11075949" cy="164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고차원 방정식에 대한 문제를 해결해 주면서 비용함수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RSS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를 최소화하는 방법을 직관적으로 제공하는 뛰어난 방식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점진적으로 반복적인 계산을 통해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W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파라미터 값을 업데이트하면서 오류 값이 최소가 되는 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파라미터를 구하는 방식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오류 값이 더 이상 작아지지 않으면 그 오류 값을 최소 비용으로 판단하고 그때의 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 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값을 최적 파라미터로 반환함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500" kern="100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반복적으로 비용 함수의 반환 값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즉 </a:t>
            </a:r>
            <a:r>
              <a:rPr lang="ko-KR" altLang="ko-KR" sz="1500" kern="1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예측값과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실제 값의 차이가 작아지는 방향성을 가지고 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</a:t>
            </a:r>
            <a:r>
              <a:rPr lang="ko-KR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파라미터를 지속해서 보정함</a:t>
            </a:r>
            <a:r>
              <a:rPr lang="en-US" altLang="ko-KR" sz="15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1168B8-ACF6-484A-BB73-2A3F865285F7}"/>
              </a:ext>
            </a:extLst>
          </p:cNvPr>
          <p:cNvSpPr/>
          <p:nvPr/>
        </p:nvSpPr>
        <p:spPr>
          <a:xfrm>
            <a:off x="993923" y="885316"/>
            <a:ext cx="9037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2800" kern="1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경사하강법</a:t>
            </a:r>
            <a:r>
              <a:rPr lang="en-US" altLang="ko-KR" sz="2800" kern="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       </a:t>
            </a:r>
            <a:r>
              <a:rPr lang="en-US" altLang="ko-KR" sz="1700" b="1" kern="100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&gt;&gt; </a:t>
            </a:r>
            <a:r>
              <a:rPr lang="ko-KR" altLang="ko-KR" sz="1700" b="1" kern="100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어떻게 하면 오류가 작아지는 방향으로 </a:t>
            </a:r>
            <a:r>
              <a:rPr lang="en-US" altLang="ko-KR" sz="1700" b="1" kern="100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</a:t>
            </a:r>
            <a:r>
              <a:rPr lang="ko-KR" altLang="ko-KR" sz="1700" b="1" kern="100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값을 보정할 수 있을까</a:t>
            </a:r>
            <a:r>
              <a:rPr lang="en-US" altLang="ko-KR" sz="1700" b="1" kern="100" dirty="0">
                <a:solidFill>
                  <a:srgbClr val="7AB9D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?</a:t>
            </a:r>
            <a:endParaRPr lang="ko-KR" altLang="en-US" sz="17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0156E0D-F8B3-4550-8DA9-E4B196C90D7C}"/>
              </a:ext>
            </a:extLst>
          </p:cNvPr>
          <p:cNvGrpSpPr/>
          <p:nvPr/>
        </p:nvGrpSpPr>
        <p:grpSpPr>
          <a:xfrm>
            <a:off x="527245" y="3429000"/>
            <a:ext cx="11231418" cy="3170711"/>
            <a:chOff x="4350309" y="1893159"/>
            <a:chExt cx="3344779" cy="334477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33BA28B-0567-4383-826A-E0E81C5B0CAD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24BFF0-376D-4C3E-9EB6-656F19C1E2DD}"/>
                </a:ext>
              </a:extLst>
            </p:cNvPr>
            <p:cNvSpPr/>
            <p:nvPr/>
          </p:nvSpPr>
          <p:spPr>
            <a:xfrm>
              <a:off x="4387442" y="2001194"/>
              <a:ext cx="3270512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914400" indent="-914400" algn="ctr">
                <a:lnSpc>
                  <a:spcPct val="150000"/>
                </a:lnSpc>
                <a:buAutoNum type="arabicPlain"/>
              </a:pPr>
              <a:endParaRPr lang="en-US" altLang="ko-KR" sz="20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B5998AEA-FE57-456E-A9E5-B33895EF7436}"/>
                  </a:ext>
                </a:extLst>
              </p:cNvPr>
              <p:cNvSpPr/>
              <p:nvPr/>
            </p:nvSpPr>
            <p:spPr>
              <a:xfrm>
                <a:off x="692099" y="3626539"/>
                <a:ext cx="10847967" cy="2775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ko-KR" sz="1750" b="1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경사 하강법의 일반 프로세스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sz="1700" kern="100" dirty="0">
                    <a:solidFill>
                      <a:srgbClr val="7AB9DF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Step1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를 임의의 값으로 설정</a:t>
                </a:r>
                <a:r>
                  <a:rPr lang="ko-KR" altLang="en-US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하고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첫 비용 함수의 값을 계산한다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.</a:t>
                </a:r>
                <a:endParaRPr lang="ko-KR" altLang="ko-KR" sz="17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sz="1700" kern="100" dirty="0">
                    <a:solidFill>
                      <a:srgbClr val="7AB9DF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Step2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을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700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ko-KR" altLang="ko-KR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ko-KR" sz="17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1700">
                            <a:latin typeface="Cambria Math" panose="02040503050406030204" pitchFamily="18" charset="0"/>
                          </a:rPr>
                          <m:t>실제값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1700">
                            <a:latin typeface="Cambria Math" panose="02040503050406030204" pitchFamily="18" charset="0"/>
                          </a:rPr>
                          <m:t>예측값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7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sz="1700" i="1">
                        <a:latin typeface="Cambria Math" panose="02040503050406030204" pitchFamily="18" charset="0"/>
                      </a:rPr>
                      <m:t>을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700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b>
                      <m:sSubPr>
                        <m:ctrlPr>
                          <a:rPr lang="ko-KR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ko-KR" altLang="ko-KR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ko-KR" sz="1700">
                                <a:latin typeface="Cambria Math" panose="02040503050406030204" pitchFamily="18" charset="0"/>
                              </a:rPr>
                              <m:t>실제값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7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ko-K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ko-KR" sz="1700">
                                <a:latin typeface="Cambria Math" panose="02040503050406030204" pitchFamily="18" charset="0"/>
                              </a:rPr>
                              <m:t>예측값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7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으로 업데이트한 후 다시 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	</a:t>
                </a:r>
                <a:r>
                  <a:rPr lang="ko-KR" altLang="en-US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비용 함수의 값을 계산한다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.</a:t>
                </a:r>
                <a:endParaRPr lang="ko-KR" altLang="ko-KR" sz="17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sz="1700" kern="100" dirty="0">
                    <a:solidFill>
                      <a:srgbClr val="7AB9DF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Step3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:  </a:t>
                </a:r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비용 함수의 값이 감소했으면 다시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step2</a:t>
                </a:r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를 반복한다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더 이상 비용 함수의 값이 감소하지 않으면 그때의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7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7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를 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	</a:t>
                </a:r>
                <a:r>
                  <a:rPr lang="ko-KR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구하고 반복을 중지한다</a:t>
                </a:r>
                <a:r>
                  <a:rPr lang="en-US" altLang="ko-KR" sz="17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. </a:t>
                </a:r>
                <a:endParaRPr lang="ko-KR" altLang="ko-KR" sz="17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B5998AEA-FE57-456E-A9E5-B33895EF7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99" y="3626539"/>
                <a:ext cx="10847967" cy="2775632"/>
              </a:xfrm>
              <a:prstGeom prst="rect">
                <a:avLst/>
              </a:prstGeom>
              <a:blipFill>
                <a:blip r:embed="rId2"/>
                <a:stretch>
                  <a:fillRect l="-393" t="-440" r="-337" b="-2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246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7E9E6C-2710-4DBB-A652-BE3D7A01F712}"/>
              </a:ext>
            </a:extLst>
          </p:cNvPr>
          <p:cNvSpPr/>
          <p:nvPr/>
        </p:nvSpPr>
        <p:spPr>
          <a:xfrm>
            <a:off x="357181" y="205483"/>
            <a:ext cx="5600315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56FBD2-2059-4F5C-B592-F2123A2C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35" y="845949"/>
            <a:ext cx="7728930" cy="569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0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7E9E6C-2710-4DBB-A652-BE3D7A01F712}"/>
              </a:ext>
            </a:extLst>
          </p:cNvPr>
          <p:cNvSpPr/>
          <p:nvPr/>
        </p:nvSpPr>
        <p:spPr>
          <a:xfrm>
            <a:off x="357181" y="205483"/>
            <a:ext cx="5600315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11DD6E-13F8-4F76-BCFF-139C0D91B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72"/>
          <a:stretch/>
        </p:blipFill>
        <p:spPr>
          <a:xfrm>
            <a:off x="188504" y="712234"/>
            <a:ext cx="7055673" cy="59402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F5EDC7-8298-40CD-A59A-2A1BC1BDD4A0}"/>
                  </a:ext>
                </a:extLst>
              </p:cNvPr>
              <p:cNvSpPr txBox="1"/>
              <p:nvPr/>
            </p:nvSpPr>
            <p:spPr>
              <a:xfrm>
                <a:off x="7395985" y="1105607"/>
                <a:ext cx="4607511" cy="2323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ko-KR" sz="140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업데이트할 값을 구하는 함수</a:t>
                </a:r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en-US" altLang="ko-KR" sz="1400" b="1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get_weight_update</a:t>
                </a:r>
                <a:r>
                  <a:rPr lang="en-US" altLang="ko-KR" sz="140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()</a:t>
                </a:r>
                <a:endParaRPr lang="ko-KR" altLang="ko-KR" sz="1400" b="1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4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get_weight_update</a:t>
                </a:r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()</a:t>
                </a:r>
                <a:r>
                  <a:rPr lang="ko-KR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경사 하강 방식</a:t>
                </a:r>
                <a:r>
                  <a:rPr lang="ko-KR" altLang="en-US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으로</a:t>
                </a:r>
                <a:r>
                  <a:rPr lang="ko-KR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수행하여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업데이트 하는 함수</a:t>
                </a:r>
                <a:r>
                  <a:rPr lang="en-US" altLang="ko-KR" sz="1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en-US" altLang="ko-KR" sz="1400" b="1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gradient_descent_steps</a:t>
                </a:r>
                <a:r>
                  <a:rPr lang="en-US" altLang="ko-KR" sz="140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()</a:t>
                </a:r>
                <a:endParaRPr lang="ko-KR" altLang="ko-KR" sz="1400" b="1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F5EDC7-8298-40CD-A59A-2A1BC1BDD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5" y="1105607"/>
                <a:ext cx="4607511" cy="2323393"/>
              </a:xfrm>
              <a:prstGeom prst="rect">
                <a:avLst/>
              </a:prstGeom>
              <a:blipFill>
                <a:blip r:embed="rId3"/>
                <a:stretch>
                  <a:fillRect l="-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76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7E9E6C-2710-4DBB-A652-BE3D7A01F712}"/>
              </a:ext>
            </a:extLst>
          </p:cNvPr>
          <p:cNvSpPr/>
          <p:nvPr/>
        </p:nvSpPr>
        <p:spPr>
          <a:xfrm>
            <a:off x="357181" y="205483"/>
            <a:ext cx="5600315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79A61B-E438-4AC3-B14B-90E131507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0" y="776886"/>
            <a:ext cx="6984653" cy="5982163"/>
          </a:xfrm>
          <a:prstGeom prst="rect">
            <a:avLst/>
          </a:prstGeom>
        </p:spPr>
      </p:pic>
      <p:sp>
        <p:nvSpPr>
          <p:cNvPr id="5" name="설명선: 선 4">
            <a:extLst>
              <a:ext uri="{FF2B5EF4-FFF2-40B4-BE49-F238E27FC236}">
                <a16:creationId xmlns:a16="http://schemas.microsoft.com/office/drawing/2014/main" id="{24611C98-4F95-43CF-BDCB-8FDA84F89E2F}"/>
              </a:ext>
            </a:extLst>
          </p:cNvPr>
          <p:cNvSpPr/>
          <p:nvPr/>
        </p:nvSpPr>
        <p:spPr>
          <a:xfrm rot="10800000">
            <a:off x="257675" y="2471788"/>
            <a:ext cx="3264908" cy="735992"/>
          </a:xfrm>
          <a:prstGeom prst="borderCallout1">
            <a:avLst>
              <a:gd name="adj1" fmla="val 18750"/>
              <a:gd name="adj2" fmla="val -8333"/>
              <a:gd name="adj3" fmla="val 99557"/>
              <a:gd name="adj4" fmla="val -122283"/>
            </a:avLst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141372-98C3-4295-8639-35ABE1E1C383}"/>
              </a:ext>
            </a:extLst>
          </p:cNvPr>
          <p:cNvSpPr/>
          <p:nvPr/>
        </p:nvSpPr>
        <p:spPr>
          <a:xfrm>
            <a:off x="7341833" y="1143048"/>
            <a:ext cx="5059693" cy="648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최종적으로 </a:t>
            </a:r>
            <a:r>
              <a:rPr lang="ko-KR" altLang="ko-KR" sz="1400" kern="1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예측값과</a:t>
            </a:r>
            <a:r>
              <a:rPr lang="ko-KR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400" kern="1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실제값의</a:t>
            </a:r>
            <a:r>
              <a:rPr lang="ko-KR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RSS</a:t>
            </a:r>
            <a:r>
              <a:rPr lang="ko-KR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차이를 계산하는 함수</a:t>
            </a:r>
            <a:r>
              <a:rPr lang="en-US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      </a:t>
            </a:r>
            <a:r>
              <a:rPr lang="en-US" altLang="ko-KR" sz="1400" b="1" kern="1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get_cost</a:t>
            </a:r>
            <a:r>
              <a:rPr lang="en-US" altLang="ko-KR" sz="1400" b="1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()</a:t>
            </a:r>
            <a:endParaRPr lang="ko-KR" altLang="ko-KR" sz="1400" b="1" kern="100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4F3C5-0411-4ADC-8481-4462C84D767E}"/>
              </a:ext>
            </a:extLst>
          </p:cNvPr>
          <p:cNvSpPr txBox="1"/>
          <p:nvPr/>
        </p:nvSpPr>
        <p:spPr>
          <a:xfrm>
            <a:off x="7585679" y="2287122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40404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 = 4X +</a:t>
            </a:r>
            <a:r>
              <a:rPr lang="ko-KR" altLang="en-US" b="1" dirty="0">
                <a:solidFill>
                  <a:srgbClr val="40404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b="1" dirty="0">
                <a:solidFill>
                  <a:srgbClr val="40404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 </a:t>
            </a:r>
            <a:r>
              <a:rPr lang="ko-KR" altLang="en-US" b="1" dirty="0">
                <a:solidFill>
                  <a:srgbClr val="40404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유사하게 도출</a:t>
            </a:r>
            <a:r>
              <a:rPr lang="en-US" altLang="ko-KR" b="1" dirty="0">
                <a:solidFill>
                  <a:srgbClr val="40404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b="1" dirty="0">
              <a:solidFill>
                <a:srgbClr val="40404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564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7E9E6C-2710-4DBB-A652-BE3D7A01F712}"/>
              </a:ext>
            </a:extLst>
          </p:cNvPr>
          <p:cNvSpPr/>
          <p:nvPr/>
        </p:nvSpPr>
        <p:spPr>
          <a:xfrm>
            <a:off x="357181" y="205483"/>
            <a:ext cx="5600315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비용 최소화하기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경사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하강법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(Gradient Descent)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3AE5C7-1494-4C0E-8627-7A7F133D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6" y="1235504"/>
            <a:ext cx="6919560" cy="5183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FCC25D-C7DE-4207-BD35-C6FDC8757649}"/>
              </a:ext>
            </a:extLst>
          </p:cNvPr>
          <p:cNvSpPr txBox="1"/>
          <p:nvPr/>
        </p:nvSpPr>
        <p:spPr>
          <a:xfrm>
            <a:off x="7127866" y="2078883"/>
            <a:ext cx="5001988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 입력 데이터로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</a:t>
            </a: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업데이트되는 값을 계산하는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것</a:t>
            </a: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아닌 일부 데이터만 이용해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</a:t>
            </a: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업데이트되는 값을 계산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경사 하강법에 비해서 빠른 속도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보장함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ko-KR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미니 배치</a:t>
            </a:r>
            <a:r>
              <a:rPr lang="en-US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r>
              <a:rPr lang="ko-KR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확률적 경사 </a:t>
            </a:r>
            <a:r>
              <a:rPr lang="ko-KR" altLang="ko-KR" sz="1600" b="1" dirty="0" err="1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하강법</a:t>
            </a:r>
            <a:r>
              <a:rPr lang="ko-KR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함</a:t>
            </a:r>
            <a:r>
              <a:rPr lang="ko-KR" altLang="en-US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</a:t>
            </a:r>
            <a:r>
              <a:rPr lang="en-US" altLang="ko-KR" sz="16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b="1" dirty="0" err="1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stochastic_gradient_descent_steps</a:t>
            </a:r>
            <a:r>
              <a:rPr lang="en-US" altLang="ko-KR" sz="2000" b="1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()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B1F5AD-24A4-41A3-871A-21924A6196F7}"/>
              </a:ext>
            </a:extLst>
          </p:cNvPr>
          <p:cNvSpPr/>
          <p:nvPr/>
        </p:nvSpPr>
        <p:spPr>
          <a:xfrm>
            <a:off x="7154500" y="1368262"/>
            <a:ext cx="181453" cy="1800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EAC84-2693-43FD-9AF4-2C47142A515A}"/>
              </a:ext>
            </a:extLst>
          </p:cNvPr>
          <p:cNvSpPr txBox="1"/>
          <p:nvPr/>
        </p:nvSpPr>
        <p:spPr>
          <a:xfrm>
            <a:off x="7300441" y="1297650"/>
            <a:ext cx="485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확률 경사 </a:t>
            </a:r>
            <a:r>
              <a:rPr lang="ko-KR" altLang="ko-KR" b="1" dirty="0" err="1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하강법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(Stochastic Gradient Descent)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236C49-C615-4F08-96BB-5FEC417DFA7F}"/>
              </a:ext>
            </a:extLst>
          </p:cNvPr>
          <p:cNvSpPr/>
          <p:nvPr/>
        </p:nvSpPr>
        <p:spPr>
          <a:xfrm>
            <a:off x="5957496" y="5193343"/>
            <a:ext cx="5920825" cy="1076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gradient_descent_steps</a:t>
            </a:r>
            <a:r>
              <a:rPr lang="en-US" altLang="ko-KR" sz="16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  <a:r>
              <a:rPr lang="ko-KR" altLang="ko-KR" sz="16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다르지 않음</a:t>
            </a:r>
            <a:r>
              <a:rPr lang="en-US" altLang="ko-KR" sz="16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X, y </a:t>
            </a:r>
            <a:r>
              <a:rPr lang="ko-KR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데이터에서 랜덤하게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batch_size</a:t>
            </a:r>
            <a:r>
              <a:rPr lang="ko-KR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만큼 데이터를 추출해 이를 기반으로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w1_update, w0_update</a:t>
            </a:r>
            <a:r>
              <a:rPr lang="ko-KR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계산하는 부분에서 차이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설명선: 선 12">
            <a:extLst>
              <a:ext uri="{FF2B5EF4-FFF2-40B4-BE49-F238E27FC236}">
                <a16:creationId xmlns:a16="http://schemas.microsoft.com/office/drawing/2014/main" id="{5F221F8F-5DF6-45BF-A086-4C9ABF1A1A1B}"/>
              </a:ext>
            </a:extLst>
          </p:cNvPr>
          <p:cNvSpPr/>
          <p:nvPr/>
        </p:nvSpPr>
        <p:spPr>
          <a:xfrm rot="10800000">
            <a:off x="71244" y="5836424"/>
            <a:ext cx="3264908" cy="735992"/>
          </a:xfrm>
          <a:prstGeom prst="borderCallout1">
            <a:avLst>
              <a:gd name="adj1" fmla="val 18750"/>
              <a:gd name="adj2" fmla="val -8333"/>
              <a:gd name="adj3" fmla="val 136950"/>
              <a:gd name="adj4" fmla="val -79592"/>
            </a:avLst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7AB9D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04</a:t>
              </a:r>
              <a:r>
                <a:rPr lang="en-US" altLang="ko-KR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 </a:t>
              </a:r>
              <a:r>
                <a:rPr lang="ko-KR" altLang="en-US" sz="4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사이킷런</a:t>
              </a:r>
              <a:r>
                <a:rPr lang="ko-KR" alt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</a:t>
              </a:r>
              <a:r>
                <a:rPr lang="en-US" altLang="ko-KR" sz="4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LinearRegression</a:t>
              </a:r>
              <a:r>
                <a:rPr lang="ko-KR" alt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을 이용한 </a:t>
              </a:r>
              <a:endParaRPr lang="en-US" altLang="ko-KR" sz="4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보스턴 주택 가격 예측</a:t>
              </a: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148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27A1450-3565-4DB0-913C-7A8989201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66423"/>
              </p:ext>
            </p:extLst>
          </p:nvPr>
        </p:nvGraphicFramePr>
        <p:xfrm>
          <a:off x="759556" y="1605691"/>
          <a:ext cx="10870191" cy="38533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9241">
                  <a:extLst>
                    <a:ext uri="{9D8B030D-6E8A-4147-A177-3AD203B41FA5}">
                      <a16:colId xmlns:a16="http://schemas.microsoft.com/office/drawing/2014/main" val="3450957814"/>
                    </a:ext>
                  </a:extLst>
                </a:gridCol>
                <a:gridCol w="8860950">
                  <a:extLst>
                    <a:ext uri="{9D8B030D-6E8A-4147-A177-3AD203B41FA5}">
                      <a16:colId xmlns:a16="http://schemas.microsoft.com/office/drawing/2014/main" val="1154583765"/>
                    </a:ext>
                  </a:extLst>
                </a:gridCol>
              </a:tblGrid>
              <a:tr h="2430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입력 파라미터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fit_intercept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불린 값으로 디폴트는 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True. Intercept(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절편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 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값을 계산할 것인지 말지를 지정한다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. 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False 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 지정하면 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intercept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가 사용되지 않고 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0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으로 지정된다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Normalize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불린 값으로 디폴트는 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False. </a:t>
                      </a:r>
                      <a:r>
                        <a:rPr lang="en-US" altLang="ko-KR" sz="1400" b="0" dirty="0" err="1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fit_intercept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가 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False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인 경우에는 이 파라미터가 무시된다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. True</a:t>
                      </a:r>
                      <a:r>
                        <a:rPr lang="ko-KR" altLang="en-US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이면 회귀를 수행하기 전에 입력 데이터 세트를 </a:t>
                      </a:r>
                      <a:r>
                        <a:rPr lang="ko-KR" altLang="en-US" sz="1400" b="0" dirty="0" err="1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정규화한다</a:t>
                      </a:r>
                      <a:r>
                        <a:rPr lang="en-US" altLang="ko-KR" sz="1400" b="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solidFill>
                          <a:srgbClr val="595959"/>
                        </a:solidFill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67376"/>
                  </a:ext>
                </a:extLst>
              </a:tr>
              <a:tr h="8056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속성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coef</a:t>
                      </a:r>
                      <a:r>
                        <a:rPr lang="en-US" altLang="ko-KR" sz="1400" b="1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_ 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: fit() </a:t>
                      </a:r>
                      <a:r>
                        <a:rPr lang="ko-KR" altLang="en-US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메서드를 수행했을 때 회귀 계수가 배열 형태로 저장하는 속성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. Shape</a:t>
                      </a:r>
                      <a:r>
                        <a:rPr lang="ko-KR" altLang="en-US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(Target </a:t>
                      </a:r>
                      <a:r>
                        <a:rPr lang="ko-KR" altLang="en-US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값 개수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피처 개수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Intercept_ :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intercept</a:t>
                      </a:r>
                      <a:r>
                        <a:rPr lang="ko-KR" altLang="en-US" sz="1400" dirty="0">
                          <a:solidFill>
                            <a:srgbClr val="595959"/>
                          </a:solidFill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620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188A065-6E3A-423B-95D9-17143DE727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0450" y="2304034"/>
            <a:ext cx="2471821" cy="17357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9C8B94-CE1E-43A4-BAC1-252010D2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2464" y="2306090"/>
            <a:ext cx="2346650" cy="17336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FBC95-7911-4E73-8C0A-38687034BF59}"/>
              </a:ext>
            </a:extLst>
          </p:cNvPr>
          <p:cNvSpPr txBox="1"/>
          <p:nvPr/>
        </p:nvSpPr>
        <p:spPr>
          <a:xfrm>
            <a:off x="699407" y="974226"/>
            <a:ext cx="8693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LinearRegression</a:t>
            </a:r>
            <a:r>
              <a:rPr lang="en-US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클래스 </a:t>
            </a:r>
            <a:r>
              <a:rPr lang="en-US" altLang="ko-KR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Ordinary Least Squares</a:t>
            </a:r>
            <a:endParaRPr lang="ko-KR" altLang="en-US" sz="2400" dirty="0">
              <a:solidFill>
                <a:srgbClr val="595959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42556-6CB5-4A0D-B0F7-FC7EE583E118}"/>
              </a:ext>
            </a:extLst>
          </p:cNvPr>
          <p:cNvSpPr txBox="1"/>
          <p:nvPr/>
        </p:nvSpPr>
        <p:spPr>
          <a:xfrm>
            <a:off x="787153" y="5779435"/>
            <a:ext cx="10617693" cy="75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Ordinary Least Squares </a:t>
            </a:r>
            <a:r>
              <a:rPr lang="ko-KR" altLang="en-US" sz="16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 회귀 계수 계산은 입력 피처의 독립성에 많은 영향을 받음</a:t>
            </a:r>
            <a:endParaRPr lang="en-US" altLang="ko-KR" sz="1600" dirty="0">
              <a:solidFill>
                <a:srgbClr val="59595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900" dirty="0" err="1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다중공선성</a:t>
            </a:r>
            <a:r>
              <a:rPr lang="en-US" altLang="ko-KR" sz="19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(multi-collinearity)</a:t>
            </a:r>
            <a:r>
              <a:rPr lang="ko-KR" altLang="en-US" sz="19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</a:t>
            </a:r>
            <a:r>
              <a:rPr lang="en-US" altLang="ko-KR" sz="19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9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독립변수들 간에 강한 상관관계가 나타나는 문제</a:t>
            </a:r>
          </a:p>
        </p:txBody>
      </p:sp>
    </p:spTree>
    <p:extLst>
      <p:ext uri="{BB962C8B-B14F-4D97-AF65-F5344CB8AC3E}">
        <p14:creationId xmlns:p14="http://schemas.microsoft.com/office/powerpoint/2010/main" val="4225597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11BDA6D-6345-4302-91E6-64B316C844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356675"/>
                  </p:ext>
                </p:extLst>
              </p:nvPr>
            </p:nvGraphicFramePr>
            <p:xfrm>
              <a:off x="244833" y="1565947"/>
              <a:ext cx="11702334" cy="4941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198">
                      <a:extLst>
                        <a:ext uri="{9D8B030D-6E8A-4147-A177-3AD203B41FA5}">
                          <a16:colId xmlns:a16="http://schemas.microsoft.com/office/drawing/2014/main" val="2942440875"/>
                        </a:ext>
                      </a:extLst>
                    </a:gridCol>
                    <a:gridCol w="3783454">
                      <a:extLst>
                        <a:ext uri="{9D8B030D-6E8A-4147-A177-3AD203B41FA5}">
                          <a16:colId xmlns:a16="http://schemas.microsoft.com/office/drawing/2014/main" val="1714809254"/>
                        </a:ext>
                      </a:extLst>
                    </a:gridCol>
                    <a:gridCol w="2237172">
                      <a:extLst>
                        <a:ext uri="{9D8B030D-6E8A-4147-A177-3AD203B41FA5}">
                          <a16:colId xmlns:a16="http://schemas.microsoft.com/office/drawing/2014/main" val="3908104319"/>
                        </a:ext>
                      </a:extLst>
                    </a:gridCol>
                    <a:gridCol w="2338741">
                      <a:extLst>
                        <a:ext uri="{9D8B030D-6E8A-4147-A177-3AD203B41FA5}">
                          <a16:colId xmlns:a16="http://schemas.microsoft.com/office/drawing/2014/main" val="3700159494"/>
                        </a:ext>
                      </a:extLst>
                    </a:gridCol>
                    <a:gridCol w="2268769">
                      <a:extLst>
                        <a:ext uri="{9D8B030D-6E8A-4147-A177-3AD203B41FA5}">
                          <a16:colId xmlns:a16="http://schemas.microsoft.com/office/drawing/2014/main" val="831564188"/>
                        </a:ext>
                      </a:extLst>
                    </a:gridCol>
                  </a:tblGrid>
                  <a:tr h="4334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평가 지표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설명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수식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750" b="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사이킷런</a:t>
                          </a:r>
                          <a:r>
                            <a:rPr lang="ko-KR" altLang="en-US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 평가 지표 </a:t>
                          </a:r>
                          <a:r>
                            <a:rPr lang="en-US" altLang="ko-KR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API</a:t>
                          </a:r>
                          <a:endParaRPr lang="ko-KR" altLang="en-US" sz="1750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Scoring </a:t>
                          </a:r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함수 적용 값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1638714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MAE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Absolute Error(MAE)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절댓값으로 변환해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MAE</m:t>
                                </m:r>
                                <m: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ko-KR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ko-KR" altLang="ko-KR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ko-KR" altLang="ko-KR" sz="1800" kern="100" dirty="0">
                            <a:effectLst/>
                            <a:latin typeface="맑은 고딕" panose="020B0503020000020004" pitchFamily="50" charset="-127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metrics.mean_absolute_error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neg_mean_absolute_error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4368848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Squared Error(MSE)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제곱해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MSE</m:t>
                                </m:r>
                                <m: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ko-KR" altLang="ko-KR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ko-KR" altLang="ko-KR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metrics.mean_squared_error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neg_mean_squared_error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4766213"/>
                      </a:ext>
                    </a:extLst>
                  </a:tr>
                  <a:tr h="149418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RMSE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값은 오류의 제곱을 구하므로 실제 오류 평균보다 더 커지므로 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루트를 씌운 것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</a:t>
                          </a:r>
                          <a:endParaRPr lang="ko-KR" altLang="en-US" sz="1500" b="0" dirty="0">
                            <a:latin typeface="나눔스퀘어라운드 Regular" panose="020B0600000101010101" pitchFamily="50" charset="-127"/>
                            <a:ea typeface="나눔스퀘어라운드 Regular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5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RMSE</m:t>
                                </m:r>
                                <m:r>
                                  <a:rPr lang="en-US" altLang="ko-KR" sz="15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ko-KR" altLang="ko-KR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ko-KR" altLang="ko-KR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n"/>
                                        <m:ctrlPr>
                                          <a:rPr lang="ko-KR" altLang="ko-KR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ko-KR" altLang="ko-KR" sz="15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altLang="ko-KR" sz="15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ko-KR" altLang="ko-KR" sz="15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15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ko-KR" altLang="ko-KR" sz="15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̂"/>
                                                        <m:ctrlPr>
                                                          <a:rPr lang="ko-KR" altLang="ko-KR" sz="15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altLang="ko-KR" sz="1500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Y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ko-KR" sz="15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solidFill>
                                <a:srgbClr val="595959"/>
                              </a:solidFill>
                            </a:rPr>
                            <a:t>제공하지 않음</a:t>
                          </a:r>
                          <a:r>
                            <a:rPr lang="en-US" altLang="ko-KR" sz="1200" dirty="0">
                              <a:solidFill>
                                <a:srgbClr val="595959"/>
                              </a:solidFill>
                            </a:rPr>
                            <a:t>.</a:t>
                          </a:r>
                          <a:endParaRPr lang="ko-KR" altLang="en-US" sz="1200" dirty="0">
                            <a:solidFill>
                              <a:srgbClr val="595959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5663118"/>
                      </a:ext>
                    </a:extLst>
                  </a:tr>
                  <a:tr h="124688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dirty="0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en-US" altLang="ko-KR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b="0" i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분산 기반으로 예측 성능을 평가한다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 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 값의 분산 대비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분산 비율을 지표로 하며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, 1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가까울수록 예측 정확도가 높다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60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예측값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𝑉𝑎𝑟𝑖𝑎𝑛𝑐𝑒</m:t>
                                    </m:r>
                                  </m:num>
                                  <m:den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실제값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𝑉𝑎𝑟𝑖𝑎𝑛𝑐𝑒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/>
                            <a:t>metrics.r2_score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‘r2’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33927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11BDA6D-6345-4302-91E6-64B316C844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356675"/>
                  </p:ext>
                </p:extLst>
              </p:nvPr>
            </p:nvGraphicFramePr>
            <p:xfrm>
              <a:off x="244833" y="1565947"/>
              <a:ext cx="11702334" cy="4941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198">
                      <a:extLst>
                        <a:ext uri="{9D8B030D-6E8A-4147-A177-3AD203B41FA5}">
                          <a16:colId xmlns:a16="http://schemas.microsoft.com/office/drawing/2014/main" val="2942440875"/>
                        </a:ext>
                      </a:extLst>
                    </a:gridCol>
                    <a:gridCol w="3783454">
                      <a:extLst>
                        <a:ext uri="{9D8B030D-6E8A-4147-A177-3AD203B41FA5}">
                          <a16:colId xmlns:a16="http://schemas.microsoft.com/office/drawing/2014/main" val="1714809254"/>
                        </a:ext>
                      </a:extLst>
                    </a:gridCol>
                    <a:gridCol w="2237172">
                      <a:extLst>
                        <a:ext uri="{9D8B030D-6E8A-4147-A177-3AD203B41FA5}">
                          <a16:colId xmlns:a16="http://schemas.microsoft.com/office/drawing/2014/main" val="3908104319"/>
                        </a:ext>
                      </a:extLst>
                    </a:gridCol>
                    <a:gridCol w="2338741">
                      <a:extLst>
                        <a:ext uri="{9D8B030D-6E8A-4147-A177-3AD203B41FA5}">
                          <a16:colId xmlns:a16="http://schemas.microsoft.com/office/drawing/2014/main" val="3700159494"/>
                        </a:ext>
                      </a:extLst>
                    </a:gridCol>
                    <a:gridCol w="2268769">
                      <a:extLst>
                        <a:ext uri="{9D8B030D-6E8A-4147-A177-3AD203B41FA5}">
                          <a16:colId xmlns:a16="http://schemas.microsoft.com/office/drawing/2014/main" val="831564188"/>
                        </a:ext>
                      </a:extLst>
                    </a:gridCol>
                  </a:tblGrid>
                  <a:tr h="4334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평가 지표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설명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수식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750" b="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사이킷런</a:t>
                          </a:r>
                          <a:r>
                            <a:rPr lang="ko-KR" altLang="en-US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 평가 지표 </a:t>
                          </a:r>
                          <a:r>
                            <a:rPr lang="en-US" altLang="ko-KR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API</a:t>
                          </a:r>
                          <a:endParaRPr lang="ko-KR" altLang="en-US" sz="1750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Scoring </a:t>
                          </a:r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함수 적용 값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1638714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MAE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Absolute Error(MAE)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절댓값으로 변환해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49655" r="-207357" b="-41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metrics.mean_absolute_error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neg_mean_absolute_error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4368848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Squared Error(MSE)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제곱해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148630" r="-207357" b="-309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metrics.mean_squared_error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neg_mean_squared_error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4766213"/>
                      </a:ext>
                    </a:extLst>
                  </a:tr>
                  <a:tr h="149418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RMSE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값은 오류의 제곱을 구하므로 실제 오류 평균보다 더 커지므로 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루트를 씌운 것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</a:t>
                          </a:r>
                          <a:endParaRPr lang="ko-KR" altLang="en-US" sz="1500" b="0" dirty="0">
                            <a:latin typeface="나눔스퀘어라운드 Regular" panose="020B0600000101010101" pitchFamily="50" charset="-127"/>
                            <a:ea typeface="나눔스퀘어라운드 Regular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148163" r="-207357" b="-8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solidFill>
                                <a:srgbClr val="595959"/>
                              </a:solidFill>
                            </a:rPr>
                            <a:t>제공하지 않음</a:t>
                          </a:r>
                          <a:r>
                            <a:rPr lang="en-US" altLang="ko-KR" sz="1200" dirty="0">
                              <a:solidFill>
                                <a:srgbClr val="595959"/>
                              </a:solidFill>
                            </a:rPr>
                            <a:t>.</a:t>
                          </a:r>
                          <a:endParaRPr lang="ko-KR" altLang="en-US" sz="1200" dirty="0">
                            <a:solidFill>
                              <a:srgbClr val="595959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5663118"/>
                      </a:ext>
                    </a:extLst>
                  </a:tr>
                  <a:tr h="12468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68" t="-296585" r="-993750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분산 기반으로 예측 성능을 평가한다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 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 값의 분산 대비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분산 비율을 지표로 하며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, 1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가까울수록 예측 정확도가 높다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17439" t="-296585" r="-207357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/>
                            <a:t>metrics.r2_score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‘r2’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33927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FBC95-7911-4E73-8C0A-38687034BF59}"/>
              </a:ext>
            </a:extLst>
          </p:cNvPr>
          <p:cNvSpPr txBox="1"/>
          <p:nvPr/>
        </p:nvSpPr>
        <p:spPr>
          <a:xfrm>
            <a:off x="5129365" y="929837"/>
            <a:ext cx="208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 평가 지표</a:t>
            </a:r>
          </a:p>
        </p:txBody>
      </p:sp>
    </p:spTree>
    <p:extLst>
      <p:ext uri="{BB962C8B-B14F-4D97-AF65-F5344CB8AC3E}">
        <p14:creationId xmlns:p14="http://schemas.microsoft.com/office/powerpoint/2010/main" val="4248095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11BDA6D-6345-4302-91E6-64B316C844D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4833" y="1565947"/>
              <a:ext cx="11702334" cy="4941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198">
                      <a:extLst>
                        <a:ext uri="{9D8B030D-6E8A-4147-A177-3AD203B41FA5}">
                          <a16:colId xmlns:a16="http://schemas.microsoft.com/office/drawing/2014/main" val="2942440875"/>
                        </a:ext>
                      </a:extLst>
                    </a:gridCol>
                    <a:gridCol w="3783454">
                      <a:extLst>
                        <a:ext uri="{9D8B030D-6E8A-4147-A177-3AD203B41FA5}">
                          <a16:colId xmlns:a16="http://schemas.microsoft.com/office/drawing/2014/main" val="1714809254"/>
                        </a:ext>
                      </a:extLst>
                    </a:gridCol>
                    <a:gridCol w="2237172">
                      <a:extLst>
                        <a:ext uri="{9D8B030D-6E8A-4147-A177-3AD203B41FA5}">
                          <a16:colId xmlns:a16="http://schemas.microsoft.com/office/drawing/2014/main" val="3908104319"/>
                        </a:ext>
                      </a:extLst>
                    </a:gridCol>
                    <a:gridCol w="2338741">
                      <a:extLst>
                        <a:ext uri="{9D8B030D-6E8A-4147-A177-3AD203B41FA5}">
                          <a16:colId xmlns:a16="http://schemas.microsoft.com/office/drawing/2014/main" val="3700159494"/>
                        </a:ext>
                      </a:extLst>
                    </a:gridCol>
                    <a:gridCol w="2268769">
                      <a:extLst>
                        <a:ext uri="{9D8B030D-6E8A-4147-A177-3AD203B41FA5}">
                          <a16:colId xmlns:a16="http://schemas.microsoft.com/office/drawing/2014/main" val="831564188"/>
                        </a:ext>
                      </a:extLst>
                    </a:gridCol>
                  </a:tblGrid>
                  <a:tr h="4334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평가 지표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설명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수식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750" b="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사이킷런</a:t>
                          </a:r>
                          <a:r>
                            <a:rPr lang="ko-KR" altLang="en-US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 평가 지표 </a:t>
                          </a:r>
                          <a:r>
                            <a:rPr lang="en-US" altLang="ko-KR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API</a:t>
                          </a:r>
                          <a:endParaRPr lang="ko-KR" altLang="en-US" sz="1750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Scoring </a:t>
                          </a:r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함수 적용 값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1638714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MAE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Absolute Error(MAE)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절댓값으로 변환해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MAE</m:t>
                                </m:r>
                                <m: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ko-KR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ko-KR" altLang="ko-KR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ko-KR" altLang="ko-KR" sz="1800" kern="100" dirty="0">
                            <a:effectLst/>
                            <a:latin typeface="맑은 고딕" panose="020B0503020000020004" pitchFamily="50" charset="-127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metrics.mean_absolute_error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neg_mean_absolute_error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4368848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Squared Error(MSE)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제곱해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MSE</m:t>
                                </m:r>
                                <m:r>
                                  <a:rPr lang="en-US" altLang="ko-KR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ko-KR" altLang="ko-KR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ko-KR" altLang="ko-KR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ko-KR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ko-KR" altLang="ko-KR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metrics.mean_squared_error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neg_mean_squared_error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4766213"/>
                      </a:ext>
                    </a:extLst>
                  </a:tr>
                  <a:tr h="149418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RMSE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값은 오류의 제곱을 구하므로 실제 오류 평균보다 더 커지므로 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루트를 씌운 것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</a:t>
                          </a:r>
                          <a:endParaRPr lang="ko-KR" altLang="en-US" sz="1500" b="0" dirty="0">
                            <a:latin typeface="나눔스퀘어라운드 Regular" panose="020B0600000101010101" pitchFamily="50" charset="-127"/>
                            <a:ea typeface="나눔스퀘어라운드 Regular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5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RMSE</m:t>
                                </m:r>
                                <m:r>
                                  <a:rPr lang="en-US" altLang="ko-KR" sz="15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ko-KR" altLang="ko-KR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ko-KR" altLang="ko-KR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n"/>
                                        <m:ctrlPr>
                                          <a:rPr lang="ko-KR" altLang="ko-KR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5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ko-KR" altLang="ko-KR" sz="15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altLang="ko-KR" sz="15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ko-KR" altLang="ko-KR" sz="15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15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ko-KR" altLang="ko-KR" sz="15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̂"/>
                                                        <m:ctrlPr>
                                                          <a:rPr lang="ko-KR" altLang="ko-KR" sz="15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altLang="ko-KR" sz="1500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Y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ko-KR" sz="1500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ko-KR" sz="15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solidFill>
                                <a:srgbClr val="595959"/>
                              </a:solidFill>
                            </a:rPr>
                            <a:t>제공하지 않음</a:t>
                          </a:r>
                          <a:r>
                            <a:rPr lang="en-US" altLang="ko-KR" sz="1200" dirty="0">
                              <a:solidFill>
                                <a:srgbClr val="595959"/>
                              </a:solidFill>
                            </a:rPr>
                            <a:t>.</a:t>
                          </a:r>
                          <a:endParaRPr lang="ko-KR" altLang="en-US" sz="1200" dirty="0">
                            <a:solidFill>
                              <a:srgbClr val="595959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5663118"/>
                      </a:ext>
                    </a:extLst>
                  </a:tr>
                  <a:tr h="124688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dirty="0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en-US" altLang="ko-KR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b="0" i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분산 기반으로 예측 성능을 평가한다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 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 값의 분산 대비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분산 비율을 지표로 하며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, 1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가까울수록 예측 정확도가 높다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60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예측값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𝑉𝑎𝑟𝑖𝑎𝑛𝑐𝑒</m:t>
                                    </m:r>
                                  </m:num>
                                  <m:den>
                                    <m:r>
                                      <a:rPr lang="ko-KR" alt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실제값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6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𝑉𝑎𝑟𝑖𝑎𝑛𝑐𝑒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/>
                            <a:t>metrics.r2_score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‘r2’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33927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11BDA6D-6345-4302-91E6-64B316C844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356675"/>
                  </p:ext>
                </p:extLst>
              </p:nvPr>
            </p:nvGraphicFramePr>
            <p:xfrm>
              <a:off x="244833" y="1565947"/>
              <a:ext cx="11702334" cy="4941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198">
                      <a:extLst>
                        <a:ext uri="{9D8B030D-6E8A-4147-A177-3AD203B41FA5}">
                          <a16:colId xmlns:a16="http://schemas.microsoft.com/office/drawing/2014/main" val="2942440875"/>
                        </a:ext>
                      </a:extLst>
                    </a:gridCol>
                    <a:gridCol w="3783454">
                      <a:extLst>
                        <a:ext uri="{9D8B030D-6E8A-4147-A177-3AD203B41FA5}">
                          <a16:colId xmlns:a16="http://schemas.microsoft.com/office/drawing/2014/main" val="1714809254"/>
                        </a:ext>
                      </a:extLst>
                    </a:gridCol>
                    <a:gridCol w="2237172">
                      <a:extLst>
                        <a:ext uri="{9D8B030D-6E8A-4147-A177-3AD203B41FA5}">
                          <a16:colId xmlns:a16="http://schemas.microsoft.com/office/drawing/2014/main" val="3908104319"/>
                        </a:ext>
                      </a:extLst>
                    </a:gridCol>
                    <a:gridCol w="2338741">
                      <a:extLst>
                        <a:ext uri="{9D8B030D-6E8A-4147-A177-3AD203B41FA5}">
                          <a16:colId xmlns:a16="http://schemas.microsoft.com/office/drawing/2014/main" val="3700159494"/>
                        </a:ext>
                      </a:extLst>
                    </a:gridCol>
                    <a:gridCol w="2268769">
                      <a:extLst>
                        <a:ext uri="{9D8B030D-6E8A-4147-A177-3AD203B41FA5}">
                          <a16:colId xmlns:a16="http://schemas.microsoft.com/office/drawing/2014/main" val="831564188"/>
                        </a:ext>
                      </a:extLst>
                    </a:gridCol>
                  </a:tblGrid>
                  <a:tr h="4334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평가 지표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설명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수식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750" b="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사이킷런</a:t>
                          </a:r>
                          <a:r>
                            <a:rPr lang="ko-KR" altLang="en-US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 평가 지표 </a:t>
                          </a:r>
                          <a:r>
                            <a:rPr lang="en-US" altLang="ko-KR" sz="1750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API</a:t>
                          </a:r>
                          <a:endParaRPr lang="ko-KR" altLang="en-US" sz="1750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Scoring </a:t>
                          </a:r>
                          <a:r>
                            <a:rPr lang="ko-KR" altLang="en-US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함수 적용 값</a:t>
                          </a:r>
                        </a:p>
                      </a:txBody>
                      <a:tcPr anchor="ctr"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1638714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MAE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Absolute Error(MAE)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절댓값으로 변환해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49655" r="-207357" b="-41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metrics.mean_absolute_error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neg_mean_absolute_error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4368848"/>
                      </a:ext>
                    </a:extLst>
                  </a:tr>
                  <a:tr h="8834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1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Mean Squared Error(MSE)</a:t>
                          </a:r>
                        </a:p>
                        <a:p>
                          <a:pPr algn="just" latinLnBrk="1"/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실제값과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차이를 제곱해 평균한 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148630" r="-207357" b="-309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 err="1"/>
                            <a:t>metrics.mean_squared_error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</a:t>
                          </a:r>
                          <a:r>
                            <a:rPr lang="en-US" altLang="ko-KR" sz="1300" dirty="0" err="1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neg_mean_squared_error</a:t>
                          </a:r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4766213"/>
                      </a:ext>
                    </a:extLst>
                  </a:tr>
                  <a:tr h="149418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RMSE</a:t>
                          </a:r>
                          <a:endParaRPr lang="ko-KR" altLang="en-US" b="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값은 오류의 제곱을 구하므로 실제 오류 평균보다 더 커지므로 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MSE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루트를 씌운 것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</a:t>
                          </a:r>
                          <a:endParaRPr lang="ko-KR" altLang="en-US" sz="1500" b="0" dirty="0">
                            <a:latin typeface="나눔스퀘어라운드 Regular" panose="020B0600000101010101" pitchFamily="50" charset="-127"/>
                            <a:ea typeface="나눔스퀘어라운드 Regular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7439" t="-148163" r="-207357" b="-8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solidFill>
                                <a:srgbClr val="595959"/>
                              </a:solidFill>
                            </a:rPr>
                            <a:t>제공하지 않음</a:t>
                          </a:r>
                          <a:r>
                            <a:rPr lang="en-US" altLang="ko-KR" sz="1200" dirty="0">
                              <a:solidFill>
                                <a:srgbClr val="595959"/>
                              </a:solidFill>
                            </a:rPr>
                            <a:t>.</a:t>
                          </a:r>
                          <a:endParaRPr lang="ko-KR" altLang="en-US" sz="1200" dirty="0">
                            <a:solidFill>
                              <a:srgbClr val="595959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5663118"/>
                      </a:ext>
                    </a:extLst>
                  </a:tr>
                  <a:tr h="12468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68" t="-296585" r="-993750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분산 기반으로 예측 성능을 평가한다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. 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실제 값의 분산 대비 </a:t>
                          </a:r>
                          <a:r>
                            <a:rPr lang="ko-KR" altLang="en-US" sz="1500" b="0" dirty="0" err="1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예측값의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 분산 비율을 지표로 하며</a:t>
                          </a:r>
                          <a:r>
                            <a:rPr lang="en-US" altLang="ko-KR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, 1</a:t>
                          </a:r>
                          <a:r>
                            <a:rPr lang="ko-KR" altLang="en-US" sz="1500" b="0" dirty="0">
                              <a:latin typeface="나눔스퀘어라운드 Regular" panose="020B0600000101010101" pitchFamily="50" charset="-127"/>
                              <a:ea typeface="나눔스퀘어라운드 Regular" panose="020B0600000101010101" pitchFamily="50" charset="-127"/>
                            </a:rPr>
                            <a:t>에 가까울수록 예측 정확도가 높다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17439" t="-296585" r="-207357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/>
                            <a:t>metrics.r2_score</a:t>
                          </a:r>
                          <a:endParaRPr lang="ko-KR" altLang="en-US" sz="1300" dirty="0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3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‘r2’</a:t>
                          </a:r>
                          <a:endParaRPr lang="ko-KR" altLang="en-US" sz="1300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33927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FBC95-7911-4E73-8C0A-38687034BF59}"/>
              </a:ext>
            </a:extLst>
          </p:cNvPr>
          <p:cNvSpPr txBox="1"/>
          <p:nvPr/>
        </p:nvSpPr>
        <p:spPr>
          <a:xfrm>
            <a:off x="5129365" y="929837"/>
            <a:ext cx="208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회귀 평가 지표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D47A3ED-20A2-444D-8CA3-6EB4CD41EADF}"/>
              </a:ext>
            </a:extLst>
          </p:cNvPr>
          <p:cNvSpPr/>
          <p:nvPr/>
        </p:nvSpPr>
        <p:spPr>
          <a:xfrm>
            <a:off x="9650027" y="2201663"/>
            <a:ext cx="577049" cy="49714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04040"/>
              </a:solidFill>
            </a:endParaRPr>
          </a:p>
        </p:txBody>
      </p:sp>
      <p:sp>
        <p:nvSpPr>
          <p:cNvPr id="5" name="설명선: 굽은 선(테두리 없음) 4">
            <a:extLst>
              <a:ext uri="{FF2B5EF4-FFF2-40B4-BE49-F238E27FC236}">
                <a16:creationId xmlns:a16="http://schemas.microsoft.com/office/drawing/2014/main" id="{92C77F03-4B7C-4C41-B417-9BAA8EA96392}"/>
              </a:ext>
            </a:extLst>
          </p:cNvPr>
          <p:cNvSpPr/>
          <p:nvPr/>
        </p:nvSpPr>
        <p:spPr>
          <a:xfrm rot="10800000">
            <a:off x="963223" y="1103679"/>
            <a:ext cx="6818051" cy="2740352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3056"/>
              <a:gd name="adj6" fmla="val -28698"/>
            </a:avLst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4EE24-28A6-4EB1-A345-1B74EA426F6E}"/>
              </a:ext>
            </a:extLst>
          </p:cNvPr>
          <p:cNvSpPr txBox="1"/>
          <p:nvPr/>
        </p:nvSpPr>
        <p:spPr>
          <a:xfrm>
            <a:off x="1029810" y="1194015"/>
            <a:ext cx="6658252" cy="25391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‘neg_’:</a:t>
            </a:r>
            <a:r>
              <a:rPr lang="ko-KR" altLang="en-US" dirty="0"/>
              <a:t> </a:t>
            </a:r>
            <a:r>
              <a:rPr lang="en-US" altLang="ko-KR" dirty="0"/>
              <a:t>Negative(</a:t>
            </a:r>
            <a:r>
              <a:rPr lang="ko-KR" altLang="en-US" dirty="0"/>
              <a:t>음수</a:t>
            </a:r>
            <a:r>
              <a:rPr lang="en-US" altLang="ko-KR" dirty="0"/>
              <a:t>)</a:t>
            </a:r>
            <a:r>
              <a:rPr lang="ko-KR" altLang="en-US" dirty="0"/>
              <a:t>값을 가지는 것을 의미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595959"/>
                </a:solidFill>
              </a:rPr>
              <a:t>MAE</a:t>
            </a:r>
            <a:r>
              <a:rPr lang="ko-KR" altLang="en-US" dirty="0">
                <a:solidFill>
                  <a:srgbClr val="595959"/>
                </a:solidFill>
              </a:rPr>
              <a:t>는 절댓값의 합이므로 음수가 될 수 없다</a:t>
            </a:r>
            <a:r>
              <a:rPr lang="en-US" altLang="ko-KR" dirty="0">
                <a:solidFill>
                  <a:srgbClr val="595959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dirty="0" err="1"/>
              <a:t>음수값을</a:t>
            </a:r>
            <a:r>
              <a:rPr lang="ko-KR" altLang="en-US" dirty="0"/>
              <a:t> 반환하는 이유</a:t>
            </a:r>
            <a:r>
              <a:rPr lang="en-US" altLang="ko-KR" dirty="0"/>
              <a:t>: </a:t>
            </a:r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dirty="0"/>
              <a:t>scoring </a:t>
            </a:r>
            <a:r>
              <a:rPr lang="ko-KR" altLang="en-US" dirty="0"/>
              <a:t>함수가 </a:t>
            </a:r>
            <a:r>
              <a:rPr lang="en-US" altLang="ko-KR" dirty="0"/>
              <a:t>score</a:t>
            </a:r>
            <a:r>
              <a:rPr lang="ko-KR" altLang="en-US" dirty="0"/>
              <a:t> 값이 클수록 좋은 평가 결과로 자동 평가하기 때문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en-US" altLang="ko-KR" dirty="0" err="1"/>
              <a:t>neg_metrics_absolute_error</a:t>
            </a:r>
            <a:r>
              <a:rPr lang="en-US" altLang="ko-KR" dirty="0"/>
              <a:t>’ : -1*</a:t>
            </a:r>
            <a:r>
              <a:rPr lang="en-US" altLang="ko-KR" dirty="0" err="1"/>
              <a:t>metrics.mean_absolute_error</a:t>
            </a:r>
            <a:r>
              <a:rPr lang="en-US" altLang="ko-K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49702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FBC95-7911-4E73-8C0A-38687034BF59}"/>
              </a:ext>
            </a:extLst>
          </p:cNvPr>
          <p:cNvSpPr txBox="1"/>
          <p:nvPr/>
        </p:nvSpPr>
        <p:spPr>
          <a:xfrm>
            <a:off x="699407" y="974226"/>
            <a:ext cx="869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LinearRegression</a:t>
            </a:r>
            <a:r>
              <a:rPr lang="en-US" altLang="ko-KR" sz="20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</a:t>
            </a:r>
            <a:r>
              <a:rPr lang="en-US" altLang="ko-KR" sz="20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solidFill>
                  <a:srgbClr val="59595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이용해 보스턴 주택 가격 회귀 구현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FEE1A6-D51F-4E7C-9680-4CC93912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00" y="1531809"/>
            <a:ext cx="9064800" cy="5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83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BADA10-511E-479F-B6FC-CCCBAA11C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00" y="896645"/>
            <a:ext cx="9064800" cy="577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22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DD29F6-7C7B-4365-9A34-816BC602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60" y="763928"/>
            <a:ext cx="9064100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6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5F6827-C7E3-4CC1-9439-449A82FEAA35}"/>
              </a:ext>
            </a:extLst>
          </p:cNvPr>
          <p:cNvSpPr/>
          <p:nvPr/>
        </p:nvSpPr>
        <p:spPr>
          <a:xfrm>
            <a:off x="271467" y="186607"/>
            <a:ext cx="6019842" cy="5096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사이킷런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LinearRegression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을 이용한 보스턴 주택 가격 예측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748C98-70A0-4EE5-9A29-FE2023BB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80" y="1253901"/>
            <a:ext cx="8416440" cy="43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6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7AB9D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05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</a:t>
              </a:r>
              <a:r>
                <a:rPr lang="ko-KR" altLang="en-US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다항 회귀와 과</a:t>
              </a: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(</a:t>
              </a:r>
              <a:r>
                <a:rPr lang="ko-KR" altLang="en-US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대</a:t>
              </a: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)</a:t>
              </a:r>
              <a:r>
                <a:rPr lang="ko-KR" altLang="en-US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적합</a:t>
              </a: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/</a:t>
              </a:r>
              <a:r>
                <a:rPr lang="ko-KR" altLang="en-US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과소적합 이해</a:t>
              </a:r>
              <a:endParaRPr lang="en-US" altLang="ko-KR" sz="46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99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21812-2ABD-4EF5-91D4-F8612CB1046A}"/>
              </a:ext>
            </a:extLst>
          </p:cNvPr>
          <p:cNvSpPr txBox="1"/>
          <p:nvPr/>
        </p:nvSpPr>
        <p:spPr>
          <a:xfrm>
            <a:off x="1235609" y="1607593"/>
            <a:ext cx="6955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다항 회귀 이해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ABF3D4F1-84ED-407E-8CA4-907B70ECE57C}"/>
                  </a:ext>
                </a:extLst>
              </p:cNvPr>
              <p:cNvSpPr/>
              <p:nvPr/>
            </p:nvSpPr>
            <p:spPr>
              <a:xfrm>
                <a:off x="997258" y="2497930"/>
                <a:ext cx="10197484" cy="29963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다항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(Polynomial)</a:t>
                </a:r>
                <a:r>
                  <a:rPr lang="ko-KR" altLang="en-US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회귀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회귀가 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차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, 3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차 방정식과 같은 다항식으로 표현되는 것</a:t>
                </a:r>
                <a:endParaRPr lang="en-US" altLang="ko-KR" sz="16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endParaRPr lang="en-US" altLang="ko-KR" sz="16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Sup>
                        <m:sSubSupPr>
                          <m:ctrlPr>
                            <a:rPr lang="ko-KR" altLang="ko-KR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ko-KR" altLang="ko-KR" b="1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ko-KR" altLang="ko-KR" sz="16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회귀에서 선형 회귀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비선형 회귀를 나누는 기준은 회귀계수가 선형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/ 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비선형인지에 따른 것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     -&gt; </a:t>
                </a:r>
                <a:r>
                  <a:rPr lang="ko-KR" altLang="en-US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다항 회귀는 선형 회귀</a:t>
                </a:r>
                <a:endParaRPr lang="en-US" altLang="ko-KR" sz="16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ko-KR" altLang="ko-KR" sz="1600" kern="1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600" kern="100" dirty="0" err="1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사이킷런은</a:t>
                </a:r>
                <a:r>
                  <a:rPr lang="ko-KR" altLang="en-US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다항 회귀를 위한 클래스를 제공하지</a:t>
                </a:r>
                <a:r>
                  <a:rPr lang="en-US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않</a:t>
                </a:r>
                <a:r>
                  <a:rPr lang="ko-KR" altLang="en-US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기 때문에 </a:t>
                </a:r>
                <a:r>
                  <a:rPr lang="ko-KR" altLang="ko-KR" sz="1600" kern="1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비선형 함수를 선형 모델에 적용시키는 방법을 사용</a:t>
                </a: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ABF3D4F1-84ED-407E-8CA4-907B70ECE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58" y="2497930"/>
                <a:ext cx="10197484" cy="2996333"/>
              </a:xfrm>
              <a:prstGeom prst="rect">
                <a:avLst/>
              </a:prstGeom>
              <a:blipFill>
                <a:blip r:embed="rId2"/>
                <a:stretch>
                  <a:fillRect l="-239" t="-407" b="-1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5AEB58E6-1551-44FE-91E5-A9763D30B503}"/>
              </a:ext>
            </a:extLst>
          </p:cNvPr>
          <p:cNvSpPr/>
          <p:nvPr/>
        </p:nvSpPr>
        <p:spPr>
          <a:xfrm>
            <a:off x="898258" y="1728574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77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8" name="그림 17" descr="스크린샷이(가) 표시된 사진&#10;&#10;자동 생성된 설명">
            <a:extLst>
              <a:ext uri="{FF2B5EF4-FFF2-40B4-BE49-F238E27FC236}">
                <a16:creationId xmlns:a16="http://schemas.microsoft.com/office/drawing/2014/main" id="{DAD8F5BF-F6A2-4768-8A37-694E041183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74"/>
          <a:stretch/>
        </p:blipFill>
        <p:spPr>
          <a:xfrm>
            <a:off x="314533" y="775963"/>
            <a:ext cx="9308861" cy="5911200"/>
          </a:xfrm>
          <a:prstGeom prst="rect">
            <a:avLst/>
          </a:prstGeom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0EBC8F2E-53DA-483C-9573-02BCCF93EA3F}"/>
              </a:ext>
            </a:extLst>
          </p:cNvPr>
          <p:cNvSpPr/>
          <p:nvPr/>
        </p:nvSpPr>
        <p:spPr>
          <a:xfrm rot="10800000">
            <a:off x="269290" y="3183394"/>
            <a:ext cx="3264908" cy="491212"/>
          </a:xfrm>
          <a:prstGeom prst="borderCallout1">
            <a:avLst>
              <a:gd name="adj1" fmla="val 18750"/>
              <a:gd name="adj2" fmla="val -8333"/>
              <a:gd name="adj3" fmla="val 149601"/>
              <a:gd name="adj4" fmla="val -108959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E65A2-B563-4801-A351-066E3F9A5C7A}"/>
              </a:ext>
            </a:extLst>
          </p:cNvPr>
          <p:cNvSpPr txBox="1"/>
          <p:nvPr/>
        </p:nvSpPr>
        <p:spPr>
          <a:xfrm>
            <a:off x="7314345" y="2660174"/>
            <a:ext cx="4563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다항식 계수 값을 입력하면 다항식의 값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반환하는 함수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polynomial_func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130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CC9DA090-F568-49AE-9BD4-34655E06E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8" y="1843244"/>
            <a:ext cx="9839301" cy="4538672"/>
          </a:xfrm>
          <a:prstGeom prst="rect">
            <a:avLst/>
          </a:prstGeom>
        </p:spPr>
      </p:pic>
      <p:sp>
        <p:nvSpPr>
          <p:cNvPr id="4" name="설명선: 선 3">
            <a:extLst>
              <a:ext uri="{FF2B5EF4-FFF2-40B4-BE49-F238E27FC236}">
                <a16:creationId xmlns:a16="http://schemas.microsoft.com/office/drawing/2014/main" id="{84955C39-49B0-4864-97DA-C3A275D232E0}"/>
              </a:ext>
            </a:extLst>
          </p:cNvPr>
          <p:cNvSpPr/>
          <p:nvPr/>
        </p:nvSpPr>
        <p:spPr>
          <a:xfrm rot="10800000">
            <a:off x="3417903" y="2290438"/>
            <a:ext cx="1012055" cy="461638"/>
          </a:xfrm>
          <a:prstGeom prst="borderCallout1">
            <a:avLst>
              <a:gd name="adj1" fmla="val 18750"/>
              <a:gd name="adj2" fmla="val -8333"/>
              <a:gd name="adj3" fmla="val 291346"/>
              <a:gd name="adj4" fmla="val -157631"/>
            </a:avLst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987E2-E2C8-457E-ABEB-54384EC9E25D}"/>
              </a:ext>
            </a:extLst>
          </p:cNvPr>
          <p:cNvSpPr txBox="1"/>
          <p:nvPr/>
        </p:nvSpPr>
        <p:spPr>
          <a:xfrm>
            <a:off x="6096000" y="868843"/>
            <a:ext cx="5702423" cy="83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피처변환과 선형 회귀 적용을 각각 별도로 하는 것보다 </a:t>
            </a:r>
            <a:r>
              <a:rPr lang="ko-KR" altLang="en-US" sz="1600" dirty="0" err="1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사이킷런의</a:t>
            </a:r>
            <a:r>
              <a:rPr lang="ko-KR" altLang="en-US" sz="16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Pipeline</a:t>
            </a:r>
            <a:r>
              <a:rPr lang="en-US" altLang="ko-KR" sz="1600" b="1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이용해 한 번에 다항 회귀를 구현할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84257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21812-2ABD-4EF5-91D4-F8612CB1046A}"/>
              </a:ext>
            </a:extLst>
          </p:cNvPr>
          <p:cNvSpPr txBox="1"/>
          <p:nvPr/>
        </p:nvSpPr>
        <p:spPr>
          <a:xfrm>
            <a:off x="411725" y="902893"/>
            <a:ext cx="6955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다항 회귀를 이용한 과소적합 및 </a:t>
            </a:r>
            <a:r>
              <a:rPr lang="ko-KR" altLang="en-US" sz="2400" dirty="0" err="1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과적합</a:t>
            </a:r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이해</a:t>
            </a: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8CD2933E-1F69-48AD-8A47-A0C1AB17E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5" y="1577536"/>
            <a:ext cx="5814564" cy="3758411"/>
          </a:xfrm>
          <a:prstGeom prst="rect">
            <a:avLst/>
          </a:prstGeom>
        </p:spPr>
      </p:pic>
      <p:pic>
        <p:nvPicPr>
          <p:cNvPr id="9" name="그림 8" descr="스크린샷이(가) 표시된 사진&#10;&#10;자동 생성된 설명">
            <a:extLst>
              <a:ext uri="{FF2B5EF4-FFF2-40B4-BE49-F238E27FC236}">
                <a16:creationId xmlns:a16="http://schemas.microsoft.com/office/drawing/2014/main" id="{E9D69729-34F6-4847-B488-2BCF3F068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36" y="1364558"/>
            <a:ext cx="6599307" cy="54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75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F51BBF3-D3D5-483D-9613-8540A41389BF}"/>
              </a:ext>
            </a:extLst>
          </p:cNvPr>
          <p:cNvGrpSpPr/>
          <p:nvPr/>
        </p:nvGrpSpPr>
        <p:grpSpPr>
          <a:xfrm rot="5400000">
            <a:off x="6342107" y="1112573"/>
            <a:ext cx="6030481" cy="5185168"/>
            <a:chOff x="4285859" y="1852114"/>
            <a:chExt cx="3528183" cy="338582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5330D68-5F98-4B98-8FBE-1DD3316C1B1B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49ED7F3-AF67-4C5E-A544-54E95C6C2EE1}"/>
                </a:ext>
              </a:extLst>
            </p:cNvPr>
            <p:cNvSpPr/>
            <p:nvPr/>
          </p:nvSpPr>
          <p:spPr>
            <a:xfrm>
              <a:off x="4285859" y="1852114"/>
              <a:ext cx="3528183" cy="33447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 descr="지도, 텍스트이(가) 표시된 사진&#10;&#10;자동 생성된 설명">
            <a:extLst>
              <a:ext uri="{FF2B5EF4-FFF2-40B4-BE49-F238E27FC236}">
                <a16:creationId xmlns:a16="http://schemas.microsoft.com/office/drawing/2014/main" id="{CEE1D56F-70F6-4E89-8238-3DFB4924A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27" y="982257"/>
            <a:ext cx="6291182" cy="5809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3768F-2A90-4111-95B8-2A7C6C8E8873}"/>
              </a:ext>
            </a:extLst>
          </p:cNvPr>
          <p:cNvSpPr txBox="1"/>
          <p:nvPr/>
        </p:nvSpPr>
        <p:spPr>
          <a:xfrm>
            <a:off x="4448479" y="2613054"/>
            <a:ext cx="2249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실선 곡선</a:t>
            </a:r>
            <a:r>
              <a:rPr lang="en-US" altLang="ko-KR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다항 회귀 예측 곡선</a:t>
            </a:r>
            <a:endParaRPr lang="en-US" altLang="ko-KR" sz="8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점선 곡선</a:t>
            </a:r>
            <a:r>
              <a:rPr lang="en-US" altLang="ko-KR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실제 데이터 세트 </a:t>
            </a:r>
            <a:r>
              <a:rPr lang="en-US" altLang="ko-KR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X, Y</a:t>
            </a:r>
            <a:r>
              <a:rPr lang="ko-KR" altLang="en-US" sz="8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코사인 곡선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3EC1E-F4AE-4173-B141-B0905C3D94A9}"/>
              </a:ext>
            </a:extLst>
          </p:cNvPr>
          <p:cNvSpPr txBox="1"/>
          <p:nvPr/>
        </p:nvSpPr>
        <p:spPr>
          <a:xfrm>
            <a:off x="7040580" y="1101848"/>
            <a:ext cx="4909352" cy="5206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404040"/>
                </a:solidFill>
                <a:ea typeface="나눔스퀘어" panose="020B0600000101010101" pitchFamily="50" charset="-127"/>
              </a:rPr>
              <a:t>Degree1 </a:t>
            </a:r>
            <a:r>
              <a:rPr lang="ko-KR" altLang="en-US" dirty="0">
                <a:solidFill>
                  <a:srgbClr val="404040"/>
                </a:solidFill>
                <a:ea typeface="나눔스퀘어" panose="020B0600000101010101" pitchFamily="50" charset="-127"/>
              </a:rPr>
              <a:t>예측 곡선</a:t>
            </a:r>
            <a:endParaRPr lang="en-US" altLang="ko-KR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단순 선형 회귀와 똑같음</a:t>
            </a:r>
            <a:r>
              <a:rPr lang="en-US" altLang="ko-KR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과소적합 모델</a:t>
            </a:r>
            <a:endParaRPr lang="en-US" altLang="ko-KR" sz="15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고편향성</a:t>
            </a:r>
            <a:endParaRPr lang="en-US" altLang="ko-KR" sz="15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404040"/>
                </a:solidFill>
                <a:ea typeface="나눔스퀘어" panose="020B0600000101010101" pitchFamily="50" charset="-127"/>
              </a:rPr>
              <a:t>Degree4</a:t>
            </a:r>
            <a:r>
              <a:rPr lang="ko-KR" altLang="en-US" b="1" dirty="0">
                <a:solidFill>
                  <a:srgbClr val="404040"/>
                </a:solidFill>
                <a:ea typeface="나눔스퀘어" panose="020B0600000101010101" pitchFamily="50" charset="-127"/>
              </a:rPr>
              <a:t> 예측 곡선</a:t>
            </a:r>
            <a:endParaRPr lang="en-US" altLang="ko-KR" b="1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실제 데이터 세트와 유사</a:t>
            </a:r>
            <a:endParaRPr lang="en-US" altLang="ko-KR" sz="15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MSE</a:t>
            </a: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값이 가장 뛰어난 예측 성능을 나타냄</a:t>
            </a:r>
            <a:endParaRPr lang="en-US" altLang="ko-KR" sz="15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404040"/>
                </a:solidFill>
                <a:ea typeface="나눔스퀘어" panose="020B0600000101010101" pitchFamily="50" charset="-127"/>
              </a:rPr>
              <a:t>Degree15 </a:t>
            </a:r>
            <a:r>
              <a:rPr lang="ko-KR" altLang="en-US" dirty="0">
                <a:solidFill>
                  <a:srgbClr val="404040"/>
                </a:solidFill>
                <a:ea typeface="나눔스퀘어" panose="020B0600000101010101" pitchFamily="50" charset="-127"/>
              </a:rPr>
              <a:t>예측 곡선</a:t>
            </a:r>
            <a:endParaRPr lang="en-US" altLang="ko-KR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예측 곡선이 학습 데이터 세트만 정확히 예측</a:t>
            </a:r>
            <a:r>
              <a:rPr lang="en-US" altLang="ko-KR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. </a:t>
            </a: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테스트 값의 실제 곡선과는 완전히 다른 형태의 예측 곡선</a:t>
            </a:r>
            <a:endParaRPr lang="en-US" altLang="ko-KR" sz="1500" dirty="0">
              <a:solidFill>
                <a:srgbClr val="404040"/>
              </a:solidFill>
              <a:ea typeface="나눔스퀘어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 err="1">
                <a:solidFill>
                  <a:srgbClr val="404040"/>
                </a:solidFill>
                <a:ea typeface="나눔스퀘어" panose="020B0600000101010101" pitchFamily="50" charset="-127"/>
              </a:rPr>
              <a:t>과적합</a:t>
            </a: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 모델</a:t>
            </a:r>
            <a:r>
              <a:rPr lang="en-US" altLang="ko-KR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solidFill>
                  <a:srgbClr val="404040"/>
                </a:solidFill>
                <a:ea typeface="나눔스퀘어" panose="020B0600000101010101" pitchFamily="50" charset="-127"/>
              </a:rPr>
              <a:t>고분산성</a:t>
            </a:r>
          </a:p>
        </p:txBody>
      </p:sp>
    </p:spTree>
    <p:extLst>
      <p:ext uri="{BB962C8B-B14F-4D97-AF65-F5344CB8AC3E}">
        <p14:creationId xmlns:p14="http://schemas.microsoft.com/office/powerpoint/2010/main" val="1807009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벡터그래픽이(가) 표시된 사진&#10;&#10;자동 생성된 설명">
            <a:extLst>
              <a:ext uri="{FF2B5EF4-FFF2-40B4-BE49-F238E27FC236}">
                <a16:creationId xmlns:a16="http://schemas.microsoft.com/office/drawing/2014/main" id="{FF611951-E22B-42CA-9713-31C9E5685E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" r="8579" b="-182"/>
          <a:stretch/>
        </p:blipFill>
        <p:spPr>
          <a:xfrm>
            <a:off x="3533097" y="1814503"/>
            <a:ext cx="4946510" cy="493056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CDBE7-4709-4420-9B5E-B6FC137A3DB2}"/>
              </a:ext>
            </a:extLst>
          </p:cNvPr>
          <p:cNvSpPr txBox="1"/>
          <p:nvPr/>
        </p:nvSpPr>
        <p:spPr>
          <a:xfrm>
            <a:off x="143563" y="2302877"/>
            <a:ext cx="3684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저편향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저분산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(Low Bias/Low Variance)</a:t>
            </a:r>
          </a:p>
          <a:p>
            <a:endParaRPr lang="en-US" altLang="ko-KR" sz="16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결과가 실제 결과에 매우 근접함</a:t>
            </a:r>
            <a:endParaRPr lang="en-US" altLang="ko-KR" sz="14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특정 부분에 집중되어 있음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05A3AE-06EB-43B3-94FA-0C6A9CA39BB8}"/>
              </a:ext>
            </a:extLst>
          </p:cNvPr>
          <p:cNvSpPr txBox="1"/>
          <p:nvPr/>
        </p:nvSpPr>
        <p:spPr>
          <a:xfrm>
            <a:off x="8256363" y="2302877"/>
            <a:ext cx="3684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저편향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고분산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(Low Bias/High Variance</a:t>
            </a:r>
            <a:r>
              <a:rPr lang="en-US" altLang="ko-KR" sz="16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  <a:p>
            <a:endParaRPr lang="en-US" altLang="ko-KR" sz="16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결과가 실제 결과에 비교적 근접함</a:t>
            </a:r>
            <a:endParaRPr lang="en-US" altLang="ko-KR" sz="14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실제 결과를 중심으로 넓게 분포하고 있음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C4501-6D7E-480A-9C07-58D93DC6A56F}"/>
              </a:ext>
            </a:extLst>
          </p:cNvPr>
          <p:cNvSpPr txBox="1"/>
          <p:nvPr/>
        </p:nvSpPr>
        <p:spPr>
          <a:xfrm>
            <a:off x="8256363" y="4609138"/>
            <a:ext cx="3792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고편향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고분산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(High Bias/High Variance)</a:t>
            </a:r>
          </a:p>
          <a:p>
            <a:endParaRPr lang="en-US" altLang="ko-KR" sz="1600" b="1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정확한 예측 결과를 벗어남</a:t>
            </a:r>
            <a:endParaRPr lang="en-US" altLang="ko-KR" sz="14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넓게 분포하고 있음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BEEB7D-55D2-4116-87B7-BAF67EBA4DB2}"/>
              </a:ext>
            </a:extLst>
          </p:cNvPr>
          <p:cNvSpPr txBox="1"/>
          <p:nvPr/>
        </p:nvSpPr>
        <p:spPr>
          <a:xfrm>
            <a:off x="143563" y="4609138"/>
            <a:ext cx="3684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고편향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sz="1600" b="1" dirty="0" err="1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저분산</a:t>
            </a:r>
            <a:r>
              <a:rPr lang="en-US" altLang="ko-KR" sz="1600" b="1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(High Bias/Low Variance)</a:t>
            </a:r>
          </a:p>
          <a:p>
            <a:endParaRPr lang="en-US" altLang="ko-KR" sz="16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예측이 결과가 정확한 결과에서 벗어남</a:t>
            </a:r>
            <a:endParaRPr lang="en-US" altLang="ko-KR" sz="1400" dirty="0">
              <a:solidFill>
                <a:srgbClr val="595959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rgbClr val="595959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특정 부분에 집중되어 있음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21812-2ABD-4EF5-91D4-F8612CB1046A}"/>
              </a:ext>
            </a:extLst>
          </p:cNvPr>
          <p:cNvSpPr txBox="1"/>
          <p:nvPr/>
        </p:nvSpPr>
        <p:spPr>
          <a:xfrm>
            <a:off x="2986250" y="965081"/>
            <a:ext cx="6955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편향</a:t>
            </a:r>
            <a:r>
              <a:rPr lang="en-US" altLang="ko-KR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분산 트레이드오프</a:t>
            </a:r>
            <a:r>
              <a:rPr lang="en-US" altLang="ko-KR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(Bias-Variance Trade off)</a:t>
            </a:r>
            <a:endParaRPr lang="ko-KR" altLang="en-US" sz="2400" dirty="0">
              <a:solidFill>
                <a:srgbClr val="40404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124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074" name="Picture 2" descr="https://blogfiles.pstatic.net/MjAxOTA3MjJfMjMg/MDAxNTYzNzk3Nzc0NDcw.VdLhR996Ys1uG0V5R_9UD6Wg4jZL3dI_3Phnu13mdY4g.OkHU-OcxcVk4R4KU7bI_xHCUEKh8Gfs_stvNrmBH02Ig.PNG.ckdgus1433/image.png">
            <a:extLst>
              <a:ext uri="{FF2B5EF4-FFF2-40B4-BE49-F238E27FC236}">
                <a16:creationId xmlns:a16="http://schemas.microsoft.com/office/drawing/2014/main" id="{DC600A02-72DC-4E48-8BC4-EE4557556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228" y="811352"/>
            <a:ext cx="9213543" cy="560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8E658-3756-4B85-9FA7-B425C383AFDC}"/>
              </a:ext>
            </a:extLst>
          </p:cNvPr>
          <p:cNvSpPr txBox="1"/>
          <p:nvPr/>
        </p:nvSpPr>
        <p:spPr>
          <a:xfrm>
            <a:off x="4311586" y="6412767"/>
            <a:ext cx="3568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편향과</a:t>
            </a:r>
            <a:r>
              <a:rPr lang="en-US" altLang="ko-KR" sz="1100" dirty="0"/>
              <a:t> </a:t>
            </a:r>
            <a:r>
              <a:rPr lang="ko-KR" altLang="en-US" sz="1100" dirty="0"/>
              <a:t>분산에 따른 전체 오류 값</a:t>
            </a:r>
            <a:r>
              <a:rPr lang="en-US" altLang="ko-KR" sz="1100" dirty="0"/>
              <a:t>(Total Error) </a:t>
            </a:r>
            <a:r>
              <a:rPr lang="ko-KR" altLang="en-US" sz="1100" dirty="0"/>
              <a:t>곡선</a:t>
            </a:r>
          </a:p>
        </p:txBody>
      </p:sp>
    </p:spTree>
    <p:extLst>
      <p:ext uri="{BB962C8B-B14F-4D97-AF65-F5344CB8AC3E}">
        <p14:creationId xmlns:p14="http://schemas.microsoft.com/office/powerpoint/2010/main" val="459101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C9D5-BBCE-4E02-A4B2-D122A8B7FD0E}"/>
              </a:ext>
            </a:extLst>
          </p:cNvPr>
          <p:cNvSpPr/>
          <p:nvPr/>
        </p:nvSpPr>
        <p:spPr>
          <a:xfrm>
            <a:off x="304927" y="183623"/>
            <a:ext cx="402225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다항 회귀와 과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(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대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)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적합</a:t>
            </a:r>
            <a:r>
              <a:rPr lang="en-US" altLang="ko-KR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/</a:t>
            </a:r>
            <a:r>
              <a:rPr lang="ko-KR" altLang="en-US" sz="1650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과소적합 이해</a:t>
            </a:r>
            <a:endParaRPr lang="en-US" altLang="ko-KR" sz="1650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074" name="Picture 2" descr="https://blogfiles.pstatic.net/MjAxOTA3MjJfMjMg/MDAxNTYzNzk3Nzc0NDcw.VdLhR996Ys1uG0V5R_9UD6Wg4jZL3dI_3Phnu13mdY4g.OkHU-OcxcVk4R4KU7bI_xHCUEKh8Gfs_stvNrmBH02Ig.PNG.ckdgus1433/image.png">
            <a:extLst>
              <a:ext uri="{FF2B5EF4-FFF2-40B4-BE49-F238E27FC236}">
                <a16:creationId xmlns:a16="http://schemas.microsoft.com/office/drawing/2014/main" id="{DC600A02-72DC-4E48-8BC4-EE4557556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79" y="1523926"/>
            <a:ext cx="5637921" cy="418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8E658-3756-4B85-9FA7-B425C383AFDC}"/>
              </a:ext>
            </a:extLst>
          </p:cNvPr>
          <p:cNvSpPr txBox="1"/>
          <p:nvPr/>
        </p:nvSpPr>
        <p:spPr>
          <a:xfrm>
            <a:off x="1710428" y="5894322"/>
            <a:ext cx="3568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편향과</a:t>
            </a:r>
            <a:r>
              <a:rPr lang="en-US" altLang="ko-KR" sz="1100" dirty="0"/>
              <a:t> </a:t>
            </a:r>
            <a:r>
              <a:rPr lang="ko-KR" altLang="en-US" sz="1100" dirty="0"/>
              <a:t>분산에 따른 전체 오류 값</a:t>
            </a:r>
            <a:r>
              <a:rPr lang="en-US" altLang="ko-KR" sz="1100" dirty="0"/>
              <a:t>(Total Error) </a:t>
            </a:r>
            <a:r>
              <a:rPr lang="ko-KR" altLang="en-US" sz="1100" dirty="0"/>
              <a:t>곡선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7AC1E71-D856-49BE-8C19-3920F02D799D}"/>
              </a:ext>
            </a:extLst>
          </p:cNvPr>
          <p:cNvGrpSpPr/>
          <p:nvPr/>
        </p:nvGrpSpPr>
        <p:grpSpPr>
          <a:xfrm rot="5400000">
            <a:off x="6008918" y="1112572"/>
            <a:ext cx="6030481" cy="5185168"/>
            <a:chOff x="4285859" y="1852114"/>
            <a:chExt cx="3528183" cy="3385824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47ECC10-68CA-496A-8AA8-8779C6088D22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B8A280B-0A36-47B2-8981-4D0CA69D5C04}"/>
                </a:ext>
              </a:extLst>
            </p:cNvPr>
            <p:cNvSpPr/>
            <p:nvPr/>
          </p:nvSpPr>
          <p:spPr>
            <a:xfrm>
              <a:off x="4285859" y="1852114"/>
              <a:ext cx="3528183" cy="33447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2C2716-1A9C-42BB-98B4-83998F293CB7}"/>
              </a:ext>
            </a:extLst>
          </p:cNvPr>
          <p:cNvSpPr/>
          <p:nvPr/>
        </p:nvSpPr>
        <p:spPr>
          <a:xfrm>
            <a:off x="6574098" y="1394564"/>
            <a:ext cx="5315361" cy="3927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ea typeface="나눔스퀘어라운드 Regular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편향이 높으면 분산은 낮아짐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-&gt;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과소적합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ea typeface="나눔스퀘어라운드 Regular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분산이 높으면 편향이 낮아짐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-&gt;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스퀘어라운드 Regular" panose="020B0600000101010101" pitchFamily="50" charset="-127"/>
              </a:rPr>
              <a:t>과적합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ea typeface="나눔스퀘어라운드 Regular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ea typeface="나눔스퀘어라운드 Regular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ea typeface="나눔바른고딕 Light" panose="020B0603020101020101" pitchFamily="50" charset="-127"/>
              </a:rPr>
              <a:t>편향을 낮추고 분산을 높이면서 전체 오류가 가장 낮아지는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ea typeface="나눔바른고딕 Light" panose="020B0603020101020101" pitchFamily="50" charset="-127"/>
              </a:rPr>
              <a:t>‘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ea typeface="나눔바른고딕 Light" panose="020B0603020101020101" pitchFamily="50" charset="-127"/>
              </a:rPr>
              <a:t>골디락스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ea typeface="나눔바른고딕 Light" panose="020B0603020101020101" pitchFamily="50" charset="-127"/>
              </a:rPr>
              <a:t>’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ea typeface="나눔바른고딕 Light" panose="020B0603020101020101" pitchFamily="50" charset="-127"/>
              </a:rPr>
              <a:t> 지점을 통과하면서 분산을 지속적으로 높이면 전체 오류 값이 증가하면서 예측 성능이 저하됨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ea typeface="나눔바른고딕 Light" panose="020B0603020101020101" pitchFamily="50" charset="-127"/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ea typeface="나눔스퀘어라운드 Regular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u="sng" dirty="0">
                <a:solidFill>
                  <a:srgbClr val="404040"/>
                </a:solidFill>
                <a:ea typeface="나눔스퀘어라운드 Regular" panose="020B0600000101010101" pitchFamily="50" charset="-127"/>
              </a:rPr>
              <a:t>편향과 분산이 서로 트레이드 오프를 이루면서 오류 </a:t>
            </a:r>
            <a:r>
              <a:rPr lang="en-US" altLang="ko-KR" u="sng" dirty="0">
                <a:solidFill>
                  <a:srgbClr val="404040"/>
                </a:solidFill>
                <a:ea typeface="나눔스퀘어라운드 Regular" panose="020B0600000101010101" pitchFamily="50" charset="-127"/>
              </a:rPr>
              <a:t>Cost</a:t>
            </a:r>
            <a:r>
              <a:rPr lang="ko-KR" altLang="en-US" u="sng" dirty="0">
                <a:solidFill>
                  <a:srgbClr val="404040"/>
                </a:solidFill>
                <a:ea typeface="나눔스퀘어라운드 Regular" panose="020B0600000101010101" pitchFamily="50" charset="-127"/>
              </a:rPr>
              <a:t>값이 최대로 낮아지는 모델을 구축함</a:t>
            </a:r>
            <a:endParaRPr lang="en-US" altLang="ko-KR" u="sng" dirty="0">
              <a:solidFill>
                <a:srgbClr val="404040"/>
              </a:solidFill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412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4600" dirty="0">
                  <a:solidFill>
                    <a:srgbClr val="7AB9DF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06</a:t>
              </a:r>
              <a:r>
                <a:rPr lang="en-US" altLang="ko-KR" sz="4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나눔스퀘어 ExtraBold" panose="020B0600000101010101" pitchFamily="50" charset="-127"/>
                </a:rPr>
                <a:t>  </a:t>
              </a:r>
              <a:r>
                <a:rPr lang="ko-KR" altLang="en-US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규제 선형 모델 </a:t>
              </a:r>
              <a:endParaRPr lang="en-US" altLang="ko-KR" sz="4400" dirty="0">
                <a:solidFill>
                  <a:srgbClr val="595959"/>
                </a:solidFill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– </a:t>
              </a:r>
              <a:r>
                <a:rPr lang="ko-KR" altLang="en-US" sz="4400" dirty="0" err="1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릿지</a:t>
              </a: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, </a:t>
              </a:r>
              <a:r>
                <a:rPr lang="ko-KR" altLang="en-US" sz="4400" dirty="0" err="1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라쏘</a:t>
              </a:r>
              <a:r>
                <a:rPr lang="en-US" altLang="ko-KR" sz="4400" dirty="0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, </a:t>
              </a:r>
              <a:r>
                <a:rPr lang="ko-KR" altLang="en-US" sz="4400" dirty="0" err="1">
                  <a:solidFill>
                    <a:srgbClr val="595959"/>
                  </a:solidFill>
                  <a:ea typeface="나눔스퀘어 ExtraBold" panose="020B0600000101010101" pitchFamily="50" charset="-127"/>
                </a:rPr>
                <a:t>엘라스틱넷</a:t>
              </a:r>
              <a:endParaRPr lang="en-US" altLang="ko-KR" sz="4400" dirty="0">
                <a:solidFill>
                  <a:srgbClr val="595959"/>
                </a:solidFill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875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48879-8E6D-4D08-B18B-B885D16C2FF1}"/>
              </a:ext>
            </a:extLst>
          </p:cNvPr>
          <p:cNvSpPr txBox="1"/>
          <p:nvPr/>
        </p:nvSpPr>
        <p:spPr>
          <a:xfrm>
            <a:off x="996128" y="1148878"/>
            <a:ext cx="209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규제 선형 모델</a:t>
            </a:r>
            <a:endParaRPr lang="ko-KR" altLang="en-US" sz="2400" dirty="0">
              <a:solidFill>
                <a:srgbClr val="40404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84D2E-C6EB-4757-9845-E4DC63BFC620}"/>
                  </a:ext>
                </a:extLst>
              </p:cNvPr>
              <p:cNvSpPr txBox="1"/>
              <p:nvPr/>
            </p:nvSpPr>
            <p:spPr>
              <a:xfrm>
                <a:off x="3577168" y="1941616"/>
                <a:ext cx="5507114" cy="56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비용 함수 목표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RSS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d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ko-KR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0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b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ko-KR" altLang="en-US" sz="20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84D2E-C6EB-4757-9845-E4DC63BFC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68" y="1941616"/>
                <a:ext cx="5507114" cy="564835"/>
              </a:xfrm>
              <a:prstGeom prst="rect">
                <a:avLst/>
              </a:prstGeom>
              <a:blipFill>
                <a:blip r:embed="rId2"/>
                <a:stretch>
                  <a:fillRect l="-1218" b="-18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C4DC57-2528-465D-A82D-908FF4A178DF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EBEF58-3985-4D2E-87CC-33037B457EEE}"/>
              </a:ext>
            </a:extLst>
          </p:cNvPr>
          <p:cNvGrpSpPr/>
          <p:nvPr/>
        </p:nvGrpSpPr>
        <p:grpSpPr>
          <a:xfrm>
            <a:off x="1715628" y="3079230"/>
            <a:ext cx="2360565" cy="2629892"/>
            <a:chOff x="4350309" y="1893159"/>
            <a:chExt cx="3344779" cy="334477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421BDDA-FCB5-4842-96B5-4898EDA18B9F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AAA3364-464C-41FB-9ED2-B5342727CBF1}"/>
                    </a:ext>
                  </a:extLst>
                </p:cNvPr>
                <p:cNvSpPr/>
                <p:nvPr/>
              </p:nvSpPr>
              <p:spPr>
                <a:xfrm>
                  <a:off x="4459576" y="2001193"/>
                  <a:ext cx="3126243" cy="31287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500" dirty="0">
                      <a:solidFill>
                        <a:srgbClr val="5B9BD5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alpha = 0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ko-KR" altLang="en-US" sz="1500" i="1" smtClea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1500" i="1" smtClea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ko-KR" altLang="en-US" sz="1500" i="1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500" i="1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b>
                          <m: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 </a:t>
                  </a: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가 </a:t>
                  </a:r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0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비용함수는 </a:t>
                  </a:r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Min(RSS(W))</a:t>
                  </a:r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AAA3364-464C-41FB-9ED2-B5342727CB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9576" y="2001193"/>
                  <a:ext cx="3126243" cy="3128709"/>
                </a:xfrm>
                <a:prstGeom prst="rect">
                  <a:avLst/>
                </a:prstGeom>
                <a:blipFill>
                  <a:blip r:embed="rId3"/>
                  <a:stretch>
                    <a:fillRect l="-829" r="-55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B96F50-1B2C-40F4-9395-910E823B479A}"/>
              </a:ext>
            </a:extLst>
          </p:cNvPr>
          <p:cNvGrpSpPr/>
          <p:nvPr/>
        </p:nvGrpSpPr>
        <p:grpSpPr>
          <a:xfrm rot="10800000">
            <a:off x="7922290" y="3079230"/>
            <a:ext cx="2360565" cy="2629892"/>
            <a:chOff x="4350309" y="1893159"/>
            <a:chExt cx="3344779" cy="334477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4CDEA57-FEC9-4795-A1EF-8E15A58DABC0}"/>
                </a:ext>
              </a:extLst>
            </p:cNvPr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F3E47A3-F240-420F-A451-793D151C2C55}"/>
                    </a:ext>
                  </a:extLst>
                </p:cNvPr>
                <p:cNvSpPr/>
                <p:nvPr/>
              </p:nvSpPr>
              <p:spPr>
                <a:xfrm rot="10800000">
                  <a:off x="4459576" y="2001193"/>
                  <a:ext cx="3126243" cy="31287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500" dirty="0">
                      <a:solidFill>
                        <a:srgbClr val="5B9BD5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alpha = </a:t>
                  </a:r>
                  <a:r>
                    <a:rPr lang="ko-KR" altLang="en-US" sz="1500" dirty="0">
                      <a:solidFill>
                        <a:srgbClr val="5B9BD5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무한대</a:t>
                  </a:r>
                  <a:endParaRPr lang="en-US" altLang="ko-KR" sz="1500" dirty="0">
                    <a:solidFill>
                      <a:srgbClr val="5B9BD5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ko-KR" altLang="en-US" sz="1500" i="1" smtClea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1500" i="1" smtClea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ko-KR" altLang="en-US" sz="1500" i="1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500" i="1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b>
                          <m: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ko-KR" altLang="en-US" sz="1500" i="1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500" b="0" i="1" smtClea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a14:m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 </a:t>
                  </a: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가 무한대</a:t>
                  </a:r>
                  <a:endParaRPr lang="en-US" altLang="ko-KR" sz="1500" dirty="0">
                    <a:solidFill>
                      <a:srgbClr val="595959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비용함수는 </a:t>
                  </a:r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W</a:t>
                  </a: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를 </a:t>
                  </a:r>
                  <a:r>
                    <a:rPr lang="en-US" altLang="ko-KR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0</a:t>
                  </a: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에 </a:t>
                  </a:r>
                  <a:endParaRPr lang="en-US" altLang="ko-KR" sz="1500" dirty="0">
                    <a:solidFill>
                      <a:srgbClr val="595959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500" dirty="0">
                      <a:solidFill>
                        <a:srgbClr val="595959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가깝게 최소화</a:t>
                  </a:r>
                  <a:endParaRPr lang="en-US" altLang="ko-KR" sz="1500" dirty="0">
                    <a:solidFill>
                      <a:srgbClr val="595959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F3E47A3-F240-420F-A451-793D151C2C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4459576" y="2001193"/>
                  <a:ext cx="3126243" cy="31287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7B167DA7-CEF4-4602-A0E4-FE6032FB6B40}"/>
              </a:ext>
            </a:extLst>
          </p:cNvPr>
          <p:cNvSpPr/>
          <p:nvPr/>
        </p:nvSpPr>
        <p:spPr>
          <a:xfrm>
            <a:off x="4907555" y="3940361"/>
            <a:ext cx="2183372" cy="5176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2853D6-0599-4E80-86B6-22CE1088085F}"/>
              </a:ext>
            </a:extLst>
          </p:cNvPr>
          <p:cNvSpPr/>
          <p:nvPr/>
        </p:nvSpPr>
        <p:spPr>
          <a:xfrm>
            <a:off x="4515290" y="3646797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alpha </a:t>
            </a:r>
            <a:r>
              <a:rPr lang="ko-KR" altLang="en-US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감소</a:t>
            </a:r>
            <a:endParaRPr lang="ko-KR" altLang="en-US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DD0C6B-7DF9-41FA-8F94-EE4D60A8D6ED}"/>
              </a:ext>
            </a:extLst>
          </p:cNvPr>
          <p:cNvSpPr/>
          <p:nvPr/>
        </p:nvSpPr>
        <p:spPr>
          <a:xfrm>
            <a:off x="6330725" y="3632584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alpha </a:t>
            </a:r>
            <a:r>
              <a:rPr lang="ko-KR" altLang="en-US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증가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08F8D2-4EB6-41AB-AD30-AB6BD8FC0C46}"/>
              </a:ext>
            </a:extLst>
          </p:cNvPr>
          <p:cNvSpPr/>
          <p:nvPr/>
        </p:nvSpPr>
        <p:spPr>
          <a:xfrm>
            <a:off x="4201101" y="4574229"/>
            <a:ext cx="13356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RSS(W)</a:t>
            </a:r>
            <a:r>
              <a:rPr lang="ko-KR" altLang="en-US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최소화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03BB16-411E-422F-85CF-F09610E27C85}"/>
              </a:ext>
            </a:extLst>
          </p:cNvPr>
          <p:cNvSpPr/>
          <p:nvPr/>
        </p:nvSpPr>
        <p:spPr>
          <a:xfrm>
            <a:off x="6331580" y="4574229"/>
            <a:ext cx="1471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회귀 계수 </a:t>
            </a:r>
            <a:r>
              <a:rPr lang="en-US" altLang="ko-KR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 </a:t>
            </a:r>
            <a:r>
              <a:rPr lang="ko-KR" altLang="en-US" sz="1400" dirty="0">
                <a:solidFill>
                  <a:srgbClr val="5B9BD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967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48879-8E6D-4D08-B18B-B885D16C2FF1}"/>
              </a:ext>
            </a:extLst>
          </p:cNvPr>
          <p:cNvSpPr txBox="1"/>
          <p:nvPr/>
        </p:nvSpPr>
        <p:spPr>
          <a:xfrm>
            <a:off x="996128" y="1148878"/>
            <a:ext cx="209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규제 선형 모델</a:t>
            </a:r>
            <a:endParaRPr lang="ko-KR" altLang="en-US" sz="2400" dirty="0">
              <a:solidFill>
                <a:srgbClr val="40404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C4DC57-2528-465D-A82D-908FF4A178DF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B0ADF-BD46-493F-BF90-CDC1E9CE9FD5}"/>
              </a:ext>
            </a:extLst>
          </p:cNvPr>
          <p:cNvSpPr txBox="1"/>
          <p:nvPr/>
        </p:nvSpPr>
        <p:spPr>
          <a:xfrm>
            <a:off x="996128" y="1957719"/>
            <a:ext cx="9456979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규제</a:t>
            </a:r>
            <a:r>
              <a:rPr lang="en-US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(Regularization) : </a:t>
            </a:r>
            <a:r>
              <a:rPr lang="ko-KR" altLang="en-US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비용 함수에 알파 값으로 페널티를 부여해 회귀 계수 값의 크기를 감소시켜 </a:t>
            </a:r>
            <a:endParaRPr lang="en-US" altLang="ko-KR" dirty="0">
              <a:solidFill>
                <a:srgbClr val="595959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	</a:t>
            </a:r>
            <a:r>
              <a:rPr lang="ko-KR" altLang="en-US" dirty="0">
                <a:solidFill>
                  <a:srgbClr val="59595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과적합을 개선하는 방식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45C9A94D-E856-4C03-88FE-22CFE3CA4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6506272"/>
                  </p:ext>
                </p:extLst>
              </p:nvPr>
            </p:nvGraphicFramePr>
            <p:xfrm>
              <a:off x="2032000" y="3188278"/>
              <a:ext cx="8128000" cy="2696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58162421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681773232"/>
                        </a:ext>
                      </a:extLst>
                    </a:gridCol>
                  </a:tblGrid>
                  <a:tr h="56759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L1 </a:t>
                          </a:r>
                          <a:r>
                            <a:rPr lang="ko-KR" altLang="en-US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규제</a:t>
                          </a:r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L2 </a:t>
                          </a:r>
                          <a:r>
                            <a:rPr lang="ko-KR" altLang="en-US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규제</a:t>
                          </a:r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041369"/>
                      </a:ext>
                    </a:extLst>
                  </a:tr>
                  <a:tr h="1426572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ko-KR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와 같이 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W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의 절댓값에 대해</a:t>
                          </a:r>
                          <a:endParaRPr lang="en-US" altLang="ko-KR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endParaRPr>
                        </a:p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페널티를 부여하는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방식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ko-KR" altLang="en-US" sz="180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Sup>
                                <m:sSubSupPr>
                                  <m:ctrlPr>
                                    <a:rPr lang="ko-KR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ko-KR" alt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800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ko-KR" altLang="en-US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ko-KR" altLang="en-US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</a:t>
                          </a:r>
                          <a:r>
                            <a:rPr lang="ko-KR" altLang="en-US" dirty="0" err="1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처럼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W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의 제곱에 대해 </a:t>
                          </a:r>
                          <a:endParaRPr lang="en-US" altLang="ko-KR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endParaRPr>
                        </a:p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페널티를 부여하는 방식</a:t>
                          </a:r>
                          <a:endParaRPr lang="en-US" altLang="ko-KR" dirty="0">
                            <a:latin typeface="나눔스퀘어" panose="020B0600000101010101" pitchFamily="50" charset="-127"/>
                            <a:ea typeface="나눔스퀘어" panose="020B0600000101010101" pitchFamily="50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3397140"/>
                      </a:ext>
                    </a:extLst>
                  </a:tr>
                  <a:tr h="7025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라쏘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(Lasso)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회귀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릿지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(Ridge) 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회귀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277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45C9A94D-E856-4C03-88FE-22CFE3CA4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6506272"/>
                  </p:ext>
                </p:extLst>
              </p:nvPr>
            </p:nvGraphicFramePr>
            <p:xfrm>
              <a:off x="2032000" y="3188278"/>
              <a:ext cx="8128000" cy="2696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58162421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681773232"/>
                        </a:ext>
                      </a:extLst>
                    </a:gridCol>
                  </a:tblGrid>
                  <a:tr h="56759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L1 </a:t>
                          </a:r>
                          <a:r>
                            <a:rPr lang="ko-KR" altLang="en-US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규제</a:t>
                          </a:r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7AB9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L2 </a:t>
                          </a:r>
                          <a:r>
                            <a:rPr lang="ko-KR" altLang="en-US" sz="2000" dirty="0">
                              <a:latin typeface="나눔스퀘어 Bold" panose="020B0600000101010101" pitchFamily="50" charset="-127"/>
                              <a:ea typeface="나눔스퀘어 Bold" panose="020B0600000101010101" pitchFamily="50" charset="-127"/>
                            </a:rPr>
                            <a:t>규제</a:t>
                          </a:r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7AB9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041369"/>
                      </a:ext>
                    </a:extLst>
                  </a:tr>
                  <a:tr h="14265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0" t="-40426" r="-100300" b="-49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150" t="-40426" r="-300" b="-49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397140"/>
                      </a:ext>
                    </a:extLst>
                  </a:tr>
                  <a:tr h="7025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라쏘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(Lasso)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회귀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릿지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 </a:t>
                          </a:r>
                          <a:r>
                            <a:rPr lang="en-US" altLang="ko-KR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(Ridge) </a:t>
                          </a:r>
                          <a:r>
                            <a:rPr lang="ko-KR" altLang="en-US" dirty="0">
                              <a:latin typeface="나눔스퀘어" panose="020B0600000101010101" pitchFamily="50" charset="-127"/>
                              <a:ea typeface="나눔스퀘어" panose="020B0600000101010101" pitchFamily="50" charset="-127"/>
                            </a:rPr>
                            <a:t>회귀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rgbClr val="7AB9D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2775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8669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7FF38F-197C-49DF-9875-5723716E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D48879-8E6D-4D08-B18B-B885D16C2FF1}"/>
              </a:ext>
            </a:extLst>
          </p:cNvPr>
          <p:cNvSpPr txBox="1"/>
          <p:nvPr/>
        </p:nvSpPr>
        <p:spPr>
          <a:xfrm>
            <a:off x="996128" y="1148878"/>
            <a:ext cx="151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릿지</a:t>
            </a:r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회귀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84D2E-C6EB-4757-9845-E4DC63BFC620}"/>
              </a:ext>
            </a:extLst>
          </p:cNvPr>
          <p:cNvSpPr txBox="1"/>
          <p:nvPr/>
        </p:nvSpPr>
        <p:spPr>
          <a:xfrm>
            <a:off x="738676" y="3268708"/>
            <a:ext cx="4776186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Ridge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생성 파라미터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alpha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릿지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회귀의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alpha L2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계수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1A60AC-C74A-43CA-8334-3E88D92E9AF7}"/>
              </a:ext>
            </a:extLst>
          </p:cNvPr>
          <p:cNvSpPr/>
          <p:nvPr/>
        </p:nvSpPr>
        <p:spPr>
          <a:xfrm>
            <a:off x="580707" y="1763088"/>
            <a:ext cx="5225289" cy="1030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선형 회귀에 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L2</a:t>
            </a:r>
            <a:r>
              <a:rPr lang="ko-KR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규제를 추가한 회귀 모델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L2</a:t>
            </a:r>
            <a:r>
              <a:rPr lang="ko-KR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규제는 상대적으로 큰 회귀 계수 값의 예측 영향도를 감소시키기 위해서 회귀 </a:t>
            </a:r>
            <a:r>
              <a:rPr lang="ko-KR" altLang="ko-KR" sz="1400" dirty="0" err="1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계수값을</a:t>
            </a:r>
            <a:r>
              <a:rPr lang="ko-KR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더 작게 만드는 규제 모델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이다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ko-KR" sz="1400" dirty="0">
              <a:solidFill>
                <a:srgbClr val="59595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C4DC57-2528-465D-A82D-908FF4A178DF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987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4168A90-4E52-4976-88E9-B267FFAE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00" y="873404"/>
            <a:ext cx="9064800" cy="58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70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B97193-4FA1-4961-92DC-24C7F4A09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970" y="946800"/>
            <a:ext cx="7887992" cy="57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15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019FF-D5FE-479D-968B-50AA0E50F495}"/>
              </a:ext>
            </a:extLst>
          </p:cNvPr>
          <p:cNvSpPr txBox="1"/>
          <p:nvPr/>
        </p:nvSpPr>
        <p:spPr>
          <a:xfrm>
            <a:off x="1005880" y="1151467"/>
            <a:ext cx="151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라쏘</a:t>
            </a:r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회귀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B82623-99E8-4836-8BE6-8495BF7A2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034" y="0"/>
            <a:ext cx="635096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B46959-6C96-4B4F-BE49-35C87F853397}"/>
              </a:ext>
            </a:extLst>
          </p:cNvPr>
          <p:cNvSpPr txBox="1"/>
          <p:nvPr/>
        </p:nvSpPr>
        <p:spPr>
          <a:xfrm>
            <a:off x="639676" y="3182047"/>
            <a:ext cx="4696287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Lasso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주요 생성 파라미터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alpha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라쏘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회귀의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alpha L1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계수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620BB5-63A3-4768-BB8A-35B056ED4953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9CE5BD-6481-48DC-B714-E4D8B8166582}"/>
              </a:ext>
            </a:extLst>
          </p:cNvPr>
          <p:cNvSpPr/>
          <p:nvPr/>
        </p:nvSpPr>
        <p:spPr>
          <a:xfrm>
            <a:off x="604164" y="1805611"/>
            <a:ext cx="5236871" cy="96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선형 회귀에 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L1</a:t>
            </a:r>
            <a:r>
              <a:rPr lang="ko-KR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규제를 적용한 방식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L2</a:t>
            </a:r>
            <a:r>
              <a:rPr lang="ko-KR" altLang="en-US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규제가 회귀 계수 값의 크기를 줄인다면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L1</a:t>
            </a:r>
            <a:r>
              <a:rPr lang="ko-KR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규제는 예측 영향력이 작은 피처의 회귀 계수를 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만들어 회귀 예측 시 피처가 선택되지 않게 </a:t>
            </a:r>
            <a:r>
              <a:rPr lang="ko-KR" altLang="en-US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L1</a:t>
            </a:r>
            <a:r>
              <a:rPr lang="ko-KR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규제는 피처 선택 기능으로도 불</a:t>
            </a:r>
            <a:r>
              <a:rPr lang="ko-KR" altLang="en-US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린다</a:t>
            </a:r>
            <a:r>
              <a:rPr lang="en-US" altLang="ko-KR" sz="13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ko-KR" sz="1300" dirty="0">
              <a:solidFill>
                <a:srgbClr val="59595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358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243CE7-FCDF-4AFB-87A1-3F01A9C8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79" y="768996"/>
            <a:ext cx="7900642" cy="59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71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0CB7A-9B9C-4B45-A3FF-A567317083F8}"/>
              </a:ext>
            </a:extLst>
          </p:cNvPr>
          <p:cNvSpPr txBox="1"/>
          <p:nvPr/>
        </p:nvSpPr>
        <p:spPr>
          <a:xfrm>
            <a:off x="971018" y="1151467"/>
            <a:ext cx="3094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엘라스틱넷</a:t>
            </a:r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회귀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2CA1DA-2B56-4580-9B02-9CD164917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172" y="0"/>
            <a:ext cx="6385827" cy="68579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0E6D540-9125-4DA7-B201-30C651393CA7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991FBC-E1DE-4F97-A7B0-FAE3BC0840AB}"/>
              </a:ext>
            </a:extLst>
          </p:cNvPr>
          <p:cNvSpPr/>
          <p:nvPr/>
        </p:nvSpPr>
        <p:spPr>
          <a:xfrm>
            <a:off x="639676" y="1990791"/>
            <a:ext cx="466370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altLang="ko-KR" sz="1400" dirty="0">
                <a:solidFill>
                  <a:srgbClr val="595959"/>
                </a:solidFill>
              </a:rPr>
              <a:t>L2, L1</a:t>
            </a:r>
            <a:r>
              <a:rPr lang="ko-KR" altLang="ko-KR" sz="1400" dirty="0">
                <a:solidFill>
                  <a:srgbClr val="595959"/>
                </a:solidFill>
              </a:rPr>
              <a:t>규제를 함께 결합한 모델</a:t>
            </a:r>
            <a:r>
              <a:rPr lang="en-US" altLang="ko-KR" sz="1400" dirty="0">
                <a:solidFill>
                  <a:srgbClr val="595959"/>
                </a:solidFill>
              </a:rPr>
              <a:t>. </a:t>
            </a:r>
            <a:r>
              <a:rPr lang="ko-KR" altLang="ko-KR" sz="1400" dirty="0">
                <a:solidFill>
                  <a:srgbClr val="595959"/>
                </a:solidFill>
              </a:rPr>
              <a:t>주로 피처가 많은 데이터 세트에서 적용</a:t>
            </a:r>
            <a:r>
              <a:rPr lang="ko-KR" altLang="en-US" sz="1400" dirty="0">
                <a:solidFill>
                  <a:srgbClr val="595959"/>
                </a:solidFill>
              </a:rPr>
              <a:t>되고</a:t>
            </a:r>
            <a:r>
              <a:rPr lang="en-US" altLang="ko-KR" sz="1400" dirty="0">
                <a:solidFill>
                  <a:srgbClr val="595959"/>
                </a:solidFill>
              </a:rPr>
              <a:t>, L1</a:t>
            </a:r>
            <a:r>
              <a:rPr lang="ko-KR" altLang="ko-KR" sz="1400" dirty="0">
                <a:solidFill>
                  <a:srgbClr val="595959"/>
                </a:solidFill>
              </a:rPr>
              <a:t>규제로 피처의 개수를 줄임과 동시에 </a:t>
            </a:r>
            <a:r>
              <a:rPr lang="en-US" altLang="ko-KR" sz="1400" dirty="0">
                <a:solidFill>
                  <a:srgbClr val="595959"/>
                </a:solidFill>
              </a:rPr>
              <a:t>L2 </a:t>
            </a:r>
            <a:r>
              <a:rPr lang="ko-KR" altLang="ko-KR" sz="1400" dirty="0">
                <a:solidFill>
                  <a:srgbClr val="595959"/>
                </a:solidFill>
              </a:rPr>
              <a:t>규제로 계수 값의 크기를 조정</a:t>
            </a:r>
            <a:r>
              <a:rPr lang="ko-KR" altLang="en-US" sz="1400" dirty="0">
                <a:solidFill>
                  <a:srgbClr val="595959"/>
                </a:solidFill>
              </a:rPr>
              <a:t>한다</a:t>
            </a:r>
            <a:endParaRPr lang="ko-KR" altLang="ko-KR" sz="1400" dirty="0">
              <a:solidFill>
                <a:srgbClr val="59595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6B8D6-722F-4930-92C5-CA8EB31872D5}"/>
              </a:ext>
            </a:extLst>
          </p:cNvPr>
          <p:cNvSpPr txBox="1"/>
          <p:nvPr/>
        </p:nvSpPr>
        <p:spPr>
          <a:xfrm>
            <a:off x="639676" y="3540096"/>
            <a:ext cx="5317241" cy="227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ElasticNet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주요 생성 파라미터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alpha, l1_ration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엘라스틱넷의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a * L1 + b * L2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a: L1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규제의 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alpha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값  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 b: L2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규제의 </a:t>
            </a:r>
            <a:r>
              <a:rPr lang="en-US" altLang="ko-KR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alpha </a:t>
            </a:r>
            <a:r>
              <a:rPr lang="ko-KR" altLang="en-US" sz="1400" dirty="0">
                <a:solidFill>
                  <a:srgbClr val="59595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값</a:t>
            </a:r>
            <a:endParaRPr lang="en-US" altLang="ko-KR" sz="1400" dirty="0">
              <a:solidFill>
                <a:srgbClr val="59595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rgbClr val="59595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alpha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 값은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a+b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L1_ratio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 값은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 / (a + b)</a:t>
            </a:r>
          </a:p>
        </p:txBody>
      </p:sp>
    </p:spTree>
    <p:extLst>
      <p:ext uri="{BB962C8B-B14F-4D97-AF65-F5344CB8AC3E}">
        <p14:creationId xmlns:p14="http://schemas.microsoft.com/office/powerpoint/2010/main" val="1847717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38D6C-00EB-454F-9056-0C0006ADC702}"/>
              </a:ext>
            </a:extLst>
          </p:cNvPr>
          <p:cNvSpPr txBox="1"/>
          <p:nvPr/>
        </p:nvSpPr>
        <p:spPr>
          <a:xfrm>
            <a:off x="988774" y="1151467"/>
            <a:ext cx="503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선형 회귀 모델을 위한 데이터 변환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3BB7C1-B2C3-48FC-A005-FB843111DCDD}"/>
              </a:ext>
            </a:extLst>
          </p:cNvPr>
          <p:cNvSpPr/>
          <p:nvPr/>
        </p:nvSpPr>
        <p:spPr>
          <a:xfrm>
            <a:off x="639676" y="1283900"/>
            <a:ext cx="198000" cy="196800"/>
          </a:xfrm>
          <a:prstGeom prst="rect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50000">
                <a:srgbClr val="7AB9DF"/>
              </a:gs>
            </a:gsLst>
            <a:lin ang="12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solidFill>
                <a:srgbClr val="5B9BD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305E5-D9DF-4580-B2A3-2A27EE5287DF}"/>
              </a:ext>
            </a:extLst>
          </p:cNvPr>
          <p:cNvSpPr txBox="1"/>
          <p:nvPr/>
        </p:nvSpPr>
        <p:spPr>
          <a:xfrm>
            <a:off x="710213" y="2434779"/>
            <a:ext cx="110704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피처 데이터 세트에 적용하는 변환 작업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StandardScaler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클래스를 이용해 평균이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분산이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 표준 정규 분포를 가진 데이터 세트로 변환하거나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MinMaxScaler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클래스를 이용해 최솟값이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이고 최댓값이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 값으로 정규화를 수행한다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스케일링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정규화를 수행한 데이터 세트에 다시 다항 특성을 적용하여 변환하는 방법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 변환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 Log Transformation)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원래 값에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함수를 적용하면 보다 정규 분포에 가까운 형태로 값이 분포된다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선형회귀에서 많이 사용되는 방법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0806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BA5C36-45C6-47EB-A9DF-4ECF99A790CD}"/>
              </a:ext>
            </a:extLst>
          </p:cNvPr>
          <p:cNvSpPr/>
          <p:nvPr/>
        </p:nvSpPr>
        <p:spPr>
          <a:xfrm>
            <a:off x="-423169" y="183623"/>
            <a:ext cx="6096000" cy="5062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7AB9D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ea typeface="나눔스퀘어 ExtraBold" panose="020B0600000101010101" pitchFamily="50" charset="-127"/>
              </a:rPr>
              <a:t>  </a:t>
            </a:r>
            <a:r>
              <a:rPr lang="ko-KR" altLang="en-US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규제 선형 모델 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–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릿지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라쏘</a:t>
            </a:r>
            <a:r>
              <a:rPr lang="en-US" altLang="ko-KR" dirty="0">
                <a:solidFill>
                  <a:srgbClr val="595959"/>
                </a:solidFill>
                <a:ea typeface="나눔스퀘어 ExtraBold" panose="020B0600000101010101" pitchFamily="50" charset="-127"/>
              </a:rPr>
              <a:t>, </a:t>
            </a:r>
            <a:r>
              <a:rPr lang="ko-KR" altLang="en-US" dirty="0" err="1">
                <a:solidFill>
                  <a:srgbClr val="595959"/>
                </a:solidFill>
                <a:ea typeface="나눔스퀘어 ExtraBold" panose="020B0600000101010101" pitchFamily="50" charset="-127"/>
              </a:rPr>
              <a:t>엘라스틱넷</a:t>
            </a:r>
            <a:endParaRPr lang="en-US" altLang="ko-KR" dirty="0">
              <a:solidFill>
                <a:srgbClr val="595959"/>
              </a:solidFill>
              <a:ea typeface="나눔스퀘어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1038B8-762D-4A84-B9C1-C7E59A5E4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962"/>
          <a:stretch/>
        </p:blipFill>
        <p:spPr>
          <a:xfrm>
            <a:off x="417562" y="894185"/>
            <a:ext cx="7297133" cy="559539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3EC452E-897A-4F68-BE84-21A881F8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406" y="894184"/>
            <a:ext cx="4172203" cy="55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89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46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과제</a:t>
              </a:r>
              <a:endParaRPr lang="en-US" altLang="ko-KR" sz="46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marL="457200" indent="-457200" algn="just">
                <a:lnSpc>
                  <a:spcPct val="150000"/>
                </a:lnSpc>
                <a:buAutoNum type="arabicPeriod"/>
              </a:pP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Kaggle</a:t>
              </a:r>
              <a:r>
                <a:rPr lang="ko-KR" altLang="en-US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의 </a:t>
              </a: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data</a:t>
              </a:r>
              <a:r>
                <a:rPr lang="ko-KR" altLang="en-US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</a:t>
              </a: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set</a:t>
              </a:r>
              <a:r>
                <a:rPr lang="ko-KR" altLang="en-US" sz="200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인 을 </a:t>
              </a:r>
              <a:r>
                <a:rPr lang="ko-KR" altLang="en-US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가지고 </a:t>
              </a:r>
              <a:r>
                <a:rPr lang="en-US" altLang="ko-KR" sz="2000" dirty="0" err="1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LinearRegression</a:t>
              </a: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, Ridge, Lasso, </a:t>
              </a:r>
              <a:r>
                <a:rPr lang="en-US" altLang="ko-KR" sz="2000" dirty="0" err="1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elasticnet</a:t>
              </a: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</a:t>
              </a:r>
              <a:r>
                <a:rPr lang="ko-KR" altLang="en-US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성능 비교하기</a:t>
              </a:r>
              <a:r>
                <a:rPr lang="en-US" altLang="ko-KR" sz="2000" dirty="0">
                  <a:solidFill>
                    <a:schemeClr val="tx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AutoNum type="arabicPeriod"/>
              </a:pPr>
              <a:endParaRPr lang="en-US" altLang="ko-KR" sz="20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06683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80289" y="401832"/>
            <a:ext cx="11231418" cy="6054336"/>
            <a:chOff x="4350309" y="1893159"/>
            <a:chExt cx="3344779" cy="3344779"/>
          </a:xfrm>
        </p:grpSpPr>
        <p:sp>
          <p:nvSpPr>
            <p:cNvPr id="5" name="직사각형 4"/>
            <p:cNvSpPr/>
            <p:nvPr/>
          </p:nvSpPr>
          <p:spPr>
            <a:xfrm>
              <a:off x="4350309" y="1893159"/>
              <a:ext cx="3344779" cy="3344779"/>
            </a:xfrm>
            <a:prstGeom prst="rect">
              <a:avLst/>
            </a:prstGeom>
            <a:gradFill>
              <a:gsLst>
                <a:gs pos="50000">
                  <a:schemeClr val="tx1">
                    <a:lumMod val="75000"/>
                    <a:lumOff val="25000"/>
                  </a:schemeClr>
                </a:gs>
                <a:gs pos="50000">
                  <a:srgbClr val="7AB9DF"/>
                </a:gs>
              </a:gsLst>
              <a:lin ang="1272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rgbClr val="5B9BD5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414759" y="2001194"/>
              <a:ext cx="3215879" cy="3128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4600" dirty="0">
                  <a:solidFill>
                    <a:srgbClr val="5B9BD5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감사합니다</a:t>
              </a:r>
              <a:endParaRPr lang="en-US" altLang="ko-KR" sz="46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4600" dirty="0">
                <a:solidFill>
                  <a:srgbClr val="5B9BD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C13CD-2B7B-4270-B43B-922D98C2B44D}"/>
              </a:ext>
            </a:extLst>
          </p:cNvPr>
          <p:cNvSpPr/>
          <p:nvPr/>
        </p:nvSpPr>
        <p:spPr>
          <a:xfrm>
            <a:off x="3336919" y="3968353"/>
            <a:ext cx="5518159" cy="87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kern="0" dirty="0">
                <a:solidFill>
                  <a:srgbClr val="515560"/>
                </a:solidFill>
              </a:rPr>
              <a:t>실리콘밸리</a:t>
            </a:r>
            <a:r>
              <a:rPr lang="en-US" altLang="ko-KR" sz="2000" i="1" kern="0" dirty="0">
                <a:solidFill>
                  <a:srgbClr val="515560"/>
                </a:solidFill>
              </a:rPr>
              <a:t> </a:t>
            </a:r>
            <a:endParaRPr lang="en-US" altLang="ko-KR" i="1" kern="0" dirty="0">
              <a:solidFill>
                <a:srgbClr val="5155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ko-KR" altLang="en-US" sz="1600" kern="0" dirty="0" err="1">
                <a:solidFill>
                  <a:schemeClr val="bg1">
                    <a:lumMod val="50000"/>
                  </a:schemeClr>
                </a:solidFill>
              </a:rPr>
              <a:t>안홍석</a:t>
            </a:r>
            <a:r>
              <a:rPr lang="ko-KR" altLang="en-US" sz="1600" kern="0" dirty="0">
                <a:solidFill>
                  <a:schemeClr val="bg1">
                    <a:lumMod val="50000"/>
                  </a:schemeClr>
                </a:solidFill>
              </a:rPr>
              <a:t> 이승진 이영현 </a:t>
            </a:r>
            <a:r>
              <a:rPr lang="ko-KR" altLang="en-US" sz="1600" kern="0" dirty="0" err="1">
                <a:solidFill>
                  <a:schemeClr val="bg1">
                    <a:lumMod val="50000"/>
                  </a:schemeClr>
                </a:solidFill>
              </a:rPr>
              <a:t>이한결</a:t>
            </a:r>
            <a:r>
              <a:rPr lang="ko-KR" altLang="en-US" sz="1600" kern="0" dirty="0">
                <a:solidFill>
                  <a:schemeClr val="bg1">
                    <a:lumMod val="50000"/>
                  </a:schemeClr>
                </a:solidFill>
              </a:rPr>
              <a:t> 조수민</a:t>
            </a:r>
            <a:endParaRPr lang="ko-KR" altLang="en-US" sz="2800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9334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</TotalTime>
  <Words>2434</Words>
  <Application>Microsoft Office PowerPoint</Application>
  <PresentationFormat>와이드스크린</PresentationFormat>
  <Paragraphs>329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7" baseType="lpstr">
      <vt:lpstr>나눔고딕</vt:lpstr>
      <vt:lpstr>나눔고딕 ExtraBold</vt:lpstr>
      <vt:lpstr>나눔스퀘어</vt:lpstr>
      <vt:lpstr>나눔스퀘어 Bold</vt:lpstr>
      <vt:lpstr>나눔스퀘어 ExtraBold</vt:lpstr>
      <vt:lpstr>나눔스퀘어라운드 Regular</vt:lpstr>
      <vt:lpstr>맑은 고딕</vt:lpstr>
      <vt:lpstr>Arial</vt:lpstr>
      <vt:lpstr>Cambria Math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&lt;선형 회귀 모델&gt;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SO HYUN PARK</cp:lastModifiedBy>
  <cp:revision>76</cp:revision>
  <dcterms:created xsi:type="dcterms:W3CDTF">2019-09-27T04:14:09Z</dcterms:created>
  <dcterms:modified xsi:type="dcterms:W3CDTF">2019-10-06T14:55:27Z</dcterms:modified>
  <cp:contentStatus/>
</cp:coreProperties>
</file>