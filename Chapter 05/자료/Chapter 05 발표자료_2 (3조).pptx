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57" r:id="rId5"/>
    <p:sldId id="261" r:id="rId6"/>
    <p:sldId id="262" r:id="rId7"/>
    <p:sldId id="264" r:id="rId8"/>
    <p:sldId id="263" r:id="rId9"/>
    <p:sldId id="265" r:id="rId10"/>
    <p:sldId id="267" r:id="rId11"/>
    <p:sldId id="268" r:id="rId12"/>
    <p:sldId id="269" r:id="rId13"/>
    <p:sldId id="266" r:id="rId14"/>
    <p:sldId id="270" r:id="rId15"/>
    <p:sldId id="271" r:id="rId16"/>
    <p:sldId id="272" r:id="rId17"/>
    <p:sldId id="275" r:id="rId18"/>
    <p:sldId id="278" r:id="rId19"/>
    <p:sldId id="274" r:id="rId20"/>
    <p:sldId id="276" r:id="rId21"/>
    <p:sldId id="277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BFD1BEC-05F7-4057-9CE8-91EA5B2D6735}">
          <p14:sldIdLst>
            <p14:sldId id="256"/>
            <p14:sldId id="258"/>
            <p14:sldId id="259"/>
            <p14:sldId id="257"/>
            <p14:sldId id="261"/>
            <p14:sldId id="262"/>
            <p14:sldId id="264"/>
          </p14:sldIdLst>
        </p14:section>
        <p14:section name="제목 없는 구역" id="{3B4095C5-3783-4269-A317-A510226E12AD}">
          <p14:sldIdLst>
            <p14:sldId id="263"/>
            <p14:sldId id="265"/>
            <p14:sldId id="267"/>
            <p14:sldId id="268"/>
            <p14:sldId id="269"/>
            <p14:sldId id="266"/>
            <p14:sldId id="270"/>
            <p14:sldId id="271"/>
            <p14:sldId id="272"/>
            <p14:sldId id="275"/>
            <p14:sldId id="278"/>
            <p14:sldId id="274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8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65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772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549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081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71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420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41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44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51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5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07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8645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AFBD55B-E573-4696-A381-0C448CF4B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ko-KR" altLang="en-US" sz="4800" dirty="0" err="1">
                <a:solidFill>
                  <a:schemeClr val="tx1"/>
                </a:solidFill>
              </a:rPr>
              <a:t>로지스틱회귀</a:t>
            </a:r>
            <a:br>
              <a:rPr lang="en-US" altLang="ko-KR" sz="4800" dirty="0">
                <a:solidFill>
                  <a:schemeClr val="tx1"/>
                </a:solidFill>
              </a:rPr>
            </a:br>
            <a:r>
              <a:rPr lang="ko-KR" altLang="en-US" sz="4800" dirty="0">
                <a:solidFill>
                  <a:schemeClr val="tx1"/>
                </a:solidFill>
              </a:rPr>
              <a:t>회귀나무</a:t>
            </a:r>
            <a:br>
              <a:rPr lang="en-US" altLang="ko-KR" sz="4800" dirty="0">
                <a:solidFill>
                  <a:schemeClr val="tx1"/>
                </a:solidFill>
              </a:rPr>
            </a:br>
            <a:r>
              <a:rPr lang="ko-KR" altLang="en-US" sz="4800" dirty="0">
                <a:solidFill>
                  <a:schemeClr val="tx1"/>
                </a:solidFill>
              </a:rPr>
              <a:t>데이터 처리 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B3103F-B4A4-445F-9615-79A462D85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465" y="4643690"/>
            <a:ext cx="4008830" cy="1775101"/>
          </a:xfrm>
        </p:spPr>
        <p:txBody>
          <a:bodyPr anchor="t">
            <a:normAutofit fontScale="40000" lnSpcReduction="20000"/>
          </a:bodyPr>
          <a:lstStyle/>
          <a:p>
            <a:r>
              <a:rPr lang="en-US" altLang="ko-KR" sz="16600" dirty="0"/>
              <a:t>3355</a:t>
            </a:r>
          </a:p>
          <a:p>
            <a:r>
              <a:rPr lang="ko-KR" altLang="en-US" sz="6000" dirty="0"/>
              <a:t>권현우</a:t>
            </a:r>
            <a:r>
              <a:rPr lang="en-US" altLang="ko-KR" sz="6000" dirty="0"/>
              <a:t>, </a:t>
            </a:r>
            <a:r>
              <a:rPr lang="ko-KR" altLang="en-US" sz="6000" dirty="0"/>
              <a:t>박범진</a:t>
            </a:r>
            <a:r>
              <a:rPr lang="en-US" altLang="ko-KR" sz="6000" dirty="0"/>
              <a:t>, </a:t>
            </a:r>
            <a:r>
              <a:rPr lang="ko-KR" altLang="en-US" sz="6000" dirty="0"/>
              <a:t>박세연</a:t>
            </a:r>
            <a:r>
              <a:rPr lang="en-US" altLang="ko-KR" sz="6000" dirty="0"/>
              <a:t>, </a:t>
            </a:r>
            <a:r>
              <a:rPr lang="ko-KR" altLang="en-US" sz="6000" dirty="0" err="1"/>
              <a:t>장예솔</a:t>
            </a:r>
            <a:endParaRPr lang="ko-KR" altLang="en-US" sz="6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90BA85-E621-4444-8F92-7810B87C6F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633" b="-1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D5F63E-519B-4FD9-BF07-4E4D3AACE736}"/>
              </a:ext>
            </a:extLst>
          </p:cNvPr>
          <p:cNvGrpSpPr/>
          <p:nvPr/>
        </p:nvGrpSpPr>
        <p:grpSpPr>
          <a:xfrm>
            <a:off x="7525224" y="4643690"/>
            <a:ext cx="1280608" cy="1622408"/>
            <a:chOff x="606175" y="1911879"/>
            <a:chExt cx="1425486" cy="1758448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009716-78C4-4D7A-8C6E-EA8978AB7E23}"/>
                </a:ext>
              </a:extLst>
            </p:cNvPr>
            <p:cNvSpPr/>
            <p:nvPr/>
          </p:nvSpPr>
          <p:spPr>
            <a:xfrm>
              <a:off x="1108508" y="3434109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E937439-5DF8-4430-A0DE-9DBEC57C90E2}"/>
                </a:ext>
              </a:extLst>
            </p:cNvPr>
            <p:cNvSpPr/>
            <p:nvPr/>
          </p:nvSpPr>
          <p:spPr>
            <a:xfrm>
              <a:off x="1475753" y="3432235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8EF0AD7-D9FB-434F-BA05-CEFC62F1B26B}"/>
                </a:ext>
              </a:extLst>
            </p:cNvPr>
            <p:cNvSpPr/>
            <p:nvPr/>
          </p:nvSpPr>
          <p:spPr>
            <a:xfrm rot="942030">
              <a:off x="769297" y="2699290"/>
              <a:ext cx="63576" cy="49277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E59E82F-7DF2-469E-844F-0596EB04F5AC}"/>
                </a:ext>
              </a:extLst>
            </p:cNvPr>
            <p:cNvSpPr/>
            <p:nvPr/>
          </p:nvSpPr>
          <p:spPr>
            <a:xfrm rot="20802753">
              <a:off x="1811035" y="2704273"/>
              <a:ext cx="65325" cy="50944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E96F2E0-39BC-4EA6-B30F-2862DB59D008}"/>
                </a:ext>
              </a:extLst>
            </p:cNvPr>
            <p:cNvSpPr/>
            <p:nvPr/>
          </p:nvSpPr>
          <p:spPr>
            <a:xfrm>
              <a:off x="838200" y="2559068"/>
              <a:ext cx="981075" cy="869932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7D47B4D2-33DD-4711-AA2A-CAAAFDDB5F65}"/>
                </a:ext>
              </a:extLst>
            </p:cNvPr>
            <p:cNvSpPr/>
            <p:nvPr/>
          </p:nvSpPr>
          <p:spPr>
            <a:xfrm>
              <a:off x="911591" y="1953676"/>
              <a:ext cx="816789" cy="600283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A51C08A1-4408-4984-952D-617A3B30EC13}"/>
                </a:ext>
              </a:extLst>
            </p:cNvPr>
            <p:cNvSpPr/>
            <p:nvPr/>
          </p:nvSpPr>
          <p:spPr>
            <a:xfrm>
              <a:off x="1159308" y="2406813"/>
              <a:ext cx="300505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2FB1424-A1B6-471D-AD3C-24D281C86108}"/>
                </a:ext>
              </a:extLst>
            </p:cNvPr>
            <p:cNvSpPr/>
            <p:nvPr/>
          </p:nvSpPr>
          <p:spPr>
            <a:xfrm>
              <a:off x="1053355" y="2221878"/>
              <a:ext cx="134207" cy="10904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06EF83EC-4C56-4C53-A339-23E41EBC4142}"/>
                </a:ext>
              </a:extLst>
            </p:cNvPr>
            <p:cNvSpPr/>
            <p:nvPr/>
          </p:nvSpPr>
          <p:spPr>
            <a:xfrm>
              <a:off x="1408455" y="2221878"/>
              <a:ext cx="134207" cy="10904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B1D0FDC-4450-482E-AE46-ED79C1174696}"/>
                </a:ext>
              </a:extLst>
            </p:cNvPr>
            <p:cNvSpPr/>
            <p:nvPr/>
          </p:nvSpPr>
          <p:spPr>
            <a:xfrm>
              <a:off x="926588" y="2757537"/>
              <a:ext cx="796925" cy="4339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머신</a:t>
              </a:r>
            </a:p>
          </p:txBody>
        </p:sp>
        <p:sp>
          <p:nvSpPr>
            <p:cNvPr id="27" name="막힌 원호 26">
              <a:extLst>
                <a:ext uri="{FF2B5EF4-FFF2-40B4-BE49-F238E27FC236}">
                  <a16:creationId xmlns:a16="http://schemas.microsoft.com/office/drawing/2014/main" id="{FD696B69-03DE-4161-9FAE-2424AF9B73B7}"/>
                </a:ext>
              </a:extLst>
            </p:cNvPr>
            <p:cNvSpPr/>
            <p:nvPr/>
          </p:nvSpPr>
          <p:spPr>
            <a:xfrm rot="918457">
              <a:off x="606175" y="3174911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831118F-1183-4223-86E3-89A539FC297E}"/>
                </a:ext>
              </a:extLst>
            </p:cNvPr>
            <p:cNvSpPr/>
            <p:nvPr/>
          </p:nvSpPr>
          <p:spPr>
            <a:xfrm>
              <a:off x="926588" y="1911879"/>
              <a:ext cx="780466" cy="14314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막힌 원호 28">
              <a:extLst>
                <a:ext uri="{FF2B5EF4-FFF2-40B4-BE49-F238E27FC236}">
                  <a16:creationId xmlns:a16="http://schemas.microsoft.com/office/drawing/2014/main" id="{24945E18-9219-4D7E-ADE5-53B8EE7A8973}"/>
                </a:ext>
              </a:extLst>
            </p:cNvPr>
            <p:cNvSpPr/>
            <p:nvPr/>
          </p:nvSpPr>
          <p:spPr>
            <a:xfrm rot="20493245">
              <a:off x="1836399" y="3178286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 flipH="1">
            <a:off x="566828" y="632862"/>
            <a:ext cx="24811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CUAI 3</a:t>
            </a:r>
            <a:r>
              <a:rPr lang="ko-KR" altLang="en-US" sz="2400" dirty="0">
                <a:latin typeface="+mj-ea"/>
                <a:ea typeface="+mj-ea"/>
              </a:rPr>
              <a:t>차 세션</a:t>
            </a:r>
          </a:p>
        </p:txBody>
      </p:sp>
    </p:spTree>
    <p:extLst>
      <p:ext uri="{BB962C8B-B14F-4D97-AF65-F5344CB8AC3E}">
        <p14:creationId xmlns:p14="http://schemas.microsoft.com/office/powerpoint/2010/main" val="3705687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18310A3-1517-431E-A8FC-5E6F018BC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9A8BE2F-CA76-4B64-B98B-F6EF56485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5"/>
            <a:ext cx="3475915" cy="2148049"/>
          </a:xfrm>
        </p:spPr>
        <p:txBody>
          <a:bodyPr>
            <a:normAutofit/>
          </a:bodyPr>
          <a:lstStyle/>
          <a:p>
            <a:r>
              <a:rPr lang="ko-KR" altLang="en-US" sz="4400" dirty="0">
                <a:solidFill>
                  <a:schemeClr val="tx2"/>
                </a:solidFill>
              </a:rPr>
              <a:t>선형회귀</a:t>
            </a:r>
            <a:br>
              <a:rPr lang="en-US" altLang="ko-KR" sz="4400" dirty="0">
                <a:solidFill>
                  <a:schemeClr val="tx2"/>
                </a:solidFill>
              </a:rPr>
            </a:br>
            <a:endParaRPr lang="ko-KR" altLang="en-US" sz="4400" dirty="0">
              <a:solidFill>
                <a:schemeClr val="tx2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F23E396-BE04-4D91-89A5-24877C3E9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250CC05-D6B0-42F7-9792-8677B5394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0704962-EC61-43A0-B8F5-F0E73686A3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DBC3A1-652F-4058-94C8-0F512D442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26" y="628650"/>
            <a:ext cx="7503518" cy="3528456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0A604F-5B7A-4780-92C5-73428A986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22" y="4280062"/>
            <a:ext cx="2881769" cy="2120738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5A205CC8-8A08-4581-B9ED-683CF3A04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26" y="4233559"/>
            <a:ext cx="3703324" cy="2140389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205049-276D-4CC2-8255-8B7C24E6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015" y="632207"/>
            <a:ext cx="4216269" cy="3273951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D090A5C-3625-4701-8C21-52969B3A7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233559"/>
            <a:ext cx="3703197" cy="2140389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0F09A39-2E26-49D5-BAA6-4DE636901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013" y="4280062"/>
            <a:ext cx="2615465" cy="198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5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64EDA9-0FAC-465A-8D89-FF8EBE2C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en-US" altLang="ko-KR">
                <a:solidFill>
                  <a:srgbClr val="FFFFFF"/>
                </a:solidFill>
              </a:rPr>
              <a:t>S</a:t>
            </a:r>
            <a:r>
              <a:rPr lang="ko-KR" altLang="en-US">
                <a:solidFill>
                  <a:srgbClr val="FFFFFF"/>
                </a:solidFill>
              </a:rPr>
              <a:t>자 함수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62CEC8-6FFA-438F-AFAF-198620773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722" y="3578953"/>
            <a:ext cx="3562847" cy="25530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C57B74-890A-418C-84CA-7EDD3C420669}"/>
                  </a:ext>
                </a:extLst>
              </p:cNvPr>
              <p:cNvSpPr txBox="1"/>
              <p:nvPr/>
            </p:nvSpPr>
            <p:spPr>
              <a:xfrm>
                <a:off x="4691750" y="748266"/>
                <a:ext cx="6958353" cy="2508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000" dirty="0">
                    <a:solidFill>
                      <a:schemeClr val="bg1"/>
                    </a:solidFill>
                  </a:rPr>
                  <a:t>Sigmoid Function : </a:t>
                </a:r>
                <a14:m>
                  <m:oMath xmlns:m="http://schemas.openxmlformats.org/officeDocument/2006/math">
                    <m:r>
                      <a:rPr lang="en-US" altLang="ko-KR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den>
                    </m:f>
                  </m:oMath>
                </a14:m>
                <a:endParaRPr lang="en-US" altLang="ko-KR" sz="4000" b="0" dirty="0">
                  <a:solidFill>
                    <a:schemeClr val="bg1"/>
                  </a:solidFill>
                </a:endParaRPr>
              </a:p>
              <a:p>
                <a:endParaRPr lang="en-US" altLang="ko-KR" sz="4000" dirty="0">
                  <a:solidFill>
                    <a:schemeClr val="bg1"/>
                  </a:solidFill>
                </a:endParaRPr>
              </a:p>
              <a:p>
                <a:r>
                  <a:rPr lang="en-US" altLang="ko-KR" sz="4000" dirty="0">
                    <a:solidFill>
                      <a:schemeClr val="bg1"/>
                    </a:solidFill>
                  </a:rPr>
                  <a:t>Hypothesis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ko-KR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altLang="ko-KR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p>
                      </m:den>
                    </m:f>
                    <m:r>
                      <a:rPr lang="en-US" altLang="ko-KR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C57B74-890A-418C-84CA-7EDD3C420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750" y="748266"/>
                <a:ext cx="6958353" cy="2508507"/>
              </a:xfrm>
              <a:prstGeom prst="rect">
                <a:avLst/>
              </a:prstGeom>
              <a:blipFill>
                <a:blip r:embed="rId3"/>
                <a:stretch>
                  <a:fillRect l="-3155" b="-19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4B1E8B1E-6AE6-40E5-BDF3-4B6F4CDF3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286" y="3755819"/>
            <a:ext cx="5509282" cy="260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24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910015B9-6046-41B8-83BD-71778D2F9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3908232-52E2-4794-A6C1-54300FB98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2B9299F-BED7-44C5-9CC5-E542F9193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9DDF273-E040-4765-AD05-872458E13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내용 개체 틀 3">
            <a:extLst>
              <a:ext uri="{FF2B5EF4-FFF2-40B4-BE49-F238E27FC236}">
                <a16:creationId xmlns:a16="http://schemas.microsoft.com/office/drawing/2014/main" id="{8D7FBD06-B90E-4026-B100-32CF966F15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140" b="18270"/>
          <a:stretch/>
        </p:blipFill>
        <p:spPr>
          <a:xfrm>
            <a:off x="524924" y="302745"/>
            <a:ext cx="10895348" cy="3923023"/>
          </a:xfrm>
          <a:prstGeom prst="rect">
            <a:avLst/>
          </a:prstGeom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D695E25C-06E7-4082-BE92-B571B616B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297735"/>
            <a:ext cx="11265408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E64BD7DF-F4BB-427F-B4F6-6DC83A59A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rgbClr val="465359">
              <a:alpha val="97000"/>
            </a:srgb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64EDA9-0FAC-465A-8D89-FF8EBE2C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494" y="4886325"/>
            <a:ext cx="10965141" cy="8952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z="4000" dirty="0">
                <a:solidFill>
                  <a:srgbClr val="FFFFFF"/>
                </a:solidFill>
              </a:rPr>
              <a:t>업데이트를 해보자</a:t>
            </a:r>
            <a:endParaRPr lang="en-US" altLang="ko-KR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090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DC3EF6-2EA5-44B3-94C7-9DDA67A1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925A9A-E9FA-496E-9C09-7C2845E0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73ABB4-E164-4CBF-ADFF-25552BB7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59A422-0023-4292-8200-E080556F3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A68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413CA5-4739-4BC9-8BB3-B0A4928D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내용 개체 틀 4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7413D41A-AD7E-4D3F-A635-8963420643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4316" y="643467"/>
            <a:ext cx="810336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122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7F8016E-837B-4C70-B44C-E1627C028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C6062-B8DD-49CC-9F05-D6DF7ABB6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846FCA-97FF-4271-8B97-C14BD3AA9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DD2BC0-D31F-4903-8F54-0F60B9E3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140C5F6-42D5-4D5D-9636-0329EEFBA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DEBD2AB7-7098-4B89-880A-EDD1D30961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395" y="212106"/>
            <a:ext cx="4433466" cy="37019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4D7722C-2159-4504-9423-E7F7EAC22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910" y="17034"/>
            <a:ext cx="6063617" cy="413841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F2D34CE-63E8-4D87-9386-F45973A0C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817" y="4411629"/>
            <a:ext cx="3889318" cy="212940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457E30F7-3253-4621-AB18-6A383D3A3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498" y="4267831"/>
            <a:ext cx="7552502" cy="2590169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E02D822-32DD-4344-B493-4F7A98C04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9842" y="4571122"/>
            <a:ext cx="6591957" cy="10379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z="3600" dirty="0">
                <a:solidFill>
                  <a:srgbClr val="FFFFFF"/>
                </a:solidFill>
              </a:rPr>
              <a:t>특별한 비용함수</a:t>
            </a:r>
            <a:endParaRPr lang="en-US" altLang="ko-KR" sz="3600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05829B-9491-4F93-8853-9BCABA78F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20158"/>
            <a:ext cx="1218895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F966F2-031A-4EA8-B214-62BED34FF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1359" y="-460"/>
            <a:ext cx="91440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C1261360-A2AD-4AF1-843C-AF91D1919B51}"/>
              </a:ext>
            </a:extLst>
          </p:cNvPr>
          <p:cNvSpPr/>
          <p:nvPr/>
        </p:nvSpPr>
        <p:spPr>
          <a:xfrm>
            <a:off x="3906310" y="316969"/>
            <a:ext cx="2189690" cy="3274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1E9127E1-1F48-42F2-813D-7AF8B64F9525}"/>
              </a:ext>
            </a:extLst>
          </p:cNvPr>
          <p:cNvSpPr/>
          <p:nvPr/>
        </p:nvSpPr>
        <p:spPr>
          <a:xfrm rot="8547276">
            <a:off x="3958306" y="4346395"/>
            <a:ext cx="2189690" cy="32741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2ED84-90B1-4136-A3CC-D610DA633961}"/>
              </a:ext>
            </a:extLst>
          </p:cNvPr>
          <p:cNvSpPr txBox="1"/>
          <p:nvPr/>
        </p:nvSpPr>
        <p:spPr>
          <a:xfrm>
            <a:off x="8669844" y="650102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record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하나의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cost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3DD32D-489B-4358-9AA2-10796496A935}"/>
              </a:ext>
            </a:extLst>
          </p:cNvPr>
          <p:cNvSpPr txBox="1"/>
          <p:nvPr/>
        </p:nvSpPr>
        <p:spPr>
          <a:xfrm>
            <a:off x="9792573" y="2333901"/>
            <a:ext cx="2447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record 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전체의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cost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8646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DC3EF6-2EA5-44B3-94C7-9DDA67A1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25A9A-E9FA-496E-9C09-7C2845E0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73ABB4-E164-4CBF-ADFF-25552BB7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59A422-0023-4292-8200-E080556F3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413CA5-4739-4BC9-8BB3-B0A4928D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3E4DE175-F231-437F-9047-F76162C38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2917" y="643467"/>
            <a:ext cx="83461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10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AD07B24-CF51-4A6E-90BB-0A5142E2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33" y="1577340"/>
            <a:ext cx="4955798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ko-KR" altLang="en-US" sz="7200">
                <a:solidFill>
                  <a:srgbClr val="FFFFFF">
                    <a:alpha val="90000"/>
                  </a:srgbClr>
                </a:solidFill>
              </a:rPr>
              <a:t>회귀 나무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83280"/>
            <a:ext cx="3703320" cy="91440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75244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DC3EF6-2EA5-44B3-94C7-9DDA67A12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925A9A-E9FA-496E-9C09-7C2845E0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73ABB4-E164-4CBF-ADFF-25552BB7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59A422-0023-4292-8200-E080556F3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3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413CA5-4739-4BC9-8BB3-B0A4928D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A2E70A18-DB6A-447A-8EFD-F514BD85E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020" y="643466"/>
            <a:ext cx="9597443" cy="5734473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25CE1CC-D42D-4E6B-A011-AE8E95DC5DCE}"/>
              </a:ext>
            </a:extLst>
          </p:cNvPr>
          <p:cNvSpPr/>
          <p:nvPr/>
        </p:nvSpPr>
        <p:spPr>
          <a:xfrm>
            <a:off x="4847250" y="639909"/>
            <a:ext cx="261791" cy="6369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B01F5-DBA0-456B-8D6A-029CB986B2AE}"/>
              </a:ext>
            </a:extLst>
          </p:cNvPr>
          <p:cNvSpPr txBox="1"/>
          <p:nvPr/>
        </p:nvSpPr>
        <p:spPr>
          <a:xfrm>
            <a:off x="4228201" y="821174"/>
            <a:ext cx="823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타겟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2A0A1F0-54D3-4569-82C9-5F76C895B69F}"/>
              </a:ext>
            </a:extLst>
          </p:cNvPr>
          <p:cNvSpPr/>
          <p:nvPr/>
        </p:nvSpPr>
        <p:spPr>
          <a:xfrm>
            <a:off x="8826125" y="5058031"/>
            <a:ext cx="985139" cy="510748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F196209-CFBE-4C84-9241-9397CAAF9EBD}"/>
              </a:ext>
            </a:extLst>
          </p:cNvPr>
          <p:cNvSpPr/>
          <p:nvPr/>
        </p:nvSpPr>
        <p:spPr>
          <a:xfrm>
            <a:off x="7945150" y="5577578"/>
            <a:ext cx="391542" cy="63695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FF9BE0F-0A6A-4E80-972C-D6B307DC6A00}"/>
              </a:ext>
            </a:extLst>
          </p:cNvPr>
          <p:cNvSpPr/>
          <p:nvPr/>
        </p:nvSpPr>
        <p:spPr>
          <a:xfrm>
            <a:off x="9906573" y="5577578"/>
            <a:ext cx="391542" cy="636956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44594A3-2C26-407C-A34C-36E306A2AD7D}"/>
              </a:ext>
            </a:extLst>
          </p:cNvPr>
          <p:cNvSpPr/>
          <p:nvPr/>
        </p:nvSpPr>
        <p:spPr>
          <a:xfrm>
            <a:off x="5897719" y="1276865"/>
            <a:ext cx="391542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BD73C25-A89C-4820-9E22-424F4E027145}"/>
              </a:ext>
            </a:extLst>
          </p:cNvPr>
          <p:cNvSpPr/>
          <p:nvPr/>
        </p:nvSpPr>
        <p:spPr>
          <a:xfrm>
            <a:off x="6985113" y="2603157"/>
            <a:ext cx="391542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8E641AF-2637-4920-8C98-BC5B9E63F381}"/>
              </a:ext>
            </a:extLst>
          </p:cNvPr>
          <p:cNvSpPr/>
          <p:nvPr/>
        </p:nvSpPr>
        <p:spPr>
          <a:xfrm>
            <a:off x="9318694" y="3698790"/>
            <a:ext cx="391542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31A5EB3-B4DE-4544-897D-798EEF87D21A}"/>
              </a:ext>
            </a:extLst>
          </p:cNvPr>
          <p:cNvSpPr/>
          <p:nvPr/>
        </p:nvSpPr>
        <p:spPr>
          <a:xfrm>
            <a:off x="4741185" y="4110680"/>
            <a:ext cx="985138" cy="10709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5D39B0-DC31-4721-ADD2-9BB45F63BC29}"/>
              </a:ext>
            </a:extLst>
          </p:cNvPr>
          <p:cNvSpPr txBox="1"/>
          <p:nvPr/>
        </p:nvSpPr>
        <p:spPr>
          <a:xfrm>
            <a:off x="4818937" y="5225771"/>
            <a:ext cx="1639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45</a:t>
            </a:r>
            <a:r>
              <a:rPr lang="ko-KR" altLang="en-US" dirty="0"/>
              <a:t>개 샘플의 </a:t>
            </a:r>
            <a:endParaRPr lang="en-US" altLang="ko-KR" dirty="0"/>
          </a:p>
          <a:p>
            <a:r>
              <a:rPr lang="ko-KR" altLang="en-US" dirty="0"/>
              <a:t>평균</a:t>
            </a:r>
          </a:p>
        </p:txBody>
      </p:sp>
    </p:spTree>
    <p:extLst>
      <p:ext uri="{BB962C8B-B14F-4D97-AF65-F5344CB8AC3E}">
        <p14:creationId xmlns:p14="http://schemas.microsoft.com/office/powerpoint/2010/main" val="562742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00401440-1DC9-4C9E-A3BA-4DECEEB46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1BE01AD-FD2D-4DF5-9C25-2FB337CB7EBD}"/>
              </a:ext>
            </a:extLst>
          </p:cNvPr>
          <p:cNvPicPr/>
          <p:nvPr/>
        </p:nvPicPr>
        <p:blipFill rotWithShape="1">
          <a:blip r:embed="rId2"/>
          <a:srcRect l="8677" t="47956" r="11073"/>
          <a:stretch/>
        </p:blipFill>
        <p:spPr>
          <a:xfrm>
            <a:off x="441139" y="659875"/>
            <a:ext cx="5331481" cy="3198271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E3F140-02CB-4BBC-ABC0-8BF046C9D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436050"/>
            <a:ext cx="0" cy="1645920"/>
          </a:xfrm>
          <a:prstGeom prst="line">
            <a:avLst/>
          </a:prstGeom>
          <a:ln w="19050">
            <a:solidFill>
              <a:srgbClr val="4653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BECF587A-2796-42F3-A39C-6BF5AD4937F7}"/>
              </a:ext>
            </a:extLst>
          </p:cNvPr>
          <p:cNvPicPr/>
          <p:nvPr/>
        </p:nvPicPr>
        <p:blipFill rotWithShape="1">
          <a:blip r:embed="rId2"/>
          <a:srcRect l="5824" r="13360" b="73357"/>
          <a:stretch/>
        </p:blipFill>
        <p:spPr>
          <a:xfrm>
            <a:off x="6417735" y="1446095"/>
            <a:ext cx="5331478" cy="162583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6B822CC-7DA9-4417-AA94-64CEB676F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FA01E88-71CC-4FF3-9E81-51E0C32B4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59623"/>
            <a:ext cx="11303626" cy="20511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5F9F961-0FF8-4918-AE7E-B87555E0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600" y="4596992"/>
            <a:ext cx="3353432" cy="1607013"/>
          </a:xfrm>
        </p:spPr>
        <p:txBody>
          <a:bodyPr anchor="ctr">
            <a:normAutofit/>
          </a:bodyPr>
          <a:lstStyle/>
          <a:p>
            <a:r>
              <a:rPr lang="ko-KR" altLang="en-US" dirty="0">
                <a:solidFill>
                  <a:srgbClr val="FFFFFF"/>
                </a:solidFill>
              </a:rPr>
              <a:t>지니 불순도 복습</a:t>
            </a:r>
          </a:p>
        </p:txBody>
      </p:sp>
    </p:spTree>
    <p:extLst>
      <p:ext uri="{BB962C8B-B14F-4D97-AF65-F5344CB8AC3E}">
        <p14:creationId xmlns:p14="http://schemas.microsoft.com/office/powerpoint/2010/main" val="529243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4ABC7-5199-46B5-A763-B23AF4EC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813" y="302268"/>
            <a:ext cx="11029616" cy="1188720"/>
          </a:xfrm>
        </p:spPr>
        <p:txBody>
          <a:bodyPr/>
          <a:lstStyle/>
          <a:p>
            <a:r>
              <a:rPr kumimoji="1" lang="ko-KR" altLang="en-US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나무의 규칙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908E25C-D802-4A94-A7EF-0C9BEB8870D5}"/>
              </a:ext>
            </a:extLst>
          </p:cNvPr>
          <p:cNvSpPr/>
          <p:nvPr/>
        </p:nvSpPr>
        <p:spPr>
          <a:xfrm>
            <a:off x="1266385" y="1842867"/>
            <a:ext cx="3782305" cy="204703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분리 기준</a:t>
            </a:r>
            <a:endParaRPr kumimoji="1" lang="en-US" altLang="ko-KR" b="1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  <a:p>
            <a:pPr algn="ctr"/>
            <a:endParaRPr kumimoji="1" lang="en-US" altLang="ko-KR" dirty="0">
              <a:solidFill>
                <a:srgbClr val="7AB9DF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  <a:p>
            <a:pPr algn="ctr"/>
            <a:r>
              <a:rPr kumimoji="1" lang="ko-KR" altLang="en-US" dirty="0"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불순도</a:t>
            </a:r>
            <a:endParaRPr kumimoji="1" lang="en-US" altLang="ko-KR" dirty="0">
              <a:solidFill>
                <a:srgbClr val="7AB9DF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67A1EE7-96CE-4866-BD3C-2CF557252C91}"/>
              </a:ext>
            </a:extLst>
          </p:cNvPr>
          <p:cNvSpPr/>
          <p:nvPr/>
        </p:nvSpPr>
        <p:spPr>
          <a:xfrm>
            <a:off x="6257045" y="1842866"/>
            <a:ext cx="3782305" cy="20470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어떤 불순도</a:t>
            </a:r>
            <a:r>
              <a:rPr kumimoji="1" lang="en-US" altLang="ko-KR" b="1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?</a:t>
            </a:r>
          </a:p>
          <a:p>
            <a:pPr algn="ctr"/>
            <a:r>
              <a:rPr kumimoji="1" lang="en-US" altLang="ko-KR" dirty="0">
                <a:solidFill>
                  <a:srgbClr val="7AB9DF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 </a:t>
            </a:r>
          </a:p>
          <a:p>
            <a:pPr algn="ctr"/>
            <a:r>
              <a:rPr kumimoji="1" lang="ko-KR" altLang="en-US" dirty="0"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지니 불순도</a:t>
            </a:r>
            <a:endParaRPr kumimoji="1" lang="en-US" altLang="ko-KR" dirty="0">
              <a:solidFill>
                <a:srgbClr val="7AB9DF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68DF859-1FF5-4D55-9DAF-DB8E53D2292D}"/>
              </a:ext>
            </a:extLst>
          </p:cNvPr>
          <p:cNvSpPr/>
          <p:nvPr/>
        </p:nvSpPr>
        <p:spPr>
          <a:xfrm>
            <a:off x="1266385" y="4508694"/>
            <a:ext cx="3782305" cy="20470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트리 성장 멈추기</a:t>
            </a:r>
            <a:endParaRPr kumimoji="1" lang="en-US" altLang="ko-KR" b="1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  <a:p>
            <a:pPr algn="ctr"/>
            <a:endParaRPr kumimoji="1" lang="en-US" altLang="ko-KR" dirty="0">
              <a:solidFill>
                <a:srgbClr val="3D3830"/>
              </a:solidFill>
              <a:latin typeface="나눔고딕 ExtraBold" pitchFamily="50" charset="-127"/>
              <a:ea typeface="조선일보명조" pitchFamily="18" charset="-127"/>
              <a:cs typeface="조선일보명조" pitchFamily="18" charset="-127"/>
            </a:endParaRPr>
          </a:p>
          <a:p>
            <a:pPr algn="ctr"/>
            <a:r>
              <a:rPr kumimoji="1" lang="ko-KR" altLang="en-US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불순도가 떨어지지</a:t>
            </a:r>
            <a:r>
              <a:rPr kumimoji="1" lang="en-US" altLang="ko-KR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 </a:t>
            </a:r>
            <a:r>
              <a:rPr kumimoji="1" lang="ko-KR" altLang="en-US" dirty="0">
                <a:solidFill>
                  <a:schemeClr val="tx1"/>
                </a:solidFill>
                <a:latin typeface="나눔고딕 ExtraBold" pitchFamily="50" charset="-127"/>
                <a:ea typeface="나눔고딕 ExtraBold" pitchFamily="50" charset="-127"/>
                <a:cs typeface="조선일보명조" pitchFamily="18" charset="-127"/>
              </a:rPr>
              <a:t>않을 때</a:t>
            </a:r>
            <a:endParaRPr kumimoji="1" lang="en-US" altLang="ko-KR" dirty="0">
              <a:solidFill>
                <a:schemeClr val="tx1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7AA7CBF-6EE8-4846-80EC-AB8E605F3D79}"/>
              </a:ext>
            </a:extLst>
          </p:cNvPr>
          <p:cNvSpPr/>
          <p:nvPr/>
        </p:nvSpPr>
        <p:spPr>
          <a:xfrm>
            <a:off x="6152270" y="4508695"/>
            <a:ext cx="3782305" cy="20470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b="1" dirty="0">
                <a:solidFill>
                  <a:srgbClr val="3D3830"/>
                </a:solidFill>
                <a:latin typeface="나눔고딕 ExtraBold" pitchFamily="50" charset="-127"/>
                <a:ea typeface="조선일보명조" pitchFamily="18" charset="-127"/>
                <a:cs typeface="조선일보명조" pitchFamily="18" charset="-127"/>
              </a:rPr>
              <a:t>불필요한 가지제거</a:t>
            </a:r>
            <a:r>
              <a:rPr kumimoji="1" lang="en-US" altLang="ko-KR" b="1" dirty="0">
                <a:solidFill>
                  <a:srgbClr val="3D3830"/>
                </a:solidFill>
                <a:latin typeface="나눔고딕 ExtraBold" pitchFamily="50" charset="-127"/>
                <a:ea typeface="조선일보명조" pitchFamily="18" charset="-127"/>
                <a:cs typeface="조선일보명조" pitchFamily="18" charset="-127"/>
              </a:rPr>
              <a:t>. </a:t>
            </a:r>
            <a:r>
              <a:rPr kumimoji="1" lang="ko-KR" altLang="en-US" b="1" dirty="0">
                <a:solidFill>
                  <a:srgbClr val="3D3830"/>
                </a:solidFill>
                <a:latin typeface="나눔고딕 ExtraBold" pitchFamily="50" charset="-127"/>
                <a:ea typeface="조선일보명조" pitchFamily="18" charset="-127"/>
                <a:cs typeface="조선일보명조" pitchFamily="18" charset="-127"/>
              </a:rPr>
              <a:t>가지치기</a:t>
            </a:r>
            <a:endParaRPr kumimoji="1" lang="en-US" altLang="ko-KR" b="1" dirty="0">
              <a:solidFill>
                <a:srgbClr val="3D3830"/>
              </a:solidFill>
              <a:latin typeface="나눔고딕 ExtraBold" pitchFamily="50" charset="-127"/>
              <a:ea typeface="조선일보명조" pitchFamily="18" charset="-127"/>
              <a:cs typeface="조선일보명조" pitchFamily="18" charset="-127"/>
            </a:endParaRPr>
          </a:p>
          <a:p>
            <a:pPr algn="ctr"/>
            <a:endParaRPr kumimoji="1" lang="en-US" altLang="ko-KR" dirty="0">
              <a:solidFill>
                <a:srgbClr val="3D3830"/>
              </a:solidFill>
              <a:latin typeface="나눔고딕 ExtraBold" pitchFamily="50" charset="-127"/>
              <a:ea typeface="조선일보명조" pitchFamily="18" charset="-127"/>
              <a:cs typeface="조선일보명조" pitchFamily="18" charset="-127"/>
            </a:endParaRPr>
          </a:p>
          <a:p>
            <a:pPr algn="ctr"/>
            <a:r>
              <a:rPr kumimoji="1" lang="ko-KR" altLang="en-US" dirty="0" err="1"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오버피팅을</a:t>
            </a:r>
            <a:r>
              <a:rPr kumimoji="1" lang="ko-KR" altLang="en-US" dirty="0"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방지</a:t>
            </a:r>
            <a:endParaRPr kumimoji="1" lang="en-US" altLang="ko-KR" dirty="0">
              <a:solidFill>
                <a:srgbClr val="7AB9DF"/>
              </a:solidFill>
              <a:latin typeface="나눔고딕 ExtraBold" pitchFamily="50" charset="-127"/>
              <a:ea typeface="나눔고딕 ExtraBold" pitchFamily="50" charset="-127"/>
              <a:cs typeface="조선일보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027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6819B-1002-48B7-A88F-B6B4212B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나무의 성능 체크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F246C8-C6C5-4A4A-BA41-E3E503AE5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887" y="2969387"/>
            <a:ext cx="11029615" cy="363448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sz="2000" dirty="0">
                <a:solidFill>
                  <a:srgbClr val="16B9DF"/>
                </a:solidFill>
                <a:latin typeface="나눔고딕 ExtraBold" pitchFamily="50" charset="-127"/>
                <a:ea typeface="나눔고딕 ExtraBold" pitchFamily="50" charset="-127"/>
              </a:rPr>
              <a:t>CC(T) 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:   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의사결정나무의 비용 복잡도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   </a:t>
            </a:r>
          </a:p>
          <a:p>
            <a:pPr>
              <a:lnSpc>
                <a:spcPct val="120000"/>
              </a:lnSpc>
            </a:pPr>
            <a:r>
              <a:rPr lang="en-US" altLang="ko-KR" sz="2000" dirty="0">
                <a:solidFill>
                  <a:srgbClr val="16B9DF"/>
                </a:solidFill>
                <a:latin typeface="나눔고딕 ExtraBold" pitchFamily="50" charset="-127"/>
                <a:ea typeface="나눔고딕 ExtraBold" pitchFamily="50" charset="-127"/>
              </a:rPr>
              <a:t>ERR(T) 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:  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검증데이터에 대한 </a:t>
            </a:r>
            <a:r>
              <a:rPr lang="ko-KR" altLang="en-US" dirty="0" err="1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오분류율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rgbClr val="3D3830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solidFill>
                  <a:srgbClr val="16B9DF"/>
                </a:solidFill>
                <a:latin typeface="나눔고딕 ExtraBold" pitchFamily="50" charset="-127"/>
                <a:ea typeface="나눔고딕 ExtraBold" pitchFamily="50" charset="-127"/>
              </a:rPr>
              <a:t>L(T)     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:  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terminal node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의 수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(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구조의 복잡도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)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rgbClr val="3D3830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000" dirty="0">
                <a:solidFill>
                  <a:srgbClr val="16B9DF"/>
                </a:solidFill>
                <a:latin typeface="나눔고딕 ExtraBold" pitchFamily="50" charset="-127"/>
                <a:ea typeface="나눔고딕 ExtraBold" pitchFamily="50" charset="-127"/>
              </a:rPr>
              <a:t>Alpha</a:t>
            </a:r>
            <a:r>
              <a:rPr lang="en-US" altLang="ko-KR" dirty="0">
                <a:solidFill>
                  <a:srgbClr val="3D3830"/>
                </a:solidFill>
                <a:latin typeface="배달의민족 한나는 열한살" panose="020B0600000101010101" pitchFamily="50" charset="-127"/>
                <a:ea typeface="배달의민족 한나는 열한살" panose="020B0600000101010101" pitchFamily="50" charset="-127"/>
              </a:rPr>
              <a:t> :   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ERR(T)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와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L(T)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를 결합하는 가중치</a:t>
            </a:r>
            <a:endParaRPr lang="en-US" altLang="ko-KR" dirty="0">
              <a:ln>
                <a:solidFill>
                  <a:schemeClr val="tx1"/>
                </a:solidFill>
              </a:ln>
              <a:solidFill>
                <a:srgbClr val="3D3830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                (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사용자에 의해 부여됨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,  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보통 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0.01~0.1</a:t>
            </a:r>
            <a:r>
              <a:rPr lang="ko-KR" altLang="en-US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의 값을 씀</a:t>
            </a:r>
            <a:r>
              <a:rPr lang="en-US" altLang="ko-KR" dirty="0">
                <a:ln>
                  <a:solidFill>
                    <a:schemeClr val="tx1"/>
                  </a:solidFill>
                </a:ln>
                <a:solidFill>
                  <a:srgbClr val="3D383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)</a:t>
            </a:r>
            <a:endParaRPr lang="ko-KR" altLang="en-US" dirty="0">
              <a:ln>
                <a:solidFill>
                  <a:schemeClr val="tx1"/>
                </a:solidFill>
              </a:ln>
              <a:solidFill>
                <a:srgbClr val="3D3830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A7D8084-F318-415E-B07E-AA63DF0EBD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9075" y="2084112"/>
            <a:ext cx="5464503" cy="88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22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3FF029-B0F7-484B-A9DB-B03E3EBE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z="3600">
                <a:solidFill>
                  <a:schemeClr val="tx1"/>
                </a:solidFill>
              </a:rPr>
              <a:t>구역 나누기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CA8826C5-DD37-4BF0-85D0-AF5BBA2948A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r="4611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37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28FA7E6-25D3-4989-8748-FFA3B0442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FFFFFF"/>
                </a:solidFill>
              </a:rPr>
              <a:t>선형 회귀 </a:t>
            </a:r>
            <a:r>
              <a:rPr lang="en-US" altLang="ko-KR" dirty="0">
                <a:solidFill>
                  <a:srgbClr val="FFFFFF"/>
                </a:solidFill>
              </a:rPr>
              <a:t>vs </a:t>
            </a:r>
            <a:r>
              <a:rPr lang="ko-KR" altLang="en-US" dirty="0">
                <a:solidFill>
                  <a:srgbClr val="FFFFFF"/>
                </a:solidFill>
              </a:rPr>
              <a:t>회귀 나무</a:t>
            </a:r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6CE7AA21-FB77-4251-91CE-294ACB8EC910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5285"/>
          <a:stretch/>
        </p:blipFill>
        <p:spPr>
          <a:xfrm>
            <a:off x="4439831" y="1336989"/>
            <a:ext cx="7466419" cy="4606611"/>
          </a:xfrm>
          <a:prstGeom prst="rect">
            <a:avLst/>
          </a:prstGeom>
        </p:spPr>
      </p:pic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DA6F0D78-16F9-4E39-8B1F-AD7A1F24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663" y="2874429"/>
            <a:ext cx="3409950" cy="242835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ko-KR" altLang="en-US" dirty="0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선형 회귀는 </a:t>
            </a:r>
            <a:r>
              <a:rPr kumimoji="1" lang="ko-KR" altLang="en-US" dirty="0">
                <a:solidFill>
                  <a:srgbClr val="00B0F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직선</a:t>
            </a:r>
            <a:r>
              <a:rPr kumimoji="1" lang="ko-KR" altLang="en-US" dirty="0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으로 예측 회귀선을 표현</a:t>
            </a:r>
            <a:endParaRPr kumimoji="1" lang="en-US" altLang="ko-KR" dirty="0">
              <a:solidFill>
                <a:schemeClr val="tx1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pPr marL="0" indent="0">
              <a:buNone/>
            </a:pPr>
            <a:endParaRPr kumimoji="1" lang="en-US" altLang="ko-KR" dirty="0">
              <a:solidFill>
                <a:schemeClr val="tx1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pPr marL="0" indent="0">
              <a:buNone/>
            </a:pPr>
            <a:r>
              <a:rPr kumimoji="1" lang="ko-KR" altLang="en-US" dirty="0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회귀 트리는 분할되는 데이터 지점에 따라 </a:t>
            </a:r>
            <a:r>
              <a:rPr kumimoji="1" lang="ko-KR" altLang="en-US" dirty="0" err="1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브랜치를</a:t>
            </a:r>
            <a:r>
              <a:rPr kumimoji="1" lang="ko-KR" altLang="en-US" dirty="0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만들면서 </a:t>
            </a:r>
            <a:r>
              <a:rPr kumimoji="1" lang="ko-KR" altLang="en-US" dirty="0">
                <a:solidFill>
                  <a:srgbClr val="00B0F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계단 형태</a:t>
            </a:r>
            <a:r>
              <a:rPr kumimoji="1" lang="ko-KR" altLang="en-US" dirty="0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로</a:t>
            </a:r>
            <a:r>
              <a:rPr kumimoji="1" lang="ko-KR" altLang="en-US" dirty="0">
                <a:solidFill>
                  <a:srgbClr val="00B0F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</a:t>
            </a:r>
            <a:r>
              <a:rPr kumimoji="1" lang="ko-KR" altLang="en-US" dirty="0">
                <a:solidFill>
                  <a:schemeClr val="tx1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회귀선을 만듦</a:t>
            </a:r>
            <a:endParaRPr kumimoji="1" lang="en-US" altLang="ko-KR" dirty="0">
              <a:solidFill>
                <a:schemeClr val="tx1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pPr marL="0" indent="0">
              <a:buNone/>
            </a:pPr>
            <a:endParaRPr kumimoji="1" lang="en-US" altLang="ko-KR" dirty="0">
              <a:ln>
                <a:solidFill>
                  <a:schemeClr val="tx1"/>
                </a:solidFill>
              </a:ln>
              <a:solidFill>
                <a:srgbClr val="3D3830"/>
              </a:solidFill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77560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0760E65-772A-4422-B1CA-B9D73241F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700" y="2049354"/>
            <a:ext cx="3053422" cy="3053422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6C60306D-4E52-44F2-9372-D634B17B8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A6698B-D180-401D-8A45-8FC00964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z="3600">
                <a:solidFill>
                  <a:srgbClr val="FFFFFF"/>
                </a:solidFill>
              </a:rPr>
              <a:t>실습을 하며 배운 새로운 팁</a:t>
            </a:r>
          </a:p>
        </p:txBody>
      </p:sp>
    </p:spTree>
    <p:extLst>
      <p:ext uri="{BB962C8B-B14F-4D97-AF65-F5344CB8AC3E}">
        <p14:creationId xmlns:p14="http://schemas.microsoft.com/office/powerpoint/2010/main" val="36306843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0">
            <a:extLst>
              <a:ext uri="{FF2B5EF4-FFF2-40B4-BE49-F238E27FC236}">
                <a16:creationId xmlns:a16="http://schemas.microsoft.com/office/drawing/2014/main" id="{F875149D-F692-45DA-8324-D5E0193D5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39C239-1A36-4520-A819-320957947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00930"/>
            <a:ext cx="3568661" cy="2256390"/>
          </a:xfrm>
        </p:spPr>
        <p:txBody>
          <a:bodyPr anchor="ctr">
            <a:normAutofit/>
          </a:bodyPr>
          <a:lstStyle/>
          <a:p>
            <a:pPr algn="ctr"/>
            <a:r>
              <a:rPr lang="en-US" altLang="ko-KR" dirty="0" err="1"/>
              <a:t>Lamda</a:t>
            </a:r>
            <a:r>
              <a:rPr lang="en-US" altLang="ko-KR" dirty="0"/>
              <a:t> </a:t>
            </a:r>
            <a:r>
              <a:rPr lang="ko-KR" altLang="en-US" dirty="0"/>
              <a:t>식 활용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sz="2000" b="1" dirty="0" err="1"/>
              <a:t>lamda</a:t>
            </a:r>
            <a:r>
              <a:rPr lang="ko-KR" altLang="en-US" sz="2000" dirty="0"/>
              <a:t> </a:t>
            </a:r>
            <a:r>
              <a:rPr lang="en-US" altLang="ko-KR" sz="2000" dirty="0"/>
              <a:t>x </a:t>
            </a:r>
            <a:r>
              <a:rPr lang="en-US" altLang="ko-KR" sz="2000" b="1" dirty="0"/>
              <a:t>: </a:t>
            </a:r>
            <a:r>
              <a:rPr lang="ko-KR" altLang="en-US" sz="2000" dirty="0"/>
              <a:t> </a:t>
            </a:r>
            <a:r>
              <a:rPr lang="en-US" altLang="ko-KR" sz="2000" dirty="0" err="1"/>
              <a:t>x.year</a:t>
            </a:r>
            <a:endParaRPr lang="ko-KR" altLang="en-US" sz="2000" dirty="0"/>
          </a:p>
        </p:txBody>
      </p:sp>
      <p:sp>
        <p:nvSpPr>
          <p:cNvPr id="26" name="Rectangle 12">
            <a:extLst>
              <a:ext uri="{FF2B5EF4-FFF2-40B4-BE49-F238E27FC236}">
                <a16:creationId xmlns:a16="http://schemas.microsoft.com/office/drawing/2014/main" id="{C0B19935-C760-4698-9DD1-973C8A428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08990612-E008-4F02-AEBB-B140BE753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A310A41F-3A14-4150-B6CF-0A577DDD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ED334C-3398-4120-8BC3-D5B66070B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1870" y="800930"/>
            <a:ext cx="7183597" cy="2256390"/>
          </a:xfrm>
        </p:spPr>
        <p:txBody>
          <a:bodyPr>
            <a:normAutofit/>
          </a:bodyPr>
          <a:lstStyle/>
          <a:p>
            <a:pPr>
              <a:buClr>
                <a:srgbClr val="A621FF"/>
              </a:buClr>
            </a:pPr>
            <a:endParaRPr lang="ko-KR" altLang="en-US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0FFAA2A7-0396-4BDC-B621-76A6D16A0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61870" y="1005840"/>
            <a:ext cx="7360316" cy="1802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62EE3624-B2B5-46E5-A98A-9A01D9600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8440" y="3800681"/>
            <a:ext cx="10947823" cy="134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4E7CE842-F3C6-4235-98C6-787B417146C7}"/>
              </a:ext>
            </a:extLst>
          </p:cNvPr>
          <p:cNvSpPr/>
          <p:nvPr/>
        </p:nvSpPr>
        <p:spPr>
          <a:xfrm>
            <a:off x="581192" y="3940133"/>
            <a:ext cx="1495427" cy="1201655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C825FD40-9867-43E6-ACE7-F812CC0FEA4D}"/>
              </a:ext>
            </a:extLst>
          </p:cNvPr>
          <p:cNvSpPr/>
          <p:nvPr/>
        </p:nvSpPr>
        <p:spPr>
          <a:xfrm>
            <a:off x="9447081" y="3917047"/>
            <a:ext cx="1879182" cy="1201654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387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1455E-4D32-4161-90A6-A04321F0D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Target </a:t>
            </a:r>
            <a:r>
              <a:rPr lang="ko-KR" altLang="en-US" dirty="0"/>
              <a:t>의 정규화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639C7F0-7898-4B21-85B3-53AA33ABAD0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35" y="2324545"/>
            <a:ext cx="4876800" cy="3619500"/>
          </a:xfrm>
          <a:prstGeom prst="rect">
            <a:avLst/>
          </a:prstGeom>
          <a:noFill/>
          <a:ln w="22225">
            <a:solidFill>
              <a:schemeClr val="bg1">
                <a:lumMod val="85000"/>
              </a:schemeClr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D3AE8EC-89B6-4B5A-A37C-38CDB3940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188" y="2265126"/>
            <a:ext cx="4876800" cy="374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9708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2C9BF-5691-4A4B-A335-734F1D01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RMSLE ( Root Mean Squared Log Error)</a:t>
            </a:r>
            <a:br>
              <a:rPr kumimoji="1" lang="en-US" altLang="ja-JP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</a:br>
            <a:r>
              <a:rPr kumimoji="1" lang="en-US" altLang="ja-JP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log</a:t>
            </a:r>
            <a:r>
              <a:rPr kumimoji="1" lang="en-US" altLang="ja-JP" b="1" dirty="0">
                <a:solidFill>
                  <a:srgbClr val="FF000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1</a:t>
            </a:r>
            <a:r>
              <a:rPr kumimoji="1" lang="en-US" altLang="ja-JP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p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18995BC6-BE7C-4861-BE07-8B23C74866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703" y="2242709"/>
            <a:ext cx="4403737" cy="363378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8F5245A-F6D5-45DA-B756-2DA93C51DCA9}"/>
              </a:ext>
            </a:extLst>
          </p:cNvPr>
          <p:cNvSpPr/>
          <p:nvPr/>
        </p:nvSpPr>
        <p:spPr>
          <a:xfrm>
            <a:off x="7099140" y="2483019"/>
            <a:ext cx="2239716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log1p(y) = log(y+1)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591069E-C015-4AC3-902F-EB28E71591C4}"/>
              </a:ext>
            </a:extLst>
          </p:cNvPr>
          <p:cNvSpPr/>
          <p:nvPr/>
        </p:nvSpPr>
        <p:spPr>
          <a:xfrm>
            <a:off x="5967376" y="2483019"/>
            <a:ext cx="25724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y</a:t>
            </a:r>
            <a:endParaRPr lang="ko-KR" altLang="en-US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658EED7F-D1E9-47F8-ABB0-D67F19353182}"/>
              </a:ext>
            </a:extLst>
          </p:cNvPr>
          <p:cNvSpPr/>
          <p:nvPr/>
        </p:nvSpPr>
        <p:spPr>
          <a:xfrm>
            <a:off x="6334897" y="2483019"/>
            <a:ext cx="656663" cy="3693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E820FD6-AB6C-45CF-B246-3403695C2537}"/>
              </a:ext>
            </a:extLst>
          </p:cNvPr>
          <p:cNvGraphicFramePr>
            <a:graphicFrameLocks noGrp="1"/>
          </p:cNvGraphicFramePr>
          <p:nvPr/>
        </p:nvGraphicFramePr>
        <p:xfrm>
          <a:off x="5696029" y="3315319"/>
          <a:ext cx="1057190" cy="2561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190">
                  <a:extLst>
                    <a:ext uri="{9D8B030D-6E8A-4147-A177-3AD203B41FA5}">
                      <a16:colId xmlns:a16="http://schemas.microsoft.com/office/drawing/2014/main" val="975635968"/>
                    </a:ext>
                  </a:extLst>
                </a:gridCol>
              </a:tblGrid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3971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93676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97707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5222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950243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025CADF1-6355-4B82-BEF3-0AE3A09C6A61}"/>
              </a:ext>
            </a:extLst>
          </p:cNvPr>
          <p:cNvGraphicFramePr>
            <a:graphicFrameLocks noGrp="1"/>
          </p:cNvGraphicFramePr>
          <p:nvPr/>
        </p:nvGraphicFramePr>
        <p:xfrm>
          <a:off x="7248808" y="3315319"/>
          <a:ext cx="1057190" cy="2561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190">
                  <a:extLst>
                    <a:ext uri="{9D8B030D-6E8A-4147-A177-3AD203B41FA5}">
                      <a16:colId xmlns:a16="http://schemas.microsoft.com/office/drawing/2014/main" val="975635968"/>
                    </a:ext>
                  </a:extLst>
                </a:gridCol>
              </a:tblGrid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log1p(y)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3971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log(0+1)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93676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log(1+1)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97707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log(9+1)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5222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log(99+1)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950243"/>
                  </a:ext>
                </a:extLst>
              </a:tr>
            </a:tbl>
          </a:graphicData>
        </a:graphic>
      </p:graphicFrame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D3ADF18-6A50-41DB-B04B-B5FF9B8F1A33}"/>
              </a:ext>
            </a:extLst>
          </p:cNvPr>
          <p:cNvSpPr/>
          <p:nvPr/>
        </p:nvSpPr>
        <p:spPr>
          <a:xfrm>
            <a:off x="6442477" y="3379166"/>
            <a:ext cx="656663" cy="3693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263FFE08-302D-444E-AAE8-DD8D48ABF3DE}"/>
              </a:ext>
            </a:extLst>
          </p:cNvPr>
          <p:cNvGraphicFramePr>
            <a:graphicFrameLocks noGrp="1"/>
          </p:cNvGraphicFramePr>
          <p:nvPr/>
        </p:nvGraphicFramePr>
        <p:xfrm>
          <a:off x="8916068" y="3315318"/>
          <a:ext cx="1057190" cy="2561175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57190">
                  <a:extLst>
                    <a:ext uri="{9D8B030D-6E8A-4147-A177-3AD203B41FA5}">
                      <a16:colId xmlns:a16="http://schemas.microsoft.com/office/drawing/2014/main" val="975635968"/>
                    </a:ext>
                  </a:extLst>
                </a:gridCol>
              </a:tblGrid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73971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93676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97707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152228"/>
                  </a:ext>
                </a:extLst>
              </a:tr>
              <a:tr h="5122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9502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A3A77BB6-51DB-4AC6-8175-52DE2425C4A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0468846" y="3316970"/>
              <a:ext cx="1228883" cy="256117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8883">
                      <a:extLst>
                        <a:ext uri="{9D8B030D-6E8A-4147-A177-3AD203B41FA5}">
                          <a16:colId xmlns:a16="http://schemas.microsoft.com/office/drawing/2014/main" val="975635968"/>
                        </a:ext>
                      </a:extLst>
                    </a:gridCol>
                  </a:tblGrid>
                  <a:tr h="5122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log</a:t>
                          </a:r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r>
                            <a:rPr lang="en-US" altLang="ko-KR" dirty="0"/>
                            <a:t>p(z)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739718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log(-2+3)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493676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log(4+3)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0977078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log(10+3)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5152228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log(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dirty="0"/>
                            <a:t>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09502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A3A77BB6-51DB-4AC6-8175-52DE2425C4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5627308"/>
                  </p:ext>
                </p:extLst>
              </p:nvPr>
            </p:nvGraphicFramePr>
            <p:xfrm>
              <a:off x="10468846" y="3316970"/>
              <a:ext cx="1228883" cy="256117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228883">
                      <a:extLst>
                        <a:ext uri="{9D8B030D-6E8A-4147-A177-3AD203B41FA5}">
                          <a16:colId xmlns:a16="http://schemas.microsoft.com/office/drawing/2014/main" val="975635968"/>
                        </a:ext>
                      </a:extLst>
                    </a:gridCol>
                  </a:tblGrid>
                  <a:tr h="5122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log</a:t>
                          </a:r>
                          <a:r>
                            <a:rPr lang="en-US" altLang="ko-KR" dirty="0">
                              <a:solidFill>
                                <a:srgbClr val="FF0000"/>
                              </a:solidFill>
                            </a:rPr>
                            <a:t>3</a:t>
                          </a:r>
                          <a:r>
                            <a:rPr lang="en-US" altLang="ko-KR" dirty="0"/>
                            <a:t>p(z)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77739718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log(-2+3)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5493676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log(4+3)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0977078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dirty="0"/>
                            <a:t>log(10+3)</a:t>
                          </a:r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5152228"/>
                      </a:ext>
                    </a:extLst>
                  </a:tr>
                  <a:tr h="51223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495" t="-407143" r="-2475" b="-23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09502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97E42925-7D76-45E8-9943-DD9158F92C14}"/>
              </a:ext>
            </a:extLst>
          </p:cNvPr>
          <p:cNvSpPr/>
          <p:nvPr/>
        </p:nvSpPr>
        <p:spPr>
          <a:xfrm>
            <a:off x="9926665" y="3379166"/>
            <a:ext cx="656663" cy="3693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1270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D0E91D-B3D4-481D-8C88-B7ED2DB2BD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025" y="701675"/>
            <a:ext cx="11029950" cy="11890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3600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원</a:t>
            </a:r>
            <a:r>
              <a:rPr kumimoji="1" lang="en-US" altLang="ko-KR" sz="3600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-</a:t>
            </a:r>
            <a:r>
              <a:rPr kumimoji="1" lang="ko-KR" altLang="en-US" sz="3600" b="1" dirty="0" err="1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핫</a:t>
            </a:r>
            <a:r>
              <a:rPr kumimoji="1" lang="ko-KR" altLang="en-US" sz="3600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</a:t>
            </a:r>
            <a:r>
              <a:rPr kumimoji="1" lang="ko-KR" altLang="en-US" sz="3600" b="1" dirty="0" err="1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인코딩</a:t>
            </a:r>
            <a:endParaRPr kumimoji="1" lang="ja-JP" altLang="en-US" sz="3600" b="1" dirty="0"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A801DCC-D1FA-4F70-844A-DB410B7D5F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275661"/>
            <a:ext cx="4769188" cy="385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F61DA2-1D1C-4387-AFD8-7C8B4E732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14" y="4682612"/>
            <a:ext cx="5783939" cy="56935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51CCC048-85CC-480F-98C6-A2096B32D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604" y="5496336"/>
            <a:ext cx="5834558" cy="547242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30EAFAB8-6F63-472F-8A9C-4E49C6198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14" y="2275661"/>
            <a:ext cx="5304457" cy="1888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1F757A76-B8E1-403F-81E9-1B2171183061}"/>
              </a:ext>
            </a:extLst>
          </p:cNvPr>
          <p:cNvSpPr/>
          <p:nvPr/>
        </p:nvSpPr>
        <p:spPr>
          <a:xfrm>
            <a:off x="7935303" y="2275661"/>
            <a:ext cx="1160060" cy="302169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ED1C1A-A2C4-4A94-A2C5-E39654901B99}"/>
              </a:ext>
            </a:extLst>
          </p:cNvPr>
          <p:cNvSpPr/>
          <p:nvPr/>
        </p:nvSpPr>
        <p:spPr>
          <a:xfrm>
            <a:off x="8811046" y="5593492"/>
            <a:ext cx="1033170" cy="327549"/>
          </a:xfrm>
          <a:prstGeom prst="rect">
            <a:avLst/>
          </a:prstGeom>
          <a:solidFill>
            <a:srgbClr val="FFFF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211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CED7894-4F62-4A6C-8DB5-DB5BE08E9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CA579A9-31D4-408A-9E5C-2D0A0D016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06" y="702155"/>
            <a:ext cx="3568661" cy="1269713"/>
          </a:xfrm>
        </p:spPr>
        <p:txBody>
          <a:bodyPr>
            <a:normAutofit/>
          </a:bodyPr>
          <a:lstStyle/>
          <a:p>
            <a:r>
              <a:rPr kumimoji="1" lang="ko-KR" altLang="en-US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이상치 데이터 처리</a:t>
            </a:r>
            <a:br>
              <a:rPr kumimoji="1" lang="ja-JP" altLang="en-US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</a:br>
            <a:endParaRPr lang="ko-KR" alt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36F3B4-50F6-4C52-8F76-4EB121471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0458C1-B827-4773-8EB5-D47479068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06" y="2340864"/>
            <a:ext cx="3568661" cy="363448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이상치를 삭제할 수 있는 조건을 찾고 필터링한다</a:t>
            </a:r>
            <a:r>
              <a:rPr lang="en-US" altLang="ko-KR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.</a:t>
            </a:r>
          </a:p>
          <a:p>
            <a:endParaRPr lang="en-US" altLang="ko-KR" dirty="0">
              <a:latin typeface="조선일보명조" pitchFamily="18" charset="-127"/>
              <a:ea typeface="조선일보명조" pitchFamily="18" charset="-127"/>
              <a:cs typeface="조선일보명조" pitchFamily="18" charset="-127"/>
            </a:endParaRPr>
          </a:p>
          <a:p>
            <a:r>
              <a:rPr lang="ko-KR" altLang="en-US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이상치를 제거한 뒤</a:t>
            </a:r>
            <a:r>
              <a:rPr lang="en-US" altLang="ko-KR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,</a:t>
            </a:r>
            <a:r>
              <a:rPr lang="ko-KR" altLang="en-US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  </a:t>
            </a:r>
            <a:br>
              <a:rPr lang="en-US" altLang="ko-KR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</a:br>
            <a:r>
              <a:rPr lang="en-US" altLang="ko-KR" b="1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RMSE 0.1275-&gt;0.1125 </a:t>
            </a:r>
            <a:br>
              <a:rPr lang="en-US" altLang="ko-KR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</a:br>
            <a:r>
              <a:rPr lang="ko-KR" altLang="en-US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매우 개선됨</a:t>
            </a:r>
            <a:r>
              <a:rPr lang="en-US" altLang="ko-KR" dirty="0">
                <a:latin typeface="조선일보명조" pitchFamily="18" charset="-127"/>
                <a:ea typeface="조선일보명조" pitchFamily="18" charset="-127"/>
                <a:cs typeface="조선일보명조" pitchFamily="18" charset="-127"/>
              </a:rPr>
              <a:t>.</a:t>
            </a:r>
          </a:p>
          <a:p>
            <a:endParaRPr 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571F3E2F-A4C0-4E17-AFBD-366CCC4AD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799" y="1337011"/>
            <a:ext cx="6735272" cy="4226382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E037C4B4-5D7E-465E-A55A-D15C5FB8E80B}"/>
              </a:ext>
            </a:extLst>
          </p:cNvPr>
          <p:cNvSpPr/>
          <p:nvPr/>
        </p:nvSpPr>
        <p:spPr>
          <a:xfrm>
            <a:off x="9970851" y="3816485"/>
            <a:ext cx="1238732" cy="52833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737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원통형 18">
            <a:extLst>
              <a:ext uri="{FF2B5EF4-FFF2-40B4-BE49-F238E27FC236}">
                <a16:creationId xmlns:a16="http://schemas.microsoft.com/office/drawing/2014/main" id="{64B3A7D3-B5EF-4A96-B8A4-256DC77D8518}"/>
              </a:ext>
            </a:extLst>
          </p:cNvPr>
          <p:cNvSpPr/>
          <p:nvPr/>
        </p:nvSpPr>
        <p:spPr>
          <a:xfrm>
            <a:off x="4042234" y="1913856"/>
            <a:ext cx="4107003" cy="47799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F3BE7D25-12FB-4167-8D32-011E87FE2018}"/>
              </a:ext>
            </a:extLst>
          </p:cNvPr>
          <p:cNvGrpSpPr/>
          <p:nvPr/>
        </p:nvGrpSpPr>
        <p:grpSpPr>
          <a:xfrm>
            <a:off x="5124932" y="864769"/>
            <a:ext cx="1559491" cy="1622408"/>
            <a:chOff x="295742" y="1911879"/>
            <a:chExt cx="1735919" cy="175844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96D2D25-D370-414B-9495-FB9A6A1BB4BD}"/>
                </a:ext>
              </a:extLst>
            </p:cNvPr>
            <p:cNvSpPr/>
            <p:nvPr/>
          </p:nvSpPr>
          <p:spPr>
            <a:xfrm>
              <a:off x="1108508" y="3434109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DE8D395-EC90-4E13-BEB2-5B3904DE57B4}"/>
                </a:ext>
              </a:extLst>
            </p:cNvPr>
            <p:cNvSpPr/>
            <p:nvPr/>
          </p:nvSpPr>
          <p:spPr>
            <a:xfrm>
              <a:off x="1475753" y="3432235"/>
              <a:ext cx="101600" cy="23621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B8F5350-1490-4B03-A506-7909EE5A7D15}"/>
                </a:ext>
              </a:extLst>
            </p:cNvPr>
            <p:cNvSpPr/>
            <p:nvPr/>
          </p:nvSpPr>
          <p:spPr>
            <a:xfrm rot="8248109">
              <a:off x="620694" y="2250862"/>
              <a:ext cx="63577" cy="492778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6743BE3-F734-4826-B468-C59D35138625}"/>
                </a:ext>
              </a:extLst>
            </p:cNvPr>
            <p:cNvSpPr/>
            <p:nvPr/>
          </p:nvSpPr>
          <p:spPr>
            <a:xfrm rot="20802753">
              <a:off x="1811035" y="2704273"/>
              <a:ext cx="65325" cy="50944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F7CECA25-01BE-423C-A9A1-9ACB14AD67A4}"/>
                </a:ext>
              </a:extLst>
            </p:cNvPr>
            <p:cNvSpPr/>
            <p:nvPr/>
          </p:nvSpPr>
          <p:spPr>
            <a:xfrm>
              <a:off x="838200" y="2559068"/>
              <a:ext cx="981075" cy="869932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55150A1-EADC-4AA2-951E-1159240C87E4}"/>
                </a:ext>
              </a:extLst>
            </p:cNvPr>
            <p:cNvSpPr/>
            <p:nvPr/>
          </p:nvSpPr>
          <p:spPr>
            <a:xfrm>
              <a:off x="911591" y="1953676"/>
              <a:ext cx="816789" cy="600283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FA1D728-2759-4C3E-AEFD-1EDA672B1F04}"/>
                </a:ext>
              </a:extLst>
            </p:cNvPr>
            <p:cNvSpPr/>
            <p:nvPr/>
          </p:nvSpPr>
          <p:spPr>
            <a:xfrm>
              <a:off x="1159308" y="2406813"/>
              <a:ext cx="300505" cy="45719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9D0D7FBA-3841-4C7B-8E31-F0F351D161B0}"/>
                </a:ext>
              </a:extLst>
            </p:cNvPr>
            <p:cNvSpPr/>
            <p:nvPr/>
          </p:nvSpPr>
          <p:spPr>
            <a:xfrm>
              <a:off x="1053355" y="2221878"/>
              <a:ext cx="134207" cy="109043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7354F424-BA75-4426-B28F-3565C44D8919}"/>
                </a:ext>
              </a:extLst>
            </p:cNvPr>
            <p:cNvSpPr/>
            <p:nvPr/>
          </p:nvSpPr>
          <p:spPr>
            <a:xfrm>
              <a:off x="1408455" y="2221878"/>
              <a:ext cx="134207" cy="109043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9E0B8B9-B36A-43B9-B1A6-A2929180452A}"/>
                </a:ext>
              </a:extLst>
            </p:cNvPr>
            <p:cNvSpPr/>
            <p:nvPr/>
          </p:nvSpPr>
          <p:spPr>
            <a:xfrm>
              <a:off x="926588" y="2757537"/>
              <a:ext cx="796925" cy="43394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머신</a:t>
              </a:r>
            </a:p>
          </p:txBody>
        </p:sp>
        <p:sp>
          <p:nvSpPr>
            <p:cNvPr id="15" name="막힌 원호 14">
              <a:extLst>
                <a:ext uri="{FF2B5EF4-FFF2-40B4-BE49-F238E27FC236}">
                  <a16:creationId xmlns:a16="http://schemas.microsoft.com/office/drawing/2014/main" id="{DB5DA30E-A1DA-4DFF-91C4-EBE39378F436}"/>
                </a:ext>
              </a:extLst>
            </p:cNvPr>
            <p:cNvSpPr/>
            <p:nvPr/>
          </p:nvSpPr>
          <p:spPr>
            <a:xfrm rot="8224536">
              <a:off x="295742" y="2112338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D447CD1B-4140-454F-AEAF-1C5CDFCB78EC}"/>
                </a:ext>
              </a:extLst>
            </p:cNvPr>
            <p:cNvSpPr/>
            <p:nvPr/>
          </p:nvSpPr>
          <p:spPr>
            <a:xfrm>
              <a:off x="926588" y="1911879"/>
              <a:ext cx="780466" cy="14314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막힌 원호 16">
              <a:extLst>
                <a:ext uri="{FF2B5EF4-FFF2-40B4-BE49-F238E27FC236}">
                  <a16:creationId xmlns:a16="http://schemas.microsoft.com/office/drawing/2014/main" id="{FD1BCCD0-3FC0-44DE-A3CA-B043B9873682}"/>
                </a:ext>
              </a:extLst>
            </p:cNvPr>
            <p:cNvSpPr/>
            <p:nvPr/>
          </p:nvSpPr>
          <p:spPr>
            <a:xfrm rot="20493245">
              <a:off x="1836399" y="3178286"/>
              <a:ext cx="195262" cy="219075"/>
            </a:xfrm>
            <a:prstGeom prst="blockArc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83828D7-FC5D-4B38-BD4C-D3FD8FA45709}"/>
              </a:ext>
            </a:extLst>
          </p:cNvPr>
          <p:cNvSpPr txBox="1"/>
          <p:nvPr/>
        </p:nvSpPr>
        <p:spPr>
          <a:xfrm>
            <a:off x="5200650" y="3060498"/>
            <a:ext cx="600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머신 업데이트 내용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C14DDE-A576-46F4-A27A-94790D4A7A09}"/>
              </a:ext>
            </a:extLst>
          </p:cNvPr>
          <p:cNvSpPr txBox="1"/>
          <p:nvPr/>
        </p:nvSpPr>
        <p:spPr>
          <a:xfrm>
            <a:off x="4607840" y="3554513"/>
            <a:ext cx="60007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/>
                </a:solidFill>
              </a:rPr>
              <a:t>1. </a:t>
            </a:r>
            <a:r>
              <a:rPr lang="ko-KR" altLang="en-US" sz="2000" dirty="0">
                <a:solidFill>
                  <a:schemeClr val="bg1"/>
                </a:solidFill>
              </a:rPr>
              <a:t>로지스틱 회귀의 원리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</a:rPr>
              <a:t>회귀 트리의 이해 조금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3. log plus one</a:t>
            </a: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4. one hot encoding -&gt; </a:t>
            </a:r>
            <a:r>
              <a:rPr lang="ko-KR" altLang="en-US" sz="2000" dirty="0">
                <a:solidFill>
                  <a:schemeClr val="bg1"/>
                </a:solidFill>
              </a:rPr>
              <a:t>성능 향상</a:t>
            </a:r>
            <a:endParaRPr lang="en-US" altLang="ko-KR" sz="2000" dirty="0">
              <a:solidFill>
                <a:schemeClr val="bg1"/>
              </a:solidFill>
            </a:endParaRPr>
          </a:p>
          <a:p>
            <a:endParaRPr lang="en-US" altLang="ko-KR" sz="2000" dirty="0">
              <a:solidFill>
                <a:schemeClr val="bg1"/>
              </a:solidFill>
            </a:endParaRPr>
          </a:p>
          <a:p>
            <a:r>
              <a:rPr lang="en-US" altLang="ko-KR" sz="2000" dirty="0">
                <a:solidFill>
                  <a:schemeClr val="bg1"/>
                </a:solidFill>
              </a:rPr>
              <a:t>5. </a:t>
            </a:r>
            <a:r>
              <a:rPr lang="ko-KR" altLang="en-US" sz="2000" dirty="0">
                <a:solidFill>
                  <a:schemeClr val="bg1"/>
                </a:solidFill>
              </a:rPr>
              <a:t>이상치 제거 </a:t>
            </a:r>
            <a:r>
              <a:rPr lang="en-US" altLang="ko-KR" sz="2000" dirty="0">
                <a:solidFill>
                  <a:schemeClr val="bg1"/>
                </a:solidFill>
              </a:rPr>
              <a:t>-&gt; </a:t>
            </a:r>
            <a:r>
              <a:rPr lang="ko-KR" altLang="en-US" sz="2000" dirty="0">
                <a:solidFill>
                  <a:schemeClr val="bg1"/>
                </a:solidFill>
              </a:rPr>
              <a:t>성능 향상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B1C7874-DF7B-4DA8-8A4B-DC0E22C2C4F7}"/>
              </a:ext>
            </a:extLst>
          </p:cNvPr>
          <p:cNvGrpSpPr/>
          <p:nvPr/>
        </p:nvGrpSpPr>
        <p:grpSpPr>
          <a:xfrm>
            <a:off x="9923530" y="3754314"/>
            <a:ext cx="1857248" cy="2801019"/>
            <a:chOff x="6737619" y="1977979"/>
            <a:chExt cx="2672539" cy="4416302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5DBD2AAA-B889-41A8-913A-B24A7818A10C}"/>
                </a:ext>
              </a:extLst>
            </p:cNvPr>
            <p:cNvGrpSpPr/>
            <p:nvPr/>
          </p:nvGrpSpPr>
          <p:grpSpPr>
            <a:xfrm>
              <a:off x="6737619" y="3008428"/>
              <a:ext cx="2672539" cy="3385853"/>
              <a:chOff x="606175" y="1911879"/>
              <a:chExt cx="1425486" cy="1758448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156279A5-CA98-4A70-846B-39959C289E47}"/>
                  </a:ext>
                </a:extLst>
              </p:cNvPr>
              <p:cNvSpPr/>
              <p:nvPr/>
            </p:nvSpPr>
            <p:spPr>
              <a:xfrm>
                <a:off x="1108508" y="3434109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53564787-3724-4CC5-8FCA-02967C321D48}"/>
                  </a:ext>
                </a:extLst>
              </p:cNvPr>
              <p:cNvSpPr/>
              <p:nvPr/>
            </p:nvSpPr>
            <p:spPr>
              <a:xfrm>
                <a:off x="1475753" y="3432235"/>
                <a:ext cx="101600" cy="23621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5CE586B1-984F-4378-9490-511E6658A405}"/>
                  </a:ext>
                </a:extLst>
              </p:cNvPr>
              <p:cNvSpPr/>
              <p:nvPr/>
            </p:nvSpPr>
            <p:spPr>
              <a:xfrm rot="942030">
                <a:off x="769297" y="2699290"/>
                <a:ext cx="63576" cy="492778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498DA21F-49D7-4B0C-961E-2FF2BC4EE6B4}"/>
                  </a:ext>
                </a:extLst>
              </p:cNvPr>
              <p:cNvSpPr/>
              <p:nvPr/>
            </p:nvSpPr>
            <p:spPr>
              <a:xfrm rot="20802753">
                <a:off x="1811035" y="2704273"/>
                <a:ext cx="65325" cy="509442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A87CE04E-DEE1-448D-ABC4-41321EB5BABB}"/>
                  </a:ext>
                </a:extLst>
              </p:cNvPr>
              <p:cNvSpPr/>
              <p:nvPr/>
            </p:nvSpPr>
            <p:spPr>
              <a:xfrm>
                <a:off x="838201" y="2559068"/>
                <a:ext cx="981075" cy="869932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EFDE1FA5-2B38-4EE7-8662-F8DFFA5CFBD3}"/>
                  </a:ext>
                </a:extLst>
              </p:cNvPr>
              <p:cNvSpPr/>
              <p:nvPr/>
            </p:nvSpPr>
            <p:spPr>
              <a:xfrm>
                <a:off x="911591" y="1953676"/>
                <a:ext cx="816789" cy="600283"/>
              </a:xfrm>
              <a:prstGeom prst="round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67E62526-2140-4037-BE67-6CE2D14630B6}"/>
                  </a:ext>
                </a:extLst>
              </p:cNvPr>
              <p:cNvSpPr/>
              <p:nvPr/>
            </p:nvSpPr>
            <p:spPr>
              <a:xfrm>
                <a:off x="1159308" y="2406813"/>
                <a:ext cx="300505" cy="45719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>
                <a:extLst>
                  <a:ext uri="{FF2B5EF4-FFF2-40B4-BE49-F238E27FC236}">
                    <a16:creationId xmlns:a16="http://schemas.microsoft.com/office/drawing/2014/main" id="{DCF9C973-BD86-4A5F-AF53-312E7303F8C5}"/>
                  </a:ext>
                </a:extLst>
              </p:cNvPr>
              <p:cNvSpPr/>
              <p:nvPr/>
            </p:nvSpPr>
            <p:spPr>
              <a:xfrm>
                <a:off x="10533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2" name="타원 31">
                <a:extLst>
                  <a:ext uri="{FF2B5EF4-FFF2-40B4-BE49-F238E27FC236}">
                    <a16:creationId xmlns:a16="http://schemas.microsoft.com/office/drawing/2014/main" id="{A2975D06-C0A6-4DB6-9B72-A934CD5581B8}"/>
                  </a:ext>
                </a:extLst>
              </p:cNvPr>
              <p:cNvSpPr/>
              <p:nvPr/>
            </p:nvSpPr>
            <p:spPr>
              <a:xfrm>
                <a:off x="1408455" y="2221878"/>
                <a:ext cx="134207" cy="109043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14B44A15-F1D0-4D39-B3F7-DC377F251C62}"/>
                  </a:ext>
                </a:extLst>
              </p:cNvPr>
              <p:cNvSpPr/>
              <p:nvPr/>
            </p:nvSpPr>
            <p:spPr>
              <a:xfrm>
                <a:off x="926588" y="2757537"/>
                <a:ext cx="796925" cy="433941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2000" b="1" dirty="0" err="1">
                    <a:solidFill>
                      <a:schemeClr val="tx1"/>
                    </a:solidFill>
                  </a:rPr>
                  <a:t>태권브이</a:t>
                </a:r>
                <a:endParaRPr lang="ko-KR" altLang="en-US" sz="20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막힌 원호 33">
                <a:extLst>
                  <a:ext uri="{FF2B5EF4-FFF2-40B4-BE49-F238E27FC236}">
                    <a16:creationId xmlns:a16="http://schemas.microsoft.com/office/drawing/2014/main" id="{F47DC16A-5014-47CA-B536-CEBC6E24CBC5}"/>
                  </a:ext>
                </a:extLst>
              </p:cNvPr>
              <p:cNvSpPr/>
              <p:nvPr/>
            </p:nvSpPr>
            <p:spPr>
              <a:xfrm rot="918457">
                <a:off x="606175" y="3174911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E92CF3BC-BE07-4703-8715-4059061D1250}"/>
                  </a:ext>
                </a:extLst>
              </p:cNvPr>
              <p:cNvSpPr/>
              <p:nvPr/>
            </p:nvSpPr>
            <p:spPr>
              <a:xfrm>
                <a:off x="926588" y="1911879"/>
                <a:ext cx="780466" cy="143145"/>
              </a:xfrm>
              <a:prstGeom prst="ellipse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" name="막힌 원호 35">
                <a:extLst>
                  <a:ext uri="{FF2B5EF4-FFF2-40B4-BE49-F238E27FC236}">
                    <a16:creationId xmlns:a16="http://schemas.microsoft.com/office/drawing/2014/main" id="{2F4ABA53-CE5C-4DE3-BE50-D9E733C1901C}"/>
                  </a:ext>
                </a:extLst>
              </p:cNvPr>
              <p:cNvSpPr/>
              <p:nvPr/>
            </p:nvSpPr>
            <p:spPr>
              <a:xfrm rot="20493245">
                <a:off x="1836399" y="3178286"/>
                <a:ext cx="195262" cy="219075"/>
              </a:xfrm>
              <a:prstGeom prst="blockArc">
                <a:avLst/>
              </a:pr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1/2 액자 22">
              <a:extLst>
                <a:ext uri="{FF2B5EF4-FFF2-40B4-BE49-F238E27FC236}">
                  <a16:creationId xmlns:a16="http://schemas.microsoft.com/office/drawing/2014/main" id="{40F75037-B832-4568-B076-DA2DE5135406}"/>
                </a:ext>
              </a:extLst>
            </p:cNvPr>
            <p:cNvSpPr/>
            <p:nvPr/>
          </p:nvSpPr>
          <p:spPr>
            <a:xfrm rot="13288558">
              <a:off x="7276879" y="1977979"/>
              <a:ext cx="1362075" cy="1325563"/>
            </a:xfrm>
            <a:prstGeom prst="halfFrame">
              <a:avLst>
                <a:gd name="adj1" fmla="val 22554"/>
                <a:gd name="adj2" fmla="val 25429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433000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8E3E2"/>
      </a:lt2>
      <a:accent1>
        <a:srgbClr val="79A9B7"/>
      </a:accent1>
      <a:accent2>
        <a:srgbClr val="76ADA2"/>
      </a:accent2>
      <a:accent3>
        <a:srgbClr val="81AB91"/>
      </a:accent3>
      <a:accent4>
        <a:srgbClr val="78AD76"/>
      </a:accent4>
      <a:accent5>
        <a:srgbClr val="91A87F"/>
      </a:accent5>
      <a:accent6>
        <a:srgbClr val="9EA571"/>
      </a:accent6>
      <a:hlink>
        <a:srgbClr val="AC7465"/>
      </a:hlink>
      <a:folHlink>
        <a:srgbClr val="7F7F7F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297</Words>
  <Application>Microsoft Office PowerPoint</Application>
  <PresentationFormat>와이드스크린</PresentationFormat>
  <Paragraphs>86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나눔고딕 ExtraBold</vt:lpstr>
      <vt:lpstr>맑은 고딕 Semilight</vt:lpstr>
      <vt:lpstr>배달의민족 한나는 열한살</vt:lpstr>
      <vt:lpstr>조선일보명조</vt:lpstr>
      <vt:lpstr>휴먼매직체</vt:lpstr>
      <vt:lpstr>Cambria Math</vt:lpstr>
      <vt:lpstr>Gill Sans MT</vt:lpstr>
      <vt:lpstr>Wingdings 2</vt:lpstr>
      <vt:lpstr>DividendVTI</vt:lpstr>
      <vt:lpstr>로지스틱회귀 회귀나무 데이터 처리 팁</vt:lpstr>
      <vt:lpstr>선형회귀 </vt:lpstr>
      <vt:lpstr>S자 함수</vt:lpstr>
      <vt:lpstr>업데이트를 해보자</vt:lpstr>
      <vt:lpstr>PowerPoint 프레젠테이션</vt:lpstr>
      <vt:lpstr>특별한 비용함수</vt:lpstr>
      <vt:lpstr>PowerPoint 프레젠테이션</vt:lpstr>
      <vt:lpstr>회귀 나무</vt:lpstr>
      <vt:lpstr>PowerPoint 프레젠테이션</vt:lpstr>
      <vt:lpstr>지니 불순도 복습</vt:lpstr>
      <vt:lpstr>나무의 규칙</vt:lpstr>
      <vt:lpstr>나무의 성능 체크</vt:lpstr>
      <vt:lpstr>구역 나누기</vt:lpstr>
      <vt:lpstr>선형 회귀 vs 회귀 나무</vt:lpstr>
      <vt:lpstr>실습을 하며 배운 새로운 팁</vt:lpstr>
      <vt:lpstr>Lamda 식 활용  lamda x :  x.year</vt:lpstr>
      <vt:lpstr>Target 의 정규화</vt:lpstr>
      <vt:lpstr>RMSLE ( Root Mean Squared Log Error) log1p</vt:lpstr>
      <vt:lpstr>원-핫 인코딩</vt:lpstr>
      <vt:lpstr>이상치 데이터 처리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로지스틱회귀 회귀나무 데이터 처리 팁</dc:title>
  <dc:creator>박범진</dc:creator>
  <cp:lastModifiedBy>박범진</cp:lastModifiedBy>
  <cp:revision>4</cp:revision>
  <dcterms:created xsi:type="dcterms:W3CDTF">2019-10-01T12:46:35Z</dcterms:created>
  <dcterms:modified xsi:type="dcterms:W3CDTF">2019-10-01T13:54:31Z</dcterms:modified>
</cp:coreProperties>
</file>