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3004800" cy="9753600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1800" b="0" i="0" u="none" strike="noStrike" cap="none" spc="0" normalizeH="0" baseline="0">
        <a:solidFill>
          <a:srgbClr val="000000"/>
        </a:solidFill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None/>
      <a:defRPr kumimoji="0" sz="2400" b="1" i="0" u="none" strike="noStrike" cap="none" spc="0" normalizeH="0" baseline="0">
        <a:solidFill>
          <a:srgbClr val="000000"/>
        </a:solidFill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C3C2611-4C71-4FC5-86AE-919BDF0F9419}" styleName="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1">
              <a:lumOff val="-13580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solidFill>
                <a:srgbClr val="3797c6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1">
              <a:hueOff val="114395"/>
              <a:lumOff val="-24980"/>
            </a:schemeClr>
          </a:solidFill>
        </a:fill>
      </a:tcStyle>
    </a:firstRow>
  </a:tblStyle>
  <a:tblStyle styleId="{EEE7283C-3CF3-47DC-8721-378D4A62B228}" styleName=""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miter/>
            </a:ln>
          </a:left>
          <a:right>
            <a:ln w="12700" cap="flat">
              <a:solidFill>
                <a:srgbClr val="5d5d5d"/>
              </a:solidFill>
              <a:miter/>
            </a:ln>
          </a:right>
          <a:top>
            <a:ln w="12700" cap="flat">
              <a:solidFill>
                <a:srgbClr val="5d5d5d"/>
              </a:solidFill>
              <a:miter/>
            </a:ln>
          </a:top>
          <a:bottom>
            <a:ln w="12700" cap="flat">
              <a:solidFill>
                <a:srgbClr val="5d5d5d"/>
              </a:solidFill>
              <a:miter/>
            </a:ln>
          </a:bottom>
          <a:insideH>
            <a:ln w="12700" cap="flat">
              <a:solidFill>
                <a:srgbClr val="5d5d5d"/>
              </a:solidFill>
              <a:miter/>
            </a:ln>
          </a:insideH>
          <a:insideV>
            <a:ln w="12700" cap="flat">
              <a:solidFill>
                <a:srgbClr val="5d5d5d"/>
              </a:solidFill>
              <a:miter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/>
            </a:ln>
          </a:left>
          <a:right>
            <a:ln w="12700" cap="flat">
              <a:solidFill>
                <a:srgbClr val="5d5d5d"/>
              </a:solidFill>
              <a:prstDash val="solid"/>
              <a:miter/>
            </a:ln>
          </a:right>
          <a:top>
            <a:ln w="12700" cap="flat">
              <a:solidFill>
                <a:srgbClr val="5d5d5d"/>
              </a:solidFill>
              <a:prstDash val="solid"/>
              <a:miter/>
            </a:ln>
          </a:top>
          <a:bottom>
            <a:ln w="12700" cap="flat">
              <a:solidFill>
                <a:srgbClr val="5d5d5d"/>
              </a:solidFill>
              <a:prstDash val="solid"/>
              <a:miter/>
            </a:ln>
          </a:bottom>
          <a:insideH>
            <a:ln w="12700" cap="flat">
              <a:solidFill>
                <a:srgbClr val="5d5d5d"/>
              </a:solidFill>
              <a:prstDash val="solid"/>
              <a:miter/>
            </a:ln>
          </a:insideH>
          <a:insideV>
            <a:ln w="12700" cap="flat">
              <a:solidFill>
                <a:srgbClr val="5d5d5d"/>
              </a:solidFill>
              <a:prstDash val="solid"/>
              <a:miter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/>
            </a:ln>
          </a:left>
          <a:right>
            <a:ln w="12700" cap="flat">
              <a:solidFill>
                <a:srgbClr val="5d5d5d"/>
              </a:solidFill>
              <a:prstDash val="solid"/>
              <a:miter/>
            </a:ln>
          </a:right>
          <a:top>
            <a:ln w="12700" cap="flat">
              <a:solidFill>
                <a:srgbClr val="5d5d5d"/>
              </a:solidFill>
              <a:prstDash val="solid"/>
              <a:miter/>
            </a:ln>
          </a:top>
          <a:bottom>
            <a:ln w="12700" cap="flat">
              <a:solidFill>
                <a:srgbClr val="5d5d5d"/>
              </a:solidFill>
              <a:prstDash val="solid"/>
              <a:miter/>
            </a:ln>
          </a:bottom>
          <a:insideH>
            <a:ln w="12700" cap="flat">
              <a:solidFill>
                <a:srgbClr val="5d5d5d"/>
              </a:solidFill>
              <a:prstDash val="solid"/>
              <a:miter/>
            </a:ln>
          </a:insideH>
          <a:insideV>
            <a:ln w="12700" cap="flat">
              <a:solidFill>
                <a:srgbClr val="5d5d5d"/>
              </a:solidFill>
              <a:prstDash val="solid"/>
              <a:miter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/>
            </a:ln>
          </a:left>
          <a:right>
            <a:ln w="12700" cap="flat">
              <a:solidFill>
                <a:srgbClr val="5d5d5d"/>
              </a:solidFill>
              <a:prstDash val="solid"/>
              <a:miter/>
            </a:ln>
          </a:right>
          <a:top>
            <a:ln w="12700" cap="flat">
              <a:solidFill>
                <a:srgbClr val="5d5d5d"/>
              </a:solidFill>
              <a:prstDash val="solid"/>
              <a:miter/>
            </a:ln>
          </a:top>
          <a:bottom>
            <a:ln w="12700" cap="flat">
              <a:solidFill>
                <a:srgbClr val="5d5d5d"/>
              </a:solidFill>
              <a:prstDash val="solid"/>
              <a:miter/>
            </a:ln>
          </a:bottom>
          <a:insideH>
            <a:ln w="12700" cap="flat">
              <a:solidFill>
                <a:srgbClr val="5d5d5d"/>
              </a:solidFill>
              <a:prstDash val="solid"/>
              <a:miter/>
            </a:ln>
          </a:insideH>
          <a:insideV>
            <a:ln w="12700" cap="flat">
              <a:solidFill>
                <a:srgbClr val="5d5d5d"/>
              </a:solidFill>
              <a:prstDash val="solid"/>
              <a:miter/>
            </a:ln>
          </a:insideV>
        </a:tcBdr>
        <a:fill>
          <a:solidFill>
            <a:srgbClr val="ff9400"/>
          </a:solidFill>
        </a:fill>
      </a:tcStyle>
    </a:firstRow>
  </a:tblStyle>
  <a:tblStyle styleId="{2708684C-4D16-4618-839F-0558EEFCDFE6}" styleName="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miter/>
            </a:ln>
          </a:left>
          <a:right>
            <a:ln w="12700" cap="flat">
              <a:solidFill>
                <a:srgbClr val="000000"/>
              </a:solidFill>
              <a:miter/>
            </a:ln>
          </a:right>
          <a:top>
            <a:ln w="12700" cap="flat">
              <a:solidFill>
                <a:srgbClr val="000000"/>
              </a:solidFill>
              <a:miter/>
            </a:ln>
          </a:top>
          <a:bottom>
            <a:ln w="12700" cap="flat">
              <a:solidFill>
                <a:srgbClr val="000000"/>
              </a:solidFill>
              <a:miter/>
            </a:ln>
          </a:bottom>
          <a:insideH>
            <a:ln w="12700" cap="flat">
              <a:solidFill>
                <a:srgbClr val="000000"/>
              </a:solidFill>
              <a:miter/>
            </a:ln>
          </a:insideH>
          <a:insideV>
            <a:ln w="12700" cap="flat">
              <a:solidFill>
                <a:srgbClr val="000000"/>
              </a:solidFill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solidFill>
                <a:srgbClr val="000000"/>
              </a:solidFill>
              <a:prstDash val="solid"/>
              <a:miter/>
            </a:ln>
          </a:right>
          <a:top>
            <a:ln w="12700" cap="flat">
              <a:solidFill>
                <a:srgbClr val="000000"/>
              </a:solidFill>
              <a:miter/>
            </a:ln>
          </a:top>
          <a:bottom>
            <a:ln w="12700" cap="flat">
              <a:solidFill>
                <a:srgbClr val="000000"/>
              </a:solidFill>
              <a:miter/>
            </a:ln>
          </a:bottom>
          <a:insideH>
            <a:ln w="12700" cap="flat">
              <a:solidFill>
                <a:srgbClr val="000000"/>
              </a:solidFill>
              <a:miter/>
            </a:ln>
          </a:insideH>
          <a:insideV>
            <a:ln w="12700" cap="flat">
              <a:solidFill>
                <a:srgbClr val="000000"/>
              </a:solidFill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miter/>
            </a:ln>
          </a:left>
          <a:right>
            <a:ln w="12700" cap="flat">
              <a:solidFill>
                <a:srgbClr val="000000"/>
              </a:solidFill>
              <a:miter/>
            </a:ln>
          </a:right>
          <a:top>
            <a:ln w="12700" cap="flat">
              <a:solidFill>
                <a:srgbClr val="000000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solidFill>
                <a:srgbClr val="000000"/>
              </a:solidFill>
              <a:miter/>
            </a:ln>
          </a:insideH>
          <a:insideV>
            <a:ln w="12700" cap="flat">
              <a:solidFill>
                <a:srgbClr val="000000"/>
              </a:solidFill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miter/>
            </a:ln>
          </a:left>
          <a:right>
            <a:ln w="12700" cap="flat">
              <a:solidFill>
                <a:srgbClr val="000000"/>
              </a:solidFill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solidFill>
                <a:srgbClr val="000000"/>
              </a:solidFill>
              <a:prstDash val="solid"/>
              <a:miter/>
            </a:ln>
          </a:bottom>
          <a:insideH>
            <a:ln w="12700" cap="flat">
              <a:solidFill>
                <a:srgbClr val="000000"/>
              </a:solidFill>
              <a:miter/>
            </a:ln>
          </a:insideH>
          <a:insideV>
            <a:ln w="12700" cap="flat">
              <a:solidFill>
                <a:srgbClr val="000000"/>
              </a:solidFill>
              <a:miter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3BA23B1-9221-436E-865A-0063620EA4FD}" styleName="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/>
            </a:ln>
          </a:left>
          <a:right>
            <a:ln w="12700" cap="flat">
              <a:solidFill>
                <a:srgbClr val="ffffff"/>
              </a:solidFill>
              <a:prstDash val="solid"/>
              <a:miter/>
            </a:ln>
          </a:right>
          <a:top>
            <a:ln w="12700" cap="flat">
              <a:solidFill>
                <a:srgbClr val="ffffff"/>
              </a:solidFill>
              <a:prstDash val="solid"/>
              <a:miter/>
            </a:ln>
          </a:top>
          <a:bottom>
            <a:ln w="12700" cap="flat">
              <a:solidFill>
                <a:srgbClr val="ffffff"/>
              </a:solidFill>
              <a:prstDash val="solid"/>
              <a:miter/>
            </a:ln>
          </a:bottom>
          <a:insideH>
            <a:ln w="12700" cap="flat">
              <a:solidFill>
                <a:srgbClr val="ffffff"/>
              </a:solidFill>
              <a:prstDash val="solid"/>
              <a:miter/>
            </a:ln>
          </a:insideH>
          <a:insideV>
            <a:ln w="12700" cap="flat">
              <a:solidFill>
                <a:srgbClr val="ffffff"/>
              </a:solidFill>
              <a:prstDash val="solid"/>
              <a:miter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/>
            </a:ln>
          </a:left>
          <a:right>
            <a:ln w="12700" cap="flat">
              <a:solidFill>
                <a:srgbClr val="ffffff"/>
              </a:solidFill>
              <a:prstDash val="solid"/>
              <a:miter/>
            </a:ln>
          </a:right>
          <a:top>
            <a:ln w="12700" cap="flat">
              <a:solidFill>
                <a:srgbClr val="ffffff"/>
              </a:solidFill>
              <a:prstDash val="solid"/>
              <a:miter/>
            </a:ln>
          </a:top>
          <a:bottom>
            <a:ln w="12700" cap="flat">
              <a:solidFill>
                <a:srgbClr val="ffffff"/>
              </a:solidFill>
              <a:prstDash val="solid"/>
              <a:miter/>
            </a:ln>
          </a:bottom>
          <a:insideH>
            <a:ln w="12700" cap="flat">
              <a:solidFill>
                <a:srgbClr val="ffffff"/>
              </a:solidFill>
              <a:prstDash val="solid"/>
              <a:miter/>
            </a:ln>
          </a:insideH>
          <a:insideV>
            <a:ln w="12700" cap="flat">
              <a:solidFill>
                <a:srgbClr val="ffffff"/>
              </a:solidFill>
              <a:prstDash val="solid"/>
              <a:miter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/>
            </a:ln>
          </a:left>
          <a:right>
            <a:ln w="12700" cap="flat">
              <a:solidFill>
                <a:srgbClr val="ffffff"/>
              </a:solidFill>
              <a:prstDash val="solid"/>
              <a:miter/>
            </a:ln>
          </a:right>
          <a:top>
            <a:ln w="12700" cap="flat">
              <a:solidFill>
                <a:srgbClr val="ffffff"/>
              </a:solidFill>
              <a:prstDash val="solid"/>
              <a:miter/>
            </a:ln>
          </a:top>
          <a:bottom>
            <a:ln w="12700" cap="flat">
              <a:solidFill>
                <a:srgbClr val="ffffff"/>
              </a:solidFill>
              <a:prstDash val="solid"/>
              <a:miter/>
            </a:ln>
          </a:bottom>
          <a:insideH>
            <a:ln w="12700" cap="flat">
              <a:solidFill>
                <a:srgbClr val="ffffff"/>
              </a:solidFill>
              <a:prstDash val="solid"/>
              <a:miter/>
            </a:ln>
          </a:insideH>
          <a:insideV>
            <a:ln w="12700" cap="flat">
              <a:solidFill>
                <a:srgbClr val="ffffff"/>
              </a:solidFill>
              <a:prstDash val="solid"/>
              <a:miter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/>
            </a:ln>
          </a:left>
          <a:right>
            <a:ln w="12700" cap="flat">
              <a:solidFill>
                <a:srgbClr val="ffffff"/>
              </a:solidFill>
              <a:prstDash val="solid"/>
              <a:miter/>
            </a:ln>
          </a:right>
          <a:top>
            <a:ln w="12700" cap="flat">
              <a:solidFill>
                <a:srgbClr val="ffffff"/>
              </a:solidFill>
              <a:prstDash val="solid"/>
              <a:miter/>
            </a:ln>
          </a:top>
          <a:bottom>
            <a:ln w="12700" cap="flat">
              <a:solidFill>
                <a:srgbClr val="ffffff"/>
              </a:solidFill>
              <a:prstDash val="solid"/>
              <a:miter/>
            </a:ln>
          </a:bottom>
          <a:insideH>
            <a:ln w="12700" cap="flat">
              <a:solidFill>
                <a:srgbClr val="ffffff"/>
              </a:solidFill>
              <a:prstDash val="solid"/>
              <a:miter/>
            </a:ln>
          </a:insideH>
          <a:insideV>
            <a:ln w="12700" cap="flat">
              <a:solidFill>
                <a:srgbClr val="ffffff"/>
              </a:solidFill>
              <a:prstDash val="solid"/>
              <a:miter/>
            </a:ln>
          </a:insideV>
        </a:tcBdr>
        <a:fill>
          <a:solidFill>
            <a:srgbClr val="798089"/>
          </a:solidFill>
        </a:fill>
      </a:tcStyle>
    </a:firstRow>
  </a:tblStyle>
  <a:tblStyle styleId="{CF821DB8-F4EB-4A41-A1BA-3FCAFE7338EE}" styleName="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/>
            </a:ln>
          </a:left>
          <a:right>
            <a:ln w="12700" cap="flat">
              <a:solidFill>
                <a:srgbClr val="a6aaa9"/>
              </a:solidFill>
              <a:prstDash val="solid"/>
              <a:miter/>
            </a:ln>
          </a:right>
          <a:top>
            <a:ln w="12700" cap="flat">
              <a:solidFill>
                <a:srgbClr val="a6aaa9"/>
              </a:solidFill>
              <a:prstDash val="solid"/>
              <a:miter/>
            </a:ln>
          </a:top>
          <a:bottom>
            <a:ln w="12700" cap="flat">
              <a:solidFill>
                <a:srgbClr val="a6aaa9"/>
              </a:solidFill>
              <a:prstDash val="solid"/>
              <a:miter/>
            </a:ln>
          </a:bottom>
          <a:insideH>
            <a:ln w="12700" cap="flat">
              <a:solidFill>
                <a:srgbClr val="a6aaa9"/>
              </a:solidFill>
              <a:prstDash val="solid"/>
              <a:miter/>
            </a:ln>
          </a:insideH>
          <a:insideV>
            <a:ln w="12700" cap="flat">
              <a:solidFill>
                <a:srgbClr val="a6aaa9"/>
              </a:solidFill>
              <a:prstDash val="solid"/>
              <a:miter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/>
            </a:ln>
          </a:left>
          <a:right>
            <a:ln w="12700" cap="flat">
              <a:solidFill>
                <a:srgbClr val="a6aaa9"/>
              </a:solidFill>
              <a:prstDash val="solid"/>
              <a:miter/>
            </a:ln>
          </a:right>
          <a:top>
            <a:ln w="12700" cap="flat">
              <a:solidFill>
                <a:srgbClr val="a6aaa9"/>
              </a:solidFill>
              <a:prstDash val="solid"/>
              <a:miter/>
            </a:ln>
          </a:top>
          <a:bottom>
            <a:ln w="12700" cap="flat">
              <a:solidFill>
                <a:srgbClr val="a6aaa9"/>
              </a:solidFill>
              <a:prstDash val="solid"/>
              <a:miter/>
            </a:ln>
          </a:bottom>
          <a:insideH>
            <a:ln w="12700" cap="flat">
              <a:solidFill>
                <a:srgbClr val="a6aaa9"/>
              </a:solidFill>
              <a:prstDash val="solid"/>
              <a:miter/>
            </a:ln>
          </a:insideH>
          <a:insideV>
            <a:ln w="12700" cap="flat">
              <a:solidFill>
                <a:srgbClr val="a6aaa9"/>
              </a:solidFill>
              <a:prstDash val="solid"/>
              <a:miter/>
            </a:ln>
          </a:insideV>
        </a:tcBdr>
        <a:fill>
          <a:solidFill>
            <a:schemeClr val="accent6">
              <a:hueOff val="-146070"/>
              <a:satOff val="-10050"/>
              <a:lumOff val="-30630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/>
            </a:ln>
          </a:left>
          <a:right>
            <a:ln w="12700" cap="flat">
              <a:solidFill>
                <a:srgbClr val="a6aaa9"/>
              </a:solidFill>
              <a:prstDash val="solid"/>
              <a:miter/>
            </a:ln>
          </a:right>
          <a:top>
            <a:ln w="12700" cap="flat">
              <a:solidFill>
                <a:srgbClr val="a6aaa9"/>
              </a:solidFill>
              <a:prstDash val="solid"/>
              <a:miter/>
            </a:ln>
          </a:top>
          <a:bottom>
            <a:ln w="12700" cap="flat">
              <a:solidFill>
                <a:srgbClr val="a6aaa9"/>
              </a:solidFill>
              <a:prstDash val="solid"/>
              <a:miter/>
            </a:ln>
          </a:bottom>
          <a:insideH>
            <a:ln w="12700" cap="flat">
              <a:solidFill>
                <a:srgbClr val="a6aaa9"/>
              </a:solidFill>
              <a:prstDash val="solid"/>
              <a:miter/>
            </a:ln>
          </a:insideH>
          <a:insideV>
            <a:ln w="12700" cap="flat">
              <a:solidFill>
                <a:srgbClr val="a6aaa9"/>
              </a:solidFill>
              <a:prstDash val="solid"/>
              <a:miter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/>
            </a:ln>
          </a:left>
          <a:right>
            <a:ln w="12700" cap="flat">
              <a:solidFill>
                <a:srgbClr val="a6aaa9"/>
              </a:solidFill>
              <a:prstDash val="solid"/>
              <a:miter/>
            </a:ln>
          </a:right>
          <a:top>
            <a:ln w="12700" cap="flat">
              <a:solidFill>
                <a:srgbClr val="a6aaa9"/>
              </a:solidFill>
              <a:prstDash val="solid"/>
              <a:miter/>
            </a:ln>
          </a:top>
          <a:bottom>
            <a:ln w="12700" cap="flat">
              <a:solidFill>
                <a:srgbClr val="a6aaa9"/>
              </a:solidFill>
              <a:prstDash val="solid"/>
              <a:miter/>
            </a:ln>
          </a:bottom>
          <a:insideH>
            <a:ln w="12700" cap="flat">
              <a:solidFill>
                <a:srgbClr val="a6aaa9"/>
              </a:solidFill>
              <a:prstDash val="solid"/>
              <a:miter/>
            </a:ln>
          </a:insideH>
          <a:insideV>
            <a:ln w="12700" cap="flat">
              <a:solidFill>
                <a:srgbClr val="a6aaa9"/>
              </a:solidFill>
              <a:prstDash val="solid"/>
              <a:miter/>
            </a:ln>
          </a:insideV>
        </a:tcBdr>
        <a:fill>
          <a:solidFill>
            <a:srgbClr val="c24785"/>
          </a:solidFill>
        </a:fill>
      </a:tcStyle>
    </a:firstRow>
  </a:tblStyle>
  <a:tblStyle styleId="{C7B018BB-80A7-4F77-B60F-C8B233D01FF8}" styleName="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/>
            </a:ln>
          </a:left>
          <a:right>
            <a:ln w="12700" cap="flat">
              <a:solidFill>
                <a:srgbClr val="b8b8b8"/>
              </a:solidFill>
              <a:prstDash val="solid"/>
              <a:miter/>
            </a:ln>
          </a:right>
          <a:top>
            <a:ln w="12700" cap="flat">
              <a:solidFill>
                <a:srgbClr val="b8b8b8"/>
              </a:solidFill>
              <a:prstDash val="solid"/>
              <a:miter/>
            </a:ln>
          </a:top>
          <a:bottom>
            <a:ln w="12700" cap="flat">
              <a:solidFill>
                <a:srgbClr val="b8b8b8"/>
              </a:solidFill>
              <a:prstDash val="solid"/>
              <a:miter/>
            </a:ln>
          </a:bottom>
          <a:insideH>
            <a:ln w="12700" cap="flat">
              <a:solidFill>
                <a:srgbClr val="b8b8b8"/>
              </a:solidFill>
              <a:prstDash val="solid"/>
              <a:miter/>
            </a:ln>
          </a:insideH>
          <a:insideV>
            <a:ln w="12700" cap="flat">
              <a:solidFill>
                <a:srgbClr val="b8b8b8"/>
              </a:solidFill>
              <a:prstDash val="solid"/>
              <a:miter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/>
            </a:ln>
          </a:left>
          <a:right>
            <a:ln w="12700" cap="flat">
              <a:solidFill>
                <a:srgbClr val="606060"/>
              </a:solidFill>
              <a:prstDash val="solid"/>
              <a:miter/>
            </a:ln>
          </a:right>
          <a:top>
            <a:ln w="12700" cap="flat">
              <a:solidFill>
                <a:srgbClr val="606060"/>
              </a:solidFill>
              <a:prstDash val="solid"/>
              <a:miter/>
            </a:ln>
          </a:top>
          <a:bottom>
            <a:ln w="12700" cap="flat">
              <a:solidFill>
                <a:srgbClr val="606060"/>
              </a:solidFill>
              <a:prstDash val="solid"/>
              <a:miter/>
            </a:ln>
          </a:bottom>
          <a:insideH>
            <a:ln w="12700" cap="flat">
              <a:solidFill>
                <a:srgbClr val="606060"/>
              </a:solidFill>
              <a:prstDash val="solid"/>
              <a:miter/>
            </a:ln>
          </a:insideH>
          <a:insideV>
            <a:ln w="12700" cap="flat">
              <a:solidFill>
                <a:srgbClr val="606060"/>
              </a:solidFill>
              <a:prstDash val="solid"/>
              <a:miter/>
            </a:ln>
          </a:insideV>
        </a:tcBdr>
        <a:fill>
          <a:solidFill>
            <a:schemeClr val="accent3">
              <a:hueOff val="362282"/>
              <a:satOff val="31800"/>
              <a:lumOff val="-18240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/>
            </a:ln>
          </a:left>
          <a:right>
            <a:ln w="12700" cap="flat">
              <a:solidFill>
                <a:srgbClr val="606060"/>
              </a:solidFill>
              <a:prstDash val="solid"/>
              <a:miter/>
            </a:ln>
          </a:right>
          <a:top>
            <a:ln w="25400" cap="flat">
              <a:solidFill>
                <a:srgbClr val="606060"/>
              </a:solidFill>
              <a:prstDash val="solid"/>
              <a:miter/>
            </a:ln>
          </a:top>
          <a:bottom>
            <a:ln w="12700" cap="flat">
              <a:solidFill>
                <a:srgbClr val="606060"/>
              </a:solidFill>
              <a:prstDash val="solid"/>
              <a:miter/>
            </a:ln>
          </a:bottom>
          <a:insideH>
            <a:ln w="12700" cap="flat">
              <a:solidFill>
                <a:srgbClr val="606060"/>
              </a:solidFill>
              <a:prstDash val="solid"/>
              <a:miter/>
            </a:ln>
          </a:insideH>
          <a:insideV>
            <a:ln w="12700" cap="flat">
              <a:solidFill>
                <a:srgbClr val="606060"/>
              </a:solidFill>
              <a:prstDash val="solid"/>
              <a:miter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/>
            </a:ln>
          </a:left>
          <a:right>
            <a:ln w="12700" cap="flat">
              <a:solidFill>
                <a:srgbClr val="929292"/>
              </a:solidFill>
              <a:prstDash val="solid"/>
              <a:miter/>
            </a:ln>
          </a:right>
          <a:top>
            <a:ln w="12700" cap="flat">
              <a:solidFill>
                <a:srgbClr val="606060"/>
              </a:solidFill>
              <a:prstDash val="solid"/>
              <a:miter/>
            </a:ln>
          </a:top>
          <a:bottom>
            <a:ln w="12700" cap="flat">
              <a:solidFill>
                <a:srgbClr val="606060"/>
              </a:solidFill>
              <a:prstDash val="solid"/>
              <a:miter/>
            </a:ln>
          </a:bottom>
          <a:insideH>
            <a:ln w="12700" cap="flat">
              <a:solidFill>
                <a:srgbClr val="929292"/>
              </a:solidFill>
              <a:prstDash val="solid"/>
              <a:miter/>
            </a:ln>
          </a:insideH>
          <a:insideV>
            <a:ln w="12700" cap="flat">
              <a:solidFill>
                <a:srgbClr val="929292"/>
              </a:solidFill>
              <a:prstDash val="solid"/>
              <a:miter/>
            </a:ln>
          </a:insideV>
        </a:tcBdr>
        <a:fill>
          <a:solidFill>
            <a:srgbClr val="01710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8063"/>
    <p:restoredTop sz="94663"/>
  </p:normalViewPr>
  <p:slideViewPr>
    <p:cSldViewPr snapToGrid="0" snapToObjects="1">
      <p:cViewPr varScale="1">
        <p:scale>
          <a:sx n="89" d="100"/>
          <a:sy n="89" d="100"/>
        </p:scale>
        <p:origin x="1424" y="184"/>
      </p:cViewPr>
      <p:guideLst>
        <p:guide orient="horz" pos="3070"/>
        <p:guide pos="4094"/>
        <p:guide pos="30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endParaRPr lang="ko-KR"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이미지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제목 텍스트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2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가운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제목 텍스트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7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이미지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6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341888" y="9296400"/>
            <a:ext cx="314250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Apple SD 산돌고딕 Neo 옅은체"/>
                <a:ea typeface="Apple SD 산돌고딕 Neo 옅은체"/>
                <a:cs typeface="Apple SD 산돌고딕 Neo 옅은체"/>
                <a:sym typeface="Apple SD 산돌고딕 Neo 옅은체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6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4" name="“여기에 인용을 입력하십시오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49191"/>
            <a:ext cx="10464800" cy="6456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“여기에 인용을 입력하십시오.” </a:t>
            </a:r>
          </a:p>
        </p:txBody>
      </p:sp>
      <p:sp>
        <p:nvSpPr>
          <p:cNvPr id="9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이미지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.tif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75444C35-7A48-5D4C-BE7D-593CF9DB25AE}"/>
              </a:ext>
            </a:extLst>
          </p:cNvPr>
          <p:cNvGrpSpPr/>
          <p:nvPr/>
        </p:nvGrpSpPr>
        <p:grpSpPr>
          <a:xfrm>
            <a:off x="2867292" y="2597478"/>
            <a:ext cx="9106878" cy="4558644"/>
            <a:chOff x="2318652" y="2597478"/>
            <a:chExt cx="9106878" cy="455864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12B2B0A-386E-B44B-9E7E-01CDB09012AF}"/>
                </a:ext>
              </a:extLst>
            </p:cNvPr>
            <p:cNvGrpSpPr/>
            <p:nvPr/>
          </p:nvGrpSpPr>
          <p:grpSpPr>
            <a:xfrm>
              <a:off x="2318652" y="2597478"/>
              <a:ext cx="2827240" cy="4558644"/>
              <a:chOff x="2318652" y="2597478"/>
              <a:chExt cx="2827240" cy="4558644"/>
            </a:xfrm>
          </p:grpSpPr>
          <p:sp>
            <p:nvSpPr>
              <p:cNvPr id="5" name="양쪽 모서리가 둥근 사각형 4">
                <a:extLst>
                  <a:ext uri="{FF2B5EF4-FFF2-40B4-BE49-F238E27FC236}">
                    <a16:creationId xmlns:a16="http://schemas.microsoft.com/office/drawing/2014/main" id="{4AE210A6-8727-A541-8CF5-B381DCD6444F}"/>
                  </a:ext>
                </a:extLst>
              </p:cNvPr>
              <p:cNvSpPr/>
              <p:nvPr/>
            </p:nvSpPr>
            <p:spPr>
              <a:xfrm rot="10800000">
                <a:off x="2318652" y="2597478"/>
                <a:ext cx="2827240" cy="4558644"/>
              </a:xfrm>
              <a:prstGeom prst="round2SameRect">
                <a:avLst>
                  <a:gd name="adj1" fmla="val 32925"/>
                  <a:gd name="adj2" fmla="val 0"/>
                </a:avLst>
              </a:prstGeom>
              <a:solidFill>
                <a:schemeClr val="accent1"/>
              </a:solidFill>
              <a:ln w="12700" cap="flat">
                <a:noFill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None/>
                </a:pPr>
                <a:endParaRPr kumimoji="0" lang="ko-KR" altLang="en-US" sz="2200" b="0" i="0" u="none" strike="noStrike" cap="none" spc="0" normalizeH="0" baseline="0" dirty="0">
                  <a:solidFill>
                    <a:srgbClr val="FFFFFF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1468E-9E1D-8B4A-8871-A05DE3EF31A8}"/>
                  </a:ext>
                </a:extLst>
              </p:cNvPr>
              <p:cNvSpPr txBox="1"/>
              <p:nvPr/>
            </p:nvSpPr>
            <p:spPr>
              <a:xfrm>
                <a:off x="2732853" y="3562163"/>
                <a:ext cx="1998836" cy="564257"/>
              </a:xfrm>
              <a:prstGeom prst="rect">
                <a:avLst/>
              </a:prstGeom>
              <a:noFill/>
              <a:ln w="12700" cap="flat">
                <a:noFill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None/>
                </a:pPr>
                <a:r>
                  <a:rPr lang="en-US" altLang="ko-KR" sz="3000" dirty="0">
                    <a:solidFill>
                      <a:schemeClr val="bg1"/>
                    </a:solidFill>
                  </a:rPr>
                  <a:t>CHAPTER</a:t>
                </a:r>
                <a:endParaRPr kumimoji="0" lang="ko-KR" altLang="en-US" sz="3000" b="1" i="0" u="none" strike="noStrike" cap="none" spc="0" normalizeH="0" baseline="0" dirty="0">
                  <a:solidFill>
                    <a:schemeClr val="bg1"/>
                  </a:solidFill>
                  <a:uFillTx/>
                  <a:sym typeface="Helvetica Neue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0A4BDD-EA54-4C4E-AF0D-BA4C927C908A}"/>
                  </a:ext>
                </a:extLst>
              </p:cNvPr>
              <p:cNvSpPr txBox="1"/>
              <p:nvPr/>
            </p:nvSpPr>
            <p:spPr>
              <a:xfrm>
                <a:off x="2953559" y="4270367"/>
                <a:ext cx="1698171" cy="1641475"/>
              </a:xfrm>
              <a:prstGeom prst="rect">
                <a:avLst/>
              </a:prstGeom>
              <a:noFill/>
              <a:ln w="12700" cap="flat">
                <a:noFill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None/>
                </a:pPr>
                <a:r>
                  <a:rPr kumimoji="0" lang="en-US" altLang="ko-KR" sz="10000" b="1" i="0" u="none" strike="noStrike" cap="none" spc="0" normalizeH="0" baseline="0" dirty="0">
                    <a:solidFill>
                      <a:schemeClr val="bg1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rPr>
                  <a:t>01</a:t>
                </a:r>
                <a:endParaRPr kumimoji="0" lang="ko-KR" altLang="en-US" sz="10000" b="1" i="0" u="none" strike="noStrike" cap="none" spc="0" normalizeH="0" baseline="0" dirty="0">
                  <a:solidFill>
                    <a:schemeClr val="bg1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18DC35-DFF1-8F4B-B1EF-4DCF74669D65}"/>
                </a:ext>
              </a:extLst>
            </p:cNvPr>
            <p:cNvSpPr txBox="1"/>
            <p:nvPr/>
          </p:nvSpPr>
          <p:spPr>
            <a:xfrm>
              <a:off x="5780800" y="3094260"/>
              <a:ext cx="5644730" cy="3565079"/>
            </a:xfrm>
            <a:prstGeom prst="rect">
              <a:avLst/>
            </a:prstGeom>
            <a:noFill/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lang="ko-KR" altLang="en-US" sz="5000" dirty="0" err="1">
                  <a:solidFill>
                    <a:srgbClr val="000000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</a:rPr>
                <a:t>파이썬</a:t>
              </a:r>
              <a:r>
                <a:rPr lang="ko-KR" altLang="en-US" sz="5000" dirty="0">
                  <a:solidFill>
                    <a:srgbClr val="000000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</a:rPr>
                <a:t> 기반의 </a:t>
              </a:r>
              <a:endParaRPr lang="en-US" altLang="ko-KR" sz="5000" dirty="0">
                <a:solidFill>
                  <a:srgbClr val="000000"/>
                </a:solidFill>
                <a:latin typeface="Nanum Gothic" panose="020D0604000000000000" pitchFamily="34" charset="-127"/>
                <a:ea typeface="Nanum Gothic" panose="020D0604000000000000" pitchFamily="34" charset="-127"/>
              </a:endParaRPr>
            </a:p>
            <a:p>
              <a:pPr marL="0" marR="0" indent="0" algn="l" defTabSz="5842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lang="ko-KR" altLang="en-US" sz="5000" dirty="0">
                  <a:solidFill>
                    <a:srgbClr val="000000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</a:rPr>
                <a:t>머신 러닝과 </a:t>
              </a:r>
              <a:endParaRPr lang="en-US" altLang="ko-KR" sz="5000" dirty="0">
                <a:solidFill>
                  <a:srgbClr val="000000"/>
                </a:solidFill>
                <a:latin typeface="Nanum Gothic" panose="020D0604000000000000" pitchFamily="34" charset="-127"/>
                <a:ea typeface="Nanum Gothic" panose="020D0604000000000000" pitchFamily="34" charset="-127"/>
              </a:endParaRPr>
            </a:p>
            <a:p>
              <a:pPr marL="0" marR="0" indent="0" algn="l" defTabSz="58420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lang="ko-KR" altLang="en-US" sz="5000" dirty="0">
                  <a:solidFill>
                    <a:srgbClr val="000000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</a:rPr>
                <a:t>생태계 이해</a:t>
              </a:r>
              <a:endParaRPr kumimoji="0" lang="ko-KR" altLang="en-US" sz="5000" u="none" strike="noStrike" cap="none" spc="0" normalizeH="0" baseline="0" dirty="0">
                <a:solidFill>
                  <a:srgbClr val="000000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sym typeface="Helvetica Neue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C8BE1B-5134-C542-A39D-2B41507D90AB}"/>
              </a:ext>
            </a:extLst>
          </p:cNvPr>
          <p:cNvSpPr txBox="1"/>
          <p:nvPr/>
        </p:nvSpPr>
        <p:spPr>
          <a:xfrm>
            <a:off x="2280355" y="9356598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CUAI Study Group 1 | https://</a:t>
            </a:r>
            <a:r>
              <a:rPr lang="en-US" altLang="ko-KR" sz="1300" b="0" dirty="0" err="1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www.github.com</a:t>
            </a:r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/CUAI-Group-1</a:t>
            </a:r>
            <a:endParaRPr kumimoji="0" lang="ko-KR" altLang="en-US" sz="1300" b="0" u="none" strike="noStrike" cap="none" spc="0" normalizeH="0" baseline="0" dirty="0">
              <a:solidFill>
                <a:schemeClr val="tx1"/>
              </a:solidFill>
              <a:uFillTx/>
              <a:latin typeface="Nanum Gothic" panose="020D0604000000000000" pitchFamily="34" charset="-127"/>
              <a:ea typeface="Nanum Gothic" panose="020D0604000000000000" pitchFamily="34" charset="-127"/>
              <a:sym typeface="Helvetica Neue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31ED607-DD6F-E848-AEC7-68BAE92BE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8989" y="493776"/>
            <a:ext cx="1701366" cy="17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0688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>
            <a:extLst>
              <a:ext uri="{FF2B5EF4-FFF2-40B4-BE49-F238E27FC236}">
                <a16:creationId xmlns:a16="http://schemas.microsoft.com/office/drawing/2014/main" id="{647474FE-D6FA-1B46-BA7A-C0155AC79F85}"/>
              </a:ext>
            </a:extLst>
          </p:cNvPr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ko-KR" altLang="en-US" sz="2200" b="0" i="0" u="none" strike="noStrike" cap="none" spc="0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B7668-7B54-DB46-956B-31B5180A644D}"/>
              </a:ext>
            </a:extLst>
          </p:cNvPr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ko-KR" sz="1300" dirty="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 dirty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3266B-4C34-7048-8D95-A72A08D8BB30}"/>
              </a:ext>
            </a:extLst>
          </p:cNvPr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5000" b="1" i="0" u="none" strike="noStrike" cap="none" spc="0" normalizeH="0" baseline="0" dirty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 dirty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B6743-CD9D-9E41-94C4-9F4611EFE177}"/>
              </a:ext>
            </a:extLst>
          </p:cNvPr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ko-KR" altLang="en-US" b="0" dirty="0" err="1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파이썬</a:t>
            </a:r>
            <a:r>
              <a:rPr lang="ko-KR" altLang="en-US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기반의 머신 러닝과 생태계 이해</a:t>
            </a:r>
            <a:endParaRPr kumimoji="0" lang="ko-KR" altLang="en-US" sz="24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BB0EA-F2D4-164A-802A-21263BBB88FE}"/>
              </a:ext>
            </a:extLst>
          </p:cNvPr>
          <p:cNvSpPr txBox="1"/>
          <p:nvPr/>
        </p:nvSpPr>
        <p:spPr>
          <a:xfrm>
            <a:off x="1616743" y="763184"/>
            <a:ext cx="8093530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4000" b="1" i="0" u="none" strike="noStrike" cap="none" spc="0" normalizeH="0" baseline="0" dirty="0">
                <a:solidFill>
                  <a:srgbClr val="000000"/>
                </a:solidFill>
                <a:uFillTx/>
                <a:latin typeface="NanumBarunGothic" panose="020B0603020101020101" pitchFamily="34" charset="-127"/>
                <a:ea typeface="NanumBarunGothic" panose="020B0603020101020101" pitchFamily="34" charset="-127"/>
                <a:sym typeface="Helvetica Neue"/>
              </a:rPr>
              <a:t>Contents</a:t>
            </a:r>
            <a:endParaRPr kumimoji="0" lang="ko-KR" altLang="en-US" sz="4000" b="1" i="0" u="none" strike="noStrike" cap="none" spc="0" normalizeH="0" baseline="0" dirty="0">
              <a:solidFill>
                <a:srgbClr val="000000"/>
              </a:solidFill>
              <a:uFillTx/>
              <a:latin typeface="NanumBarunGothic" panose="020B0603020101020101" pitchFamily="34" charset="-127"/>
              <a:ea typeface="NanumBarunGothic" panose="020B0603020101020101" pitchFamily="34" charset="-127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59FCF-89EE-C049-96CC-3EDF5D315CB1}"/>
              </a:ext>
            </a:extLst>
          </p:cNvPr>
          <p:cNvSpPr txBox="1"/>
          <p:nvPr/>
        </p:nvSpPr>
        <p:spPr>
          <a:xfrm>
            <a:off x="2280355" y="9356598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CUAI Study Group 1 | https://</a:t>
            </a:r>
            <a:r>
              <a:rPr lang="en-US" altLang="ko-KR" sz="1300" b="0" dirty="0" err="1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www.github.com</a:t>
            </a:r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/CUAI-Group-1</a:t>
            </a:r>
            <a:endParaRPr kumimoji="0" lang="ko-KR" altLang="en-US" sz="1300" b="0" u="none" strike="noStrike" cap="none" spc="0" normalizeH="0" baseline="0" dirty="0">
              <a:solidFill>
                <a:schemeClr val="tx1"/>
              </a:solidFill>
              <a:uFillTx/>
              <a:latin typeface="Nanum Gothic" panose="020D0604000000000000" pitchFamily="34" charset="-127"/>
              <a:ea typeface="Nanum Gothic" panose="020D0604000000000000" pitchFamily="34" charset="-127"/>
              <a:sym typeface="Helvetica Neue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D7B5F61-58EE-C649-AE37-70F0FE24B36F}"/>
              </a:ext>
            </a:extLst>
          </p:cNvPr>
          <p:cNvGrpSpPr/>
          <p:nvPr/>
        </p:nvGrpSpPr>
        <p:grpSpPr>
          <a:xfrm>
            <a:off x="1840087" y="2438227"/>
            <a:ext cx="9324623" cy="5961472"/>
            <a:chOff x="1840088" y="2367687"/>
            <a:chExt cx="9324623" cy="5961472"/>
          </a:xfrm>
        </p:grpSpPr>
        <p:sp>
          <p:nvSpPr>
            <p:cNvPr id="2" name="모서리가 둥근 직사각형 1">
              <a:extLst>
                <a:ext uri="{FF2B5EF4-FFF2-40B4-BE49-F238E27FC236}">
                  <a16:creationId xmlns:a16="http://schemas.microsoft.com/office/drawing/2014/main" id="{712AFA9A-1138-6B4D-A0F1-91E455C04F93}"/>
                </a:ext>
              </a:extLst>
            </p:cNvPr>
            <p:cNvSpPr/>
            <p:nvPr/>
          </p:nvSpPr>
          <p:spPr>
            <a:xfrm>
              <a:off x="1840088" y="2367687"/>
              <a:ext cx="9324622" cy="72853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2700" b="0" i="0" u="none" strike="noStrike" cap="none" spc="0" normalizeH="0" baseline="0" dirty="0">
                  <a:solidFill>
                    <a:srgbClr val="FFFFFF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rPr>
                <a:t>	</a:t>
              </a:r>
              <a:r>
                <a:rPr kumimoji="0" lang="ko-KR" altLang="en-US" sz="2700" u="none" strike="noStrike" cap="none" spc="0" normalizeH="0" baseline="0" dirty="0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머신 러닝의 개념</a:t>
              </a: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3721312-E7E4-D74D-8932-A2FCC8DCF82B}"/>
                </a:ext>
              </a:extLst>
            </p:cNvPr>
            <p:cNvSpPr/>
            <p:nvPr/>
          </p:nvSpPr>
          <p:spPr>
            <a:xfrm>
              <a:off x="1941688" y="2465063"/>
              <a:ext cx="519289" cy="533777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1800" u="none" strike="noStrike" cap="none" spc="0" normalizeH="0" baseline="0" dirty="0">
                  <a:solidFill>
                    <a:schemeClr val="tx1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1</a:t>
              </a:r>
              <a:endParaRPr kumimoji="0" lang="ko-KR" altLang="en-US" sz="1800" u="none" strike="noStrike" cap="none" spc="0" normalizeH="0" baseline="0" dirty="0">
                <a:solidFill>
                  <a:schemeClr val="tx1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cs typeface="+mn-cs"/>
                <a:sym typeface="Helvetica Neue Medium"/>
              </a:endParaRPr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20978571-DB79-5543-9E20-00F1C286DC14}"/>
                </a:ext>
              </a:extLst>
            </p:cNvPr>
            <p:cNvSpPr/>
            <p:nvPr/>
          </p:nvSpPr>
          <p:spPr>
            <a:xfrm>
              <a:off x="1840088" y="3640847"/>
              <a:ext cx="9324622" cy="72853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2700" b="0" i="0" u="none" strike="noStrike" cap="none" spc="0" normalizeH="0" baseline="0" dirty="0">
                  <a:solidFill>
                    <a:srgbClr val="FFFFFF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rPr>
                <a:t>	</a:t>
              </a:r>
              <a:r>
                <a:rPr kumimoji="0" lang="ko-KR" altLang="en-US" sz="2700" u="none" strike="noStrike" cap="none" spc="0" normalizeH="0" baseline="0" dirty="0" err="1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파이썬</a:t>
              </a:r>
              <a:r>
                <a:rPr kumimoji="0" lang="ko-KR" altLang="en-US" sz="2700" u="none" strike="noStrike" cap="none" spc="0" normalizeH="0" baseline="0" dirty="0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 머신 러닝 주요 패키지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3F7310-6393-8247-87D4-EDAC9B211DED}"/>
                </a:ext>
              </a:extLst>
            </p:cNvPr>
            <p:cNvSpPr/>
            <p:nvPr/>
          </p:nvSpPr>
          <p:spPr>
            <a:xfrm>
              <a:off x="1941688" y="3738223"/>
              <a:ext cx="519289" cy="533777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lang="en-US" altLang="ko-KR" sz="1800" dirty="0">
                  <a:solidFill>
                    <a:schemeClr val="tx1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2</a:t>
              </a:r>
              <a:endParaRPr kumimoji="0" lang="ko-KR" altLang="en-US" sz="1800" u="none" strike="noStrike" cap="none" spc="0" normalizeH="0" baseline="0" dirty="0">
                <a:solidFill>
                  <a:schemeClr val="tx1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cs typeface="+mn-cs"/>
                <a:sym typeface="Helvetica Neue Medium"/>
              </a:endParaRPr>
            </a:p>
          </p:txBody>
        </p: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3ABF4EB4-F6AC-BC4E-870D-B80B36DA3711}"/>
                </a:ext>
              </a:extLst>
            </p:cNvPr>
            <p:cNvSpPr/>
            <p:nvPr/>
          </p:nvSpPr>
          <p:spPr>
            <a:xfrm>
              <a:off x="1840088" y="4974883"/>
              <a:ext cx="9324622" cy="72853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altLang="ko-KR" sz="2700" b="0" dirty="0">
                  <a:solidFill>
                    <a:srgbClr val="FFFFFF"/>
                  </a:solidFill>
                  <a:sym typeface="Helvetica Neue Medium"/>
                </a:rPr>
                <a:t>	</a:t>
              </a:r>
              <a:r>
                <a:rPr lang="ko-KR" altLang="en-US" sz="2700" dirty="0" err="1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sym typeface="Helvetica Neue Medium"/>
                </a:rPr>
                <a:t>넘파이</a:t>
              </a:r>
              <a:r>
                <a:rPr lang="ko-KR" altLang="en-US" sz="2700" dirty="0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sym typeface="Helvetica Neue Medium"/>
                </a:rPr>
                <a:t> </a:t>
              </a:r>
              <a:r>
                <a:rPr lang="en-US" altLang="ko-KR" sz="2700" dirty="0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sym typeface="Helvetica Neue Medium"/>
                </a:rPr>
                <a:t>(</a:t>
              </a:r>
              <a:r>
                <a:rPr lang="en-US" altLang="ko-KR" sz="2700" dirty="0" err="1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sym typeface="Helvetica Neue Medium"/>
                </a:rPr>
                <a:t>Numpy</a:t>
              </a:r>
              <a:r>
                <a:rPr lang="en-US" altLang="ko-KR" sz="2700" dirty="0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sym typeface="Helvetica Neue Medium"/>
                </a:rPr>
                <a:t>)</a:t>
              </a:r>
              <a:endParaRPr lang="ko-KR" altLang="en-US" sz="2700" dirty="0">
                <a:solidFill>
                  <a:srgbClr val="FFFFFF"/>
                </a:solidFill>
                <a:latin typeface="Nanum Gothic" panose="020D0604000000000000" pitchFamily="34" charset="-127"/>
                <a:ea typeface="Nanum Gothic" panose="020D0604000000000000" pitchFamily="34" charset="-127"/>
                <a:sym typeface="Helvetica Neue Medium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EE2A392-8648-8349-8824-926796D88586}"/>
                </a:ext>
              </a:extLst>
            </p:cNvPr>
            <p:cNvSpPr/>
            <p:nvPr/>
          </p:nvSpPr>
          <p:spPr>
            <a:xfrm>
              <a:off x="1941688" y="5072259"/>
              <a:ext cx="519289" cy="533777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lang="en-US" altLang="ko-KR" sz="1800" dirty="0">
                  <a:solidFill>
                    <a:schemeClr val="tx1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3</a:t>
              </a:r>
              <a:endParaRPr kumimoji="0" lang="ko-KR" altLang="en-US" sz="1800" u="none" strike="noStrike" cap="none" spc="0" normalizeH="0" baseline="0" dirty="0">
                <a:solidFill>
                  <a:schemeClr val="tx1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cs typeface="+mn-cs"/>
                <a:sym typeface="Helvetica Neue Medium"/>
              </a:endParaRPr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9C0D1055-8DFE-7741-A98B-0EC5DEFF4E7C}"/>
                </a:ext>
              </a:extLst>
            </p:cNvPr>
            <p:cNvSpPr/>
            <p:nvPr/>
          </p:nvSpPr>
          <p:spPr>
            <a:xfrm>
              <a:off x="1840089" y="6287754"/>
              <a:ext cx="9324622" cy="72853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2700" b="0" i="0" u="none" strike="noStrike" cap="none" spc="0" normalizeH="0" baseline="0" dirty="0">
                  <a:solidFill>
                    <a:srgbClr val="FFFFFF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rPr>
                <a:t>	</a:t>
              </a:r>
              <a:r>
                <a:rPr kumimoji="0" lang="ko-KR" altLang="en-US" sz="2700" u="none" strike="noStrike" cap="none" spc="0" normalizeH="0" baseline="0" dirty="0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데이터 핸들링 </a:t>
              </a:r>
              <a:r>
                <a:rPr kumimoji="0" lang="en-US" altLang="ko-KR" sz="2700" u="none" strike="noStrike" cap="none" spc="0" normalizeH="0" baseline="0" dirty="0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–</a:t>
              </a:r>
              <a:r>
                <a:rPr kumimoji="0" lang="ko-KR" altLang="en-US" sz="2700" u="none" strike="noStrike" cap="none" spc="0" normalizeH="0" baseline="0" dirty="0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 </a:t>
              </a:r>
              <a:r>
                <a:rPr lang="ko-KR" altLang="en-US" sz="2700" dirty="0" err="1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판다스</a:t>
              </a:r>
              <a:r>
                <a:rPr lang="ko-KR" altLang="en-US" sz="2700" dirty="0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 </a:t>
              </a:r>
              <a:r>
                <a:rPr lang="en-US" altLang="ko-KR" sz="2700" dirty="0">
                  <a:solidFill>
                    <a:srgbClr val="FFFFFF"/>
                  </a:solidFill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(Pandas)</a:t>
              </a:r>
              <a:endParaRPr kumimoji="0" lang="ko-KR" altLang="en-US" sz="2700" u="none" strike="noStrike" cap="none" spc="0" normalizeH="0" baseline="0" dirty="0">
                <a:solidFill>
                  <a:srgbClr val="FFFFFF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cs typeface="+mn-cs"/>
                <a:sym typeface="Helvetica Neue Medium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FF12DD7-6EEE-5042-BFBE-9AAED1B85FD8}"/>
                </a:ext>
              </a:extLst>
            </p:cNvPr>
            <p:cNvSpPr/>
            <p:nvPr/>
          </p:nvSpPr>
          <p:spPr>
            <a:xfrm>
              <a:off x="1941689" y="6385130"/>
              <a:ext cx="519289" cy="533777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1800" u="none" strike="noStrike" cap="none" spc="0" normalizeH="0" baseline="0" dirty="0">
                  <a:solidFill>
                    <a:schemeClr val="tx1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4</a:t>
              </a:r>
              <a:endParaRPr kumimoji="0" lang="ko-KR" altLang="en-US" sz="1800" u="none" strike="noStrike" cap="none" spc="0" normalizeH="0" baseline="0" dirty="0">
                <a:solidFill>
                  <a:schemeClr val="tx1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cs typeface="+mn-cs"/>
                <a:sym typeface="Helvetica Neue Medium"/>
              </a:endParaRPr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4A5827C6-F475-7B4D-8BC9-CBE2221E95E0}"/>
                </a:ext>
              </a:extLst>
            </p:cNvPr>
            <p:cNvSpPr/>
            <p:nvPr/>
          </p:nvSpPr>
          <p:spPr>
            <a:xfrm>
              <a:off x="1840089" y="7600625"/>
              <a:ext cx="9324622" cy="72853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2700" b="0" i="0" u="none" strike="noStrike" cap="none" spc="0" normalizeH="0" baseline="0" dirty="0">
                  <a:solidFill>
                    <a:srgbClr val="FFFFFF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rPr>
                <a:t>	</a:t>
              </a:r>
              <a:r>
                <a:rPr kumimoji="0" lang="ko-KR" altLang="en-US" sz="2700" u="none" strike="noStrike" cap="none" spc="0" normalizeH="0" baseline="0" dirty="0">
                  <a:solidFill>
                    <a:srgbClr val="FFFFFF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과제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1BC5B0D-A768-6746-BE81-36F4FA3F74AA}"/>
                </a:ext>
              </a:extLst>
            </p:cNvPr>
            <p:cNvSpPr/>
            <p:nvPr/>
          </p:nvSpPr>
          <p:spPr>
            <a:xfrm>
              <a:off x="1941689" y="7698001"/>
              <a:ext cx="519289" cy="533777"/>
            </a:xfrm>
            <a:prstGeom prst="ellipse">
              <a:avLst/>
            </a:prstGeom>
            <a:solidFill>
              <a:schemeClr val="bg1"/>
            </a:solidFill>
            <a:ln w="12700" cap="flat">
              <a:noFill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ko-KR" sz="1800" u="none" strike="noStrike" cap="none" spc="0" normalizeH="0" baseline="0" dirty="0">
                  <a:solidFill>
                    <a:schemeClr val="tx1"/>
                  </a:solidFill>
                  <a:uFillTx/>
                  <a:latin typeface="Nanum Gothic" panose="020D0604000000000000" pitchFamily="34" charset="-127"/>
                  <a:ea typeface="Nanum Gothic" panose="020D0604000000000000" pitchFamily="34" charset="-127"/>
                  <a:cs typeface="+mn-cs"/>
                  <a:sym typeface="Helvetica Neue Medium"/>
                </a:rPr>
                <a:t>5</a:t>
              </a:r>
              <a:endParaRPr kumimoji="0" lang="ko-KR" altLang="en-US" sz="1800" u="none" strike="noStrike" cap="none" spc="0" normalizeH="0" baseline="0" dirty="0">
                <a:solidFill>
                  <a:schemeClr val="tx1"/>
                </a:solidFill>
                <a:uFillTx/>
                <a:latin typeface="Nanum Gothic" panose="020D0604000000000000" pitchFamily="34" charset="-127"/>
                <a:ea typeface="Nanum Gothic" panose="020D0604000000000000" pitchFamily="34" charset="-127"/>
                <a:cs typeface="+mn-cs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68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>
            <a:extLst>
              <a:ext uri="{FF2B5EF4-FFF2-40B4-BE49-F238E27FC236}">
                <a16:creationId xmlns:a16="http://schemas.microsoft.com/office/drawing/2014/main" id="{647474FE-D6FA-1B46-BA7A-C0155AC79F85}"/>
              </a:ext>
            </a:extLst>
          </p:cNvPr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ko-KR" altLang="en-US" sz="2200" b="0" i="0" u="none" strike="noStrike" cap="none" spc="0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B7668-7B54-DB46-956B-31B5180A644D}"/>
              </a:ext>
            </a:extLst>
          </p:cNvPr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ko-KR" sz="1300" dirty="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 dirty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3266B-4C34-7048-8D95-A72A08D8BB30}"/>
              </a:ext>
            </a:extLst>
          </p:cNvPr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5000" b="1" i="0" u="none" strike="noStrike" cap="none" spc="0" normalizeH="0" baseline="0" dirty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 dirty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B6743-CD9D-9E41-94C4-9F4611EFE177}"/>
              </a:ext>
            </a:extLst>
          </p:cNvPr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ko-KR" altLang="en-US" b="0" dirty="0" err="1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파이썬</a:t>
            </a:r>
            <a:r>
              <a:rPr lang="ko-KR" altLang="en-US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기반의 머신 러닝과 생태계 이해</a:t>
            </a:r>
            <a:endParaRPr kumimoji="0" lang="ko-KR" altLang="en-US" sz="24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BB0EA-F2D4-164A-802A-21263BBB88FE}"/>
              </a:ext>
            </a:extLst>
          </p:cNvPr>
          <p:cNvSpPr txBox="1"/>
          <p:nvPr/>
        </p:nvSpPr>
        <p:spPr>
          <a:xfrm>
            <a:off x="1616743" y="763184"/>
            <a:ext cx="8093530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4000" b="1" i="0" u="none" strike="noStrike" cap="none" spc="0" normalizeH="0" baseline="0" dirty="0">
                <a:solidFill>
                  <a:srgbClr val="000000"/>
                </a:solidFill>
                <a:uFillTx/>
                <a:latin typeface="NanumBarunGothic" panose="020B0603020101020101" pitchFamily="34" charset="-127"/>
                <a:ea typeface="NanumBarunGothic" panose="020B0603020101020101" pitchFamily="34" charset="-127"/>
                <a:sym typeface="Helvetica Neue"/>
              </a:rPr>
              <a:t>1.</a:t>
            </a:r>
            <a:r>
              <a:rPr kumimoji="0" lang="ko-KR" altLang="en-US" sz="4000" b="1" i="0" u="none" strike="noStrike" cap="none" spc="0" normalizeH="0" baseline="0" dirty="0">
                <a:solidFill>
                  <a:srgbClr val="000000"/>
                </a:solidFill>
                <a:uFillTx/>
                <a:latin typeface="NanumBarunGothic" panose="020B0603020101020101" pitchFamily="34" charset="-127"/>
                <a:ea typeface="NanumBarunGothic" panose="020B0603020101020101" pitchFamily="34" charset="-127"/>
                <a:sym typeface="Helvetica Neue"/>
              </a:rPr>
              <a:t> 머신 러닝의 개념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800BED-1027-7C4D-A1BB-02CD9867D32D}"/>
              </a:ext>
            </a:extLst>
          </p:cNvPr>
          <p:cNvSpPr txBox="1"/>
          <p:nvPr/>
        </p:nvSpPr>
        <p:spPr>
          <a:xfrm>
            <a:off x="1238033" y="2966740"/>
            <a:ext cx="11070302" cy="102592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ts val="358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ko-KR" altLang="en-US" sz="24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sym typeface="Helvetica Neue"/>
              </a:rPr>
              <a:t> 애플리케이선을 수정하지 않고도 데이터를 기반으로 패턴을 학습하고 결과를 예측하는 알고리즘 기법을 의미합니다</a:t>
            </a:r>
            <a:r>
              <a:rPr kumimoji="0" lang="en-US" altLang="ko-KR" sz="24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sym typeface="Helvetica Neue"/>
              </a:rPr>
              <a:t>.</a:t>
            </a:r>
            <a:endParaRPr kumimoji="0" lang="ko-KR" altLang="en-US" sz="2400" b="0" u="none" strike="noStrike" cap="none" spc="0" normalizeH="0" baseline="0" dirty="0">
              <a:solidFill>
                <a:srgbClr val="000000"/>
              </a:solidFill>
              <a:uFillTx/>
              <a:latin typeface="NanumBarunGothic UltraLight" panose="020B0603020101020101" pitchFamily="34" charset="-127"/>
              <a:ea typeface="NanumBarunGothic UltraLight" panose="020B0603020101020101" pitchFamily="34" charset="-127"/>
              <a:sym typeface="Helvetica Neue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06C1B3D-B0E1-C54A-9F12-7AC3615A86A0}"/>
              </a:ext>
            </a:extLst>
          </p:cNvPr>
          <p:cNvSpPr/>
          <p:nvPr/>
        </p:nvSpPr>
        <p:spPr>
          <a:xfrm>
            <a:off x="952497" y="2073277"/>
            <a:ext cx="4241295" cy="50510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r>
              <a:rPr lang="ko-KR" altLang="en-US" sz="2300" b="0" dirty="0">
                <a:solidFill>
                  <a:schemeClr val="bg1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머신 러닝 </a:t>
            </a:r>
            <a:r>
              <a:rPr lang="en-US" altLang="ko-KR" sz="2300" b="0" dirty="0">
                <a:solidFill>
                  <a:schemeClr val="bg1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(Machine Learning)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EAB20EB-DB39-4E42-B758-A5FB6C4B58D8}"/>
              </a:ext>
            </a:extLst>
          </p:cNvPr>
          <p:cNvSpPr/>
          <p:nvPr/>
        </p:nvSpPr>
        <p:spPr>
          <a:xfrm>
            <a:off x="952497" y="2723622"/>
            <a:ext cx="11070302" cy="1519194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CEED643-AEA3-274C-A56D-3976914E3F8A}"/>
              </a:ext>
            </a:extLst>
          </p:cNvPr>
          <p:cNvSpPr/>
          <p:nvPr/>
        </p:nvSpPr>
        <p:spPr>
          <a:xfrm>
            <a:off x="952497" y="4624248"/>
            <a:ext cx="4241295" cy="505103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r>
              <a:rPr lang="ko-KR" altLang="en-US" sz="2300" b="0" dirty="0">
                <a:solidFill>
                  <a:schemeClr val="bg1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머신 러닝의 분류</a:t>
            </a:r>
            <a:endParaRPr lang="en-US" altLang="ko-KR" sz="2300" b="0" dirty="0">
              <a:solidFill>
                <a:schemeClr val="bg1"/>
              </a:solidFill>
              <a:latin typeface="NanumBarunGothic Light" panose="020B0603020101020101" pitchFamily="34" charset="-127"/>
              <a:ea typeface="NanumBarunGothic Light" panose="020B0603020101020101" pitchFamily="34" charset="-127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C58B979B-62E8-CA47-B5FE-D335BF9689CA}"/>
              </a:ext>
            </a:extLst>
          </p:cNvPr>
          <p:cNvSpPr/>
          <p:nvPr/>
        </p:nvSpPr>
        <p:spPr>
          <a:xfrm>
            <a:off x="982001" y="5326614"/>
            <a:ext cx="11070302" cy="3978166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03341490-C297-7044-ADD6-9F4A6971C35B}"/>
              </a:ext>
            </a:extLst>
          </p:cNvPr>
          <p:cNvCxnSpPr/>
          <p:nvPr/>
        </p:nvCxnSpPr>
        <p:spPr>
          <a:xfrm>
            <a:off x="6517152" y="5779008"/>
            <a:ext cx="0" cy="3127248"/>
          </a:xfrm>
          <a:prstGeom prst="line">
            <a:avLst/>
          </a:prstGeom>
          <a:noFill/>
          <a:ln w="34925" cap="flat">
            <a:solidFill>
              <a:schemeClr val="accent1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49556FF-3B51-B640-834B-23D61F4FCDD7}"/>
              </a:ext>
            </a:extLst>
          </p:cNvPr>
          <p:cNvSpPr txBox="1"/>
          <p:nvPr/>
        </p:nvSpPr>
        <p:spPr>
          <a:xfrm>
            <a:off x="1388800" y="5405861"/>
            <a:ext cx="4721553" cy="38196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ko-KR" altLang="en-US" sz="3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지도</a:t>
            </a:r>
            <a:r>
              <a:rPr kumimoji="0" lang="en-US" altLang="ko-KR" sz="3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</a:t>
            </a:r>
            <a:r>
              <a:rPr kumimoji="0" lang="ko-KR" altLang="en-US" sz="3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학습</a:t>
            </a:r>
            <a:endParaRPr kumimoji="0" lang="en-US" altLang="ko-KR" sz="30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25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(Supervised Learning)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en-US" altLang="ko-KR" sz="10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en-US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분류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(Chap_04)</a:t>
            </a: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ko-KR" altLang="en-US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회귀</a:t>
            </a:r>
            <a:r>
              <a:rPr kumimoji="0" lang="en-US" altLang="ko-KR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(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Chap_05)</a:t>
            </a: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ko-KR" altLang="en-US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추천 시스템</a:t>
            </a:r>
            <a:r>
              <a:rPr kumimoji="0" lang="en-US" altLang="ko-KR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(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Chap_09)</a:t>
            </a:r>
            <a:endParaRPr kumimoji="0" lang="en-US" altLang="ko-KR" sz="20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en-US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시각 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/</a:t>
            </a:r>
            <a:r>
              <a:rPr lang="ko-KR" altLang="en-US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음성 감지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/</a:t>
            </a:r>
            <a:r>
              <a:rPr lang="ko-KR" altLang="en-US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인지</a:t>
            </a:r>
            <a:endParaRPr lang="en-US" altLang="ko-KR" sz="2000" b="0" dirty="0">
              <a:solidFill>
                <a:srgbClr val="000000"/>
              </a:solidFill>
              <a:latin typeface="NanumBarunGothic Light" panose="020B0603020101020101" pitchFamily="34" charset="-127"/>
              <a:ea typeface="NanumBarunGothic Light" panose="020B0603020101020101" pitchFamily="34" charset="-127"/>
            </a:endParaRP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ko-KR" altLang="en-US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텍스트 분석 </a:t>
            </a:r>
            <a:r>
              <a:rPr kumimoji="0" lang="en-US" altLang="ko-KR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/</a:t>
            </a:r>
            <a:r>
              <a:rPr kumimoji="0" lang="ko-KR" altLang="en-US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</a:t>
            </a:r>
            <a:r>
              <a:rPr kumimoji="0" lang="en-US" altLang="ko-KR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NLP (Chap_08)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11D8B0-C9C1-764F-B4E4-A8E22D0A5CF5}"/>
              </a:ext>
            </a:extLst>
          </p:cNvPr>
          <p:cNvSpPr txBox="1"/>
          <p:nvPr/>
        </p:nvSpPr>
        <p:spPr>
          <a:xfrm>
            <a:off x="6923951" y="5405860"/>
            <a:ext cx="4721553" cy="38196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ko-KR" altLang="en-US" sz="3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비</a:t>
            </a:r>
            <a:r>
              <a:rPr kumimoji="0" lang="ko-KR" altLang="en-US" sz="3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지도</a:t>
            </a:r>
            <a:r>
              <a:rPr kumimoji="0" lang="en-US" altLang="ko-KR" sz="3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</a:t>
            </a:r>
            <a:r>
              <a:rPr kumimoji="0" lang="ko-KR" altLang="en-US" sz="3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학습</a:t>
            </a:r>
            <a:endParaRPr kumimoji="0" lang="en-US" altLang="ko-KR" sz="30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25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(Unsupervised Learning)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en-US" altLang="ko-KR" sz="10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en-US" sz="2000" b="0" dirty="0" err="1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클러스터링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(Chap_07)</a:t>
            </a: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ko-KR" altLang="en-US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차원 축소</a:t>
            </a:r>
            <a:r>
              <a:rPr kumimoji="0" lang="en-US" altLang="ko-KR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(</a:t>
            </a:r>
            <a:r>
              <a:rPr lang="en-US" altLang="ko-KR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Chap_06)</a:t>
            </a: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ko-KR" altLang="en-US" sz="2000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강화 학습</a:t>
            </a:r>
            <a:endParaRPr lang="en-US" altLang="ko-KR" sz="2000" b="0" dirty="0">
              <a:solidFill>
                <a:srgbClr val="000000"/>
              </a:solidFill>
              <a:latin typeface="NanumBarunGothic Light" panose="020B0603020101020101" pitchFamily="34" charset="-127"/>
              <a:ea typeface="NanumBarunGothic Light" panose="020B0603020101020101" pitchFamily="34" charset="-127"/>
            </a:endParaRPr>
          </a:p>
          <a:p>
            <a:pPr marL="342900" marR="0" indent="-34290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ko-KR" sz="20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  <a:p>
            <a:pPr marR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</a:pPr>
            <a:r>
              <a:rPr kumimoji="0" lang="en-US" altLang="ko-KR" sz="2000" b="0" u="none" strike="noStrike" cap="none" spc="0" normalizeH="0" baseline="0" dirty="0">
                <a:solidFill>
                  <a:srgbClr val="000000"/>
                </a:solidFill>
                <a:uFillTx/>
                <a:latin typeface="NanumBarunGothic Light" panose="020B0603020101020101" pitchFamily="34" charset="-127"/>
                <a:ea typeface="NanumBarunGothic Light" panose="020B0603020101020101" pitchFamily="34" charset="-127"/>
                <a:sym typeface="Helvetica Neue"/>
              </a:rPr>
              <a:t>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D438193-CDFB-D64E-ACE2-A0A937FEC0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212343" y="9297552"/>
            <a:ext cx="309875" cy="3098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0952F3B-37EE-BF4D-B41D-4223904C635A}"/>
              </a:ext>
            </a:extLst>
          </p:cNvPr>
          <p:cNvSpPr txBox="1"/>
          <p:nvPr/>
        </p:nvSpPr>
        <p:spPr>
          <a:xfrm>
            <a:off x="2265603" y="9384026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CUAI Study Group 1 | https://</a:t>
            </a:r>
            <a:r>
              <a:rPr lang="en-US" altLang="ko-KR" sz="1300" b="0" dirty="0" err="1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www.github.com</a:t>
            </a:r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/CUAI-Group-1</a:t>
            </a:r>
            <a:endParaRPr kumimoji="0" lang="ko-KR" altLang="en-US" sz="1300" b="0" u="none" strike="noStrike" cap="none" spc="0" normalizeH="0" baseline="0" dirty="0">
              <a:solidFill>
                <a:schemeClr val="tx1"/>
              </a:solidFill>
              <a:uFillTx/>
              <a:latin typeface="Nanum Gothic" panose="020D0604000000000000" pitchFamily="34" charset="-127"/>
              <a:ea typeface="Nanum Gothic" panose="020D0604000000000000" pitchFamily="34" charset="-127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 anchorCtr="0">
            <a:prstTxWarp prst="textNoShape">
              <a:avLst/>
            </a:prstTxWarp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130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en-US" altLang="ko-KR" sz="5000" b="1" i="0" u="none" strike="noStrike" cap="none" spc="0" normalizeH="0" baseline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b="0">
                <a:solidFill>
                  <a:srgbClr val="000000"/>
                </a:solidFill>
                <a:latin typeface="NanumBarunGothic Light"/>
                <a:ea typeface="NanumBarunGothic Light"/>
              </a:rPr>
              <a:t>파이썬 기반의 머신 러닝과 생태계 이해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Light"/>
              <a:ea typeface="NanumBarunGothic Light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6743" y="763184"/>
            <a:ext cx="8093530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en-US" altLang="ko-KR" sz="4000" b="1" i="0" u="none" strike="noStrike" cap="none" spc="0" normalizeH="0" baseline="0">
                <a:solidFill>
                  <a:srgbClr val="000000"/>
                </a:solidFill>
                <a:uFillTx/>
                <a:latin typeface="NanumBarunGothic"/>
                <a:ea typeface="NanumBarunGothic"/>
                <a:sym typeface="Helvetica Neue"/>
              </a:rPr>
              <a:t>1.</a:t>
            </a:r>
            <a:r>
              <a:rPr kumimoji="0" lang="ko-KR" altLang="en-US" sz="4000" b="1" i="0" u="none" strike="noStrike" cap="none" spc="0" normalizeH="0" baseline="0">
                <a:solidFill>
                  <a:srgbClr val="000000"/>
                </a:solidFill>
                <a:uFillTx/>
                <a:latin typeface="NanumBarunGothic"/>
                <a:ea typeface="NanumBarunGothic"/>
                <a:sym typeface="Helvetica Neue"/>
              </a:rPr>
              <a:t> 머신 러닝의 개념</a:t>
            </a:r>
            <a:endParaRPr kumimoji="0" lang="ko-KR" altLang="en-US" sz="4000" b="1" i="0" u="none" strike="noStrike" cap="none" spc="0" normalizeH="0" baseline="0">
              <a:solidFill>
                <a:srgbClr val="000000"/>
              </a:solidFill>
              <a:latin typeface="NanumBarunGothic"/>
              <a:ea typeface="NanumBarunGothic"/>
              <a:sym typeface="Helvetica Neue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08447" y="2811096"/>
            <a:ext cx="10337057" cy="2318583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ko-KR" altLang="en-US" sz="2400" b="0" u="none" strike="noStrike" cap="none" spc="0" normalizeH="0" baseline="0">
                <a:solidFill>
                  <a:srgbClr val="000000"/>
                </a:solidFill>
                <a:uFillTx/>
                <a:latin typeface="NanumBarunGothic UltraLight"/>
                <a:ea typeface="NanumBarunGothic UltraLight"/>
                <a:sym typeface="Helvetica Neue"/>
              </a:rPr>
              <a:t>데이터에 매우 의존적이다</a:t>
            </a:r>
            <a:r>
              <a:rPr kumimoji="0" lang="en-US" altLang="ko-KR" sz="2400" b="0" u="none" strike="noStrike" cap="none" spc="0" normalizeH="0" baseline="0">
                <a:solidFill>
                  <a:srgbClr val="000000"/>
                </a:solidFill>
                <a:uFillTx/>
                <a:latin typeface="NanumBarunGothic UltraLight"/>
                <a:ea typeface="NanumBarunGothic UltraLight"/>
                <a:sym typeface="Helvetica Neue"/>
              </a:rPr>
              <a:t>.</a:t>
            </a:r>
            <a:r>
              <a:rPr kumimoji="0" lang="ko-KR" altLang="en-US" sz="2400" b="0" u="none" strike="noStrike" cap="none" spc="0" normalizeH="0" baseline="0">
                <a:solidFill>
                  <a:srgbClr val="000000"/>
                </a:solidFill>
                <a:uFillTx/>
                <a:latin typeface="NanumBarunGothic UltraLight"/>
                <a:ea typeface="NanumBarunGothic UltraLight"/>
                <a:sym typeface="Helvetica Neue"/>
              </a:rPr>
              <a:t> 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UltraLight"/>
              <a:ea typeface="NanumBarunGothic UltraLight"/>
              <a:sym typeface="Helvetica Neue"/>
            </a:endParaRPr>
          </a:p>
          <a:p>
            <a:pPr marL="0" marR="0" indent="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좋은 품질의 데이터를 갖추지 못한다면</a:t>
            </a:r>
            <a:r>
              <a:rPr lang="en-US" altLang="ko-KR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,</a:t>
            </a:r>
            <a:r>
              <a:rPr lang="ko-KR" altLang="en-US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 머신 러닝의 수행 결과도 좋을 수 없다</a:t>
            </a:r>
            <a:r>
              <a:rPr lang="en-US" altLang="ko-KR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.</a:t>
            </a:r>
            <a:endParaRPr lang="en-US" altLang="ko-KR" b="0">
              <a:solidFill>
                <a:srgbClr val="000000"/>
              </a:solidFill>
              <a:latin typeface="NanumBarunGothic UltraLight"/>
              <a:ea typeface="NanumBarunGothic UltraLight"/>
            </a:endParaRPr>
          </a:p>
          <a:p>
            <a:pPr marL="0" marR="0" indent="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ko-KR" altLang="en-US" sz="2400" b="0" u="none" strike="noStrike" cap="none" spc="0" normalizeH="0" baseline="0">
                <a:solidFill>
                  <a:srgbClr val="000000"/>
                </a:solidFill>
                <a:uFillTx/>
                <a:latin typeface="NanumBarunGothic UltraLight"/>
                <a:ea typeface="NanumBarunGothic UltraLight"/>
                <a:sym typeface="Helvetica Neue"/>
              </a:rPr>
              <a:t>따라서</a:t>
            </a:r>
            <a:r>
              <a:rPr kumimoji="0" lang="en-US" altLang="ko-KR" sz="2400" b="0" u="none" strike="noStrike" cap="none" spc="0" normalizeH="0" baseline="0">
                <a:solidFill>
                  <a:srgbClr val="000000"/>
                </a:solidFill>
                <a:uFillTx/>
                <a:latin typeface="NanumBarunGothic UltraLight"/>
                <a:ea typeface="NanumBarunGothic UltraLight"/>
                <a:sym typeface="Helvetica Neue"/>
              </a:rPr>
              <a:t>,</a:t>
            </a:r>
            <a:r>
              <a:rPr kumimoji="0" lang="ko-KR" altLang="en-US" sz="2400" b="0" u="none" strike="noStrike" cap="none" spc="0" normalizeH="0" baseline="0">
                <a:solidFill>
                  <a:srgbClr val="000000"/>
                </a:solidFill>
                <a:uFillTx/>
                <a:latin typeface="NanumBarunGothic UltraLight"/>
                <a:ea typeface="NanumBarunGothic UltraLight"/>
                <a:sym typeface="Helvetica Neue"/>
              </a:rPr>
              <a:t> 데이터를 이해하고</a:t>
            </a:r>
            <a:r>
              <a:rPr lang="ko-KR" altLang="en-US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 </a:t>
            </a:r>
            <a:r>
              <a:rPr lang="ko-KR" altLang="en-US">
                <a:solidFill>
                  <a:srgbClr val="000000"/>
                </a:solidFill>
                <a:latin typeface="NanumBarunGothic UltraLight"/>
                <a:ea typeface="NanumBarunGothic UltraLight"/>
              </a:rPr>
              <a:t>효율적으로 가공</a:t>
            </a:r>
            <a:r>
              <a:rPr lang="en-US" altLang="ko-KR">
                <a:solidFill>
                  <a:srgbClr val="000000"/>
                </a:solidFill>
                <a:latin typeface="NanumBarunGothic UltraLight"/>
                <a:ea typeface="NanumBarunGothic UltraLight"/>
              </a:rPr>
              <a:t>,</a:t>
            </a:r>
            <a:r>
              <a:rPr lang="ko-KR" altLang="en-US">
                <a:solidFill>
                  <a:srgbClr val="000000"/>
                </a:solidFill>
                <a:latin typeface="NanumBarunGothic UltraLight"/>
                <a:ea typeface="NanumBarunGothic UltraLight"/>
              </a:rPr>
              <a:t> 처리</a:t>
            </a:r>
            <a:r>
              <a:rPr lang="en-US" altLang="ko-KR">
                <a:solidFill>
                  <a:srgbClr val="000000"/>
                </a:solidFill>
                <a:latin typeface="NanumBarunGothic UltraLight"/>
                <a:ea typeface="NanumBarunGothic UltraLight"/>
              </a:rPr>
              <a:t>,</a:t>
            </a:r>
            <a:r>
              <a:rPr lang="ko-KR" altLang="en-US">
                <a:solidFill>
                  <a:srgbClr val="000000"/>
                </a:solidFill>
                <a:latin typeface="NanumBarunGothic UltraLight"/>
                <a:ea typeface="NanumBarunGothic UltraLight"/>
              </a:rPr>
              <a:t> 추출</a:t>
            </a:r>
            <a:r>
              <a:rPr lang="ko-KR" altLang="en-US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해 최적의 데이터를 기반으로 알고리즘을 구동할 수 있도록 준비하는 능력이 중요하다</a:t>
            </a:r>
            <a:r>
              <a:rPr lang="en-US" altLang="ko-KR" b="0">
                <a:solidFill>
                  <a:srgbClr val="000000"/>
                </a:solidFill>
                <a:latin typeface="NanumBarunGothic UltraLight"/>
                <a:ea typeface="NanumBarunGothic UltraLight"/>
              </a:rPr>
              <a:t>.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UltraLight"/>
              <a:ea typeface="NanumBarunGothic UltraLight"/>
              <a:sym typeface="Helvetica Neue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52497" y="2073277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머신 러닝의 단점</a:t>
            </a:r>
            <a:endParaRPr lang="en-US" altLang="ko-KR" sz="2300" b="0">
              <a:solidFill>
                <a:schemeClr val="bg1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952497" y="2723621"/>
            <a:ext cx="11070302" cy="2677429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0355" y="9356598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lvl="0">
              <a:defRPr/>
            </a:pPr>
            <a:r>
              <a:rPr lang="en-US" altLang="ko-KR" sz="1300" b="0">
                <a:solidFill>
                  <a:schemeClr val="tx1"/>
                </a:solidFill>
                <a:latin typeface="Nanum Gothic"/>
                <a:ea typeface="Nanum Gothic"/>
              </a:rPr>
              <a:t>CUAI Study Group 1 | https://www.github.com/CUAI-Group-1</a:t>
            </a:r>
            <a:endParaRPr kumimoji="0" lang="ko-KR" altLang="en-US" sz="1300" b="0" u="none" strike="noStrike" cap="none" spc="0" normalizeH="0" baseline="0">
              <a:solidFill>
                <a:schemeClr val="tx1"/>
              </a:solidFill>
              <a:uFillTx/>
              <a:latin typeface="Nanum Gothic"/>
              <a:ea typeface="Nanum Gothic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 anchorCtr="0">
            <a:noAutofit/>
          </a:bodyPr>
          <a:lstStyle/>
          <a:p>
            <a:pPr marL="0" indent="0" algn="ctr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endParaRPr lang="ko-KR" altLang="en-US" sz="2200" b="0" i="0" u="none" spc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indent="0" algn="ctr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en-US" altLang="ko-KR" sz="1300">
                <a:solidFill>
                  <a:schemeClr val="bg1"/>
                </a:solidFill>
              </a:rPr>
              <a:t>CHAPTER</a:t>
            </a:r>
            <a:endParaRPr lang="ko-KR" altLang="en-US" sz="1300" b="1" i="0" u="none" spc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3" y="454025"/>
            <a:ext cx="1698171" cy="866829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indent="0" algn="ctr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en-US" altLang="ko-KR" sz="5000" b="1" i="0" u="none" spc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lang="ko-KR" altLang="en-US" sz="5000" b="1" i="0" u="none" spc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6742" y="254000"/>
            <a:ext cx="8093531" cy="46360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indent="0" algn="l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ko-KR" altLang="en-US" b="0">
                <a:solidFill>
                  <a:srgbClr val="000000"/>
                </a:solidFill>
                <a:latin typeface="NanumBarunGothic Light"/>
                <a:ea typeface="NanumBarunGothic Light"/>
              </a:rPr>
              <a:t>파이썬 기반의 머신 러닝과 생태계 이해</a:t>
            </a:r>
            <a:endParaRPr lang="ko-KR" altLang="en-US" sz="2400" b="0" u="none" spc="0">
              <a:solidFill>
                <a:srgbClr val="000000"/>
              </a:solidFill>
              <a:uFillTx/>
              <a:latin typeface="NanumBarunGothic Light"/>
              <a:ea typeface="NanumBarunGothic Light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6743" y="768350"/>
            <a:ext cx="10941746" cy="71120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indent="0" algn="l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en-US" altLang="ko-KR" sz="4000" dirty="0">
                <a:solidFill>
                  <a:srgbClr val="000000"/>
                </a:solidFill>
                <a:latin typeface="NanumBarunGothic"/>
                <a:ea typeface="NanumBarunGothic"/>
              </a:rPr>
              <a:t>2</a:t>
            </a:r>
            <a:r>
              <a:rPr lang="en-US" altLang="ko-KR" sz="4000" b="1" i="0" u="none" spc="0" dirty="0">
                <a:solidFill>
                  <a:srgbClr val="000000"/>
                </a:solidFill>
                <a:uFillTx/>
                <a:latin typeface="NanumBarunGothic"/>
                <a:ea typeface="NanumBarunGothic"/>
                <a:sym typeface="Helvetica Neue"/>
              </a:rPr>
              <a:t>.</a:t>
            </a:r>
            <a:r>
              <a:rPr lang="ko-KR" altLang="en-US" sz="4000" b="1" i="0" u="none" spc="0" dirty="0">
                <a:solidFill>
                  <a:srgbClr val="000000"/>
                </a:solidFill>
                <a:uFillTx/>
                <a:latin typeface="NanumBarunGothic"/>
                <a:ea typeface="NanumBarunGothic"/>
                <a:sym typeface="Helvetica Neue"/>
              </a:rPr>
              <a:t> </a:t>
            </a:r>
            <a:r>
              <a:rPr lang="ko-KR" altLang="en-US" sz="4000" b="1" i="0" u="none" spc="0" dirty="0" err="1">
                <a:solidFill>
                  <a:srgbClr val="000000"/>
                </a:solidFill>
                <a:uFillTx/>
                <a:latin typeface="NanumBarunGothic"/>
                <a:ea typeface="NanumBarunGothic"/>
                <a:sym typeface="Helvetica Neue"/>
              </a:rPr>
              <a:t>파이썬</a:t>
            </a:r>
            <a:r>
              <a:rPr lang="ko-KR" altLang="en-US" sz="4000" b="1" i="0" u="none" spc="0" dirty="0">
                <a:solidFill>
                  <a:srgbClr val="000000"/>
                </a:solidFill>
                <a:uFillTx/>
                <a:latin typeface="NanumBarunGothic"/>
                <a:ea typeface="NanumBarunGothic"/>
                <a:sym typeface="Helvetica Neue"/>
              </a:rPr>
              <a:t> 머신 러닝 주요 패키지</a:t>
            </a:r>
            <a:endParaRPr lang="ko-KR" altLang="en-US" sz="4000" b="1" i="0" u="none" spc="0" dirty="0">
              <a:solidFill>
                <a:srgbClr val="000000"/>
              </a:solidFill>
              <a:latin typeface="NanumBarunGothic"/>
              <a:ea typeface="NanumBarunGothic"/>
              <a:sym typeface="Helvetica Neue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52497" y="2073277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머신러닝 패키지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952497" y="2723621"/>
            <a:ext cx="11070302" cy="1011715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indent="0" algn="ctr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머신 러닝 : </a:t>
            </a: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사이킷런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(</a:t>
            </a:r>
            <a:r>
              <a:rPr lang="en-US" altLang="ko-KR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Scikit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-Learn)</a:t>
            </a:r>
            <a:endParaRPr lang="ko-KR" altLang="en-US" sz="2200" b="0" u="none" spc="0" dirty="0">
              <a:solidFill>
                <a:schemeClr val="tx1"/>
              </a:solidFill>
              <a:uFillTx/>
              <a:latin typeface="NanumBarunGothic UltraLight" panose="020B0603020101020101" pitchFamily="34" charset="-127"/>
              <a:ea typeface="NanumBarunGothic UltraLight" panose="020B0603020101020101" pitchFamily="34" charset="-127"/>
              <a:cs typeface="+mn-cs"/>
              <a:sym typeface="Helvetica Neue Medium"/>
            </a:endParaRPr>
          </a:p>
          <a:p>
            <a:pPr marL="0" indent="0" algn="ctr" defTabSz="57500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딥 러닝 : </a:t>
            </a: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텐서플로우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 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(</a:t>
            </a:r>
            <a:r>
              <a:rPr lang="en-US" altLang="ko-KR" sz="2200" b="0" dirty="0" err="1">
                <a:solidFill>
                  <a:schemeClr val="tx1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Tensorflow</a:t>
            </a:r>
            <a:r>
              <a:rPr lang="en-US" altLang="ko-KR" sz="2200" b="0" dirty="0">
                <a:solidFill>
                  <a:schemeClr val="tx1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)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, </a:t>
            </a: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케라스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 (</a:t>
            </a:r>
            <a:r>
              <a:rPr lang="en-US" altLang="ko-KR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Keras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)</a:t>
            </a:r>
            <a:endParaRPr lang="ko-KR" altLang="en-US" sz="2200" b="0" u="none" spc="0" dirty="0">
              <a:solidFill>
                <a:schemeClr val="tx1"/>
              </a:solidFill>
              <a:uFillTx/>
              <a:latin typeface="NanumBarunGothic UltraLight" panose="020B0603020101020101" pitchFamily="34" charset="-127"/>
              <a:ea typeface="NanumBarunGothic UltraLight" panose="020B0603020101020101" pitchFamily="34" charset="-127"/>
              <a:cs typeface="+mn-cs"/>
              <a:sym typeface="Helvetica Neue Medium"/>
            </a:endParaRPr>
          </a:p>
        </p:txBody>
      </p:sp>
      <p:sp>
        <p:nvSpPr>
          <p:cNvPr id="15" name="모서리가 둥근 직사각형 12"/>
          <p:cNvSpPr/>
          <p:nvPr/>
        </p:nvSpPr>
        <p:spPr>
          <a:xfrm>
            <a:off x="952496" y="3887736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행렬/선형대수/통계 패키지</a:t>
            </a:r>
          </a:p>
        </p:txBody>
      </p:sp>
      <p:sp>
        <p:nvSpPr>
          <p:cNvPr id="16" name="모서리가 둥근 직사각형 13"/>
          <p:cNvSpPr/>
          <p:nvPr/>
        </p:nvSpPr>
        <p:spPr>
          <a:xfrm>
            <a:off x="952496" y="4538080"/>
            <a:ext cx="11070302" cy="1011715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indent="0" algn="ctr" defTabSz="557031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넘파이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(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NumPy), </a:t>
            </a: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사이파이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(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SciPy)</a:t>
            </a:r>
          </a:p>
        </p:txBody>
      </p:sp>
      <p:sp>
        <p:nvSpPr>
          <p:cNvPr id="17" name="모서리가 둥근 직사각형 12"/>
          <p:cNvSpPr/>
          <p:nvPr/>
        </p:nvSpPr>
        <p:spPr>
          <a:xfrm>
            <a:off x="952496" y="5701798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데이터 핸들링</a:t>
            </a:r>
          </a:p>
        </p:txBody>
      </p:sp>
      <p:sp>
        <p:nvSpPr>
          <p:cNvPr id="18" name="모서리가 둥근 직사각형 13"/>
          <p:cNvSpPr/>
          <p:nvPr/>
        </p:nvSpPr>
        <p:spPr>
          <a:xfrm>
            <a:off x="952496" y="6352142"/>
            <a:ext cx="11070302" cy="1011715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indent="0" algn="ctr" defTabSz="557031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판다스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(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Pandas)</a:t>
            </a:r>
          </a:p>
        </p:txBody>
      </p:sp>
      <p:sp>
        <p:nvSpPr>
          <p:cNvPr id="19" name="모서리가 둥근 직사각형 12"/>
          <p:cNvSpPr/>
          <p:nvPr/>
        </p:nvSpPr>
        <p:spPr>
          <a:xfrm>
            <a:off x="952495" y="7509098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시각화</a:t>
            </a:r>
          </a:p>
        </p:txBody>
      </p:sp>
      <p:sp>
        <p:nvSpPr>
          <p:cNvPr id="20" name="모서리가 둥근 직사각형 13"/>
          <p:cNvSpPr/>
          <p:nvPr/>
        </p:nvSpPr>
        <p:spPr>
          <a:xfrm>
            <a:off x="952495" y="8159442"/>
            <a:ext cx="11070302" cy="1011715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indent="0" algn="ctr" defTabSz="557031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 lang="ko-KR" altLang="en-US"/>
            </a:pPr>
            <a:r>
              <a:rPr lang="ko-KR" altLang="en-US" sz="2200" b="0" u="none" spc="0" dirty="0" err="1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맷플롯립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(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Matplotlib), </a:t>
            </a:r>
            <a:r>
              <a:rPr lang="ko-KR" altLang="en-US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시본(</a:t>
            </a:r>
            <a:r>
              <a:rPr lang="en-US" altLang="ko-KR" sz="2200" b="0" u="none" spc="0" dirty="0">
                <a:solidFill>
                  <a:schemeClr val="tx1"/>
                </a:solidFill>
                <a:uFillTx/>
                <a:latin typeface="NanumBarunGothic UltraLight" panose="020B0603020101020101" pitchFamily="34" charset="-127"/>
                <a:ea typeface="NanumBarunGothic UltraLight" panose="020B0603020101020101" pitchFamily="34" charset="-127"/>
                <a:cs typeface="+mn-cs"/>
                <a:sym typeface="Helvetica Neue Medium"/>
              </a:rPr>
              <a:t>Seaborn)</a:t>
            </a:r>
          </a:p>
        </p:txBody>
      </p:sp>
    </p:spTree>
    <p:extLst>
      <p:ext uri="{BB962C8B-B14F-4D97-AF65-F5344CB8AC3E}">
        <p14:creationId xmlns:p14="http://schemas.microsoft.com/office/powerpoint/2010/main" val="146191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>
            <a:extLst>
              <a:ext uri="{FF2B5EF4-FFF2-40B4-BE49-F238E27FC236}">
                <a16:creationId xmlns:a16="http://schemas.microsoft.com/office/drawing/2014/main" id="{647474FE-D6FA-1B46-BA7A-C0155AC79F85}"/>
              </a:ext>
            </a:extLst>
          </p:cNvPr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ko-KR" altLang="en-US" sz="2200" b="0" i="0" u="none" strike="noStrike" cap="none" spc="0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B7668-7B54-DB46-956B-31B5180A644D}"/>
              </a:ext>
            </a:extLst>
          </p:cNvPr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ko-KR" sz="1300" dirty="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 dirty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3266B-4C34-7048-8D95-A72A08D8BB30}"/>
              </a:ext>
            </a:extLst>
          </p:cNvPr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5000" b="1" i="0" u="none" strike="noStrike" cap="none" spc="0" normalizeH="0" baseline="0" dirty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 dirty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B6743-CD9D-9E41-94C4-9F4611EFE177}"/>
              </a:ext>
            </a:extLst>
          </p:cNvPr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ko-KR" altLang="en-US" b="0" dirty="0" err="1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파이썬</a:t>
            </a:r>
            <a:r>
              <a:rPr lang="ko-KR" altLang="en-US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기반의 머신 러닝과 생태계 이해</a:t>
            </a:r>
            <a:endParaRPr kumimoji="0" lang="ko-KR" altLang="en-US" sz="24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BB0EA-F2D4-164A-802A-21263BBB88FE}"/>
              </a:ext>
            </a:extLst>
          </p:cNvPr>
          <p:cNvSpPr txBox="1"/>
          <p:nvPr/>
        </p:nvSpPr>
        <p:spPr>
          <a:xfrm>
            <a:off x="1616743" y="763184"/>
            <a:ext cx="10941746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ko-KR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3.</a:t>
            </a:r>
            <a:r>
              <a:rPr lang="ko-KR" altLang="en-US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4000" dirty="0" err="1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넘파이</a:t>
            </a:r>
            <a:r>
              <a:rPr lang="ko-KR" altLang="en-US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(NumPy)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D144C-6131-504A-BBB2-60E5A9B7B353}"/>
              </a:ext>
            </a:extLst>
          </p:cNvPr>
          <p:cNvSpPr txBox="1"/>
          <p:nvPr/>
        </p:nvSpPr>
        <p:spPr>
          <a:xfrm>
            <a:off x="2280355" y="9356598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CUAI Study Group 1 | https://</a:t>
            </a:r>
            <a:r>
              <a:rPr lang="en-US" altLang="ko-KR" sz="1300" b="0" dirty="0" err="1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www.github.com</a:t>
            </a:r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/CUAI-Group-1</a:t>
            </a:r>
            <a:endParaRPr kumimoji="0" lang="ko-KR" altLang="en-US" sz="1300" b="0" u="none" strike="noStrike" cap="none" spc="0" normalizeH="0" baseline="0" dirty="0">
              <a:solidFill>
                <a:schemeClr val="tx1"/>
              </a:solidFill>
              <a:uFillTx/>
              <a:latin typeface="Nanum Gothic" panose="020D0604000000000000" pitchFamily="34" charset="-127"/>
              <a:ea typeface="Nanum Gothic" panose="020D0604000000000000" pitchFamily="34" charset="-127"/>
              <a:sym typeface="Helvetica Neu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A08D280-4B70-D846-B4B3-9252AE539D48}"/>
              </a:ext>
            </a:extLst>
          </p:cNvPr>
          <p:cNvSpPr/>
          <p:nvPr/>
        </p:nvSpPr>
        <p:spPr>
          <a:xfrm>
            <a:off x="952497" y="2073277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넘파이가 필요한 이유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6895105-E38D-9B49-B600-BF3A3E3CEACB}"/>
              </a:ext>
            </a:extLst>
          </p:cNvPr>
          <p:cNvSpPr/>
          <p:nvPr/>
        </p:nvSpPr>
        <p:spPr>
          <a:xfrm>
            <a:off x="952497" y="2723621"/>
            <a:ext cx="11070302" cy="2219768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342900" indent="-342900" algn="l" defTabSz="557031" latinLnBrk="0" hangingPunct="0">
              <a:lnSpc>
                <a:spcPts val="388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 lang="ko-KR" altLang="en-US"/>
            </a:pPr>
            <a:endParaRPr lang="ko-KR" altLang="en-US" b="0" dirty="0">
              <a:solidFill>
                <a:srgbClr val="000000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16" name="모서리가 둥근 직사각형 12">
            <a:extLst>
              <a:ext uri="{FF2B5EF4-FFF2-40B4-BE49-F238E27FC236}">
                <a16:creationId xmlns:a16="http://schemas.microsoft.com/office/drawing/2014/main" id="{75CB6791-E689-9F4D-8312-5D09B3EE560F}"/>
              </a:ext>
            </a:extLst>
          </p:cNvPr>
          <p:cNvSpPr/>
          <p:nvPr/>
        </p:nvSpPr>
        <p:spPr>
          <a:xfrm>
            <a:off x="952498" y="5195941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자주 사용되는 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API</a:t>
            </a:r>
          </a:p>
        </p:txBody>
      </p:sp>
      <p:sp>
        <p:nvSpPr>
          <p:cNvPr id="17" name="모서리가 둥근 직사각형 13">
            <a:extLst>
              <a:ext uri="{FF2B5EF4-FFF2-40B4-BE49-F238E27FC236}">
                <a16:creationId xmlns:a16="http://schemas.microsoft.com/office/drawing/2014/main" id="{051A32BF-2815-C441-B9F9-7E540E738704}"/>
              </a:ext>
            </a:extLst>
          </p:cNvPr>
          <p:cNvSpPr/>
          <p:nvPr/>
        </p:nvSpPr>
        <p:spPr>
          <a:xfrm>
            <a:off x="952498" y="5846284"/>
            <a:ext cx="11070302" cy="3166430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342900" indent="-342900" algn="l" defTabSz="539624" latinLnBrk="0" hangingPunct="0">
              <a:lnSpc>
                <a:spcPts val="388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 lang="ko-KR" altLang="en-US"/>
            </a:pPr>
            <a:endParaRPr lang="ko-KR" altLang="en-US" b="0" dirty="0">
              <a:solidFill>
                <a:srgbClr val="000000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37407-009A-5047-8DE6-53555296D1CA}"/>
              </a:ext>
            </a:extLst>
          </p:cNvPr>
          <p:cNvSpPr txBox="1"/>
          <p:nvPr/>
        </p:nvSpPr>
        <p:spPr>
          <a:xfrm>
            <a:off x="1093576" y="2781935"/>
            <a:ext cx="10817646" cy="210314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557031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파이썬에서의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배열</a:t>
            </a:r>
            <a:r>
              <a:rPr lang="en-US" altLang="ko-KR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연산은 매우 제한적이다.</a:t>
            </a:r>
          </a:p>
          <a:p>
            <a:pPr marL="342900" indent="-342900" algn="l" defTabSz="557031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파이썬에서의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리스트 덧셈</a:t>
            </a:r>
            <a:r>
              <a:rPr lang="en-US" altLang="ko-KR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연산은 리스트를 덧붙인다.</a:t>
            </a:r>
          </a:p>
          <a:p>
            <a:pPr marL="342900" indent="-342900" algn="l" defTabSz="557031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파이썬에서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원소</a:t>
            </a:r>
            <a:r>
              <a:rPr lang="en-US" altLang="ko-KR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별 연산을 수행할 때</a:t>
            </a:r>
            <a:r>
              <a:rPr lang="en-US" altLang="ko-KR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반복문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또는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컴프리헨션이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필수적. 이는 큰 배열 처리에 매우 부적합하지만</a:t>
            </a:r>
            <a:r>
              <a:rPr lang="en-US" altLang="ko-KR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넘파이를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통해 손쉽게 처리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5BDE24-244D-2843-B4CC-6A794D2231F4}"/>
              </a:ext>
            </a:extLst>
          </p:cNvPr>
          <p:cNvSpPr txBox="1"/>
          <p:nvPr/>
        </p:nvSpPr>
        <p:spPr>
          <a:xfrm>
            <a:off x="1093576" y="6127860"/>
            <a:ext cx="10817646" cy="260327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ndarray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생성 -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arange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zeros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ones</a:t>
            </a:r>
            <a:endParaRPr lang="ko-KR" altLang="en-US" b="0" dirty="0">
              <a:solidFill>
                <a:srgbClr val="000000"/>
              </a:solidFill>
              <a:latin typeface="NanumBarunGothic UltraLight" panose="020B0603020101020101" pitchFamily="34" charset="-127"/>
              <a:ea typeface="NanumBarunGothic UltraLight" panose="020B0603020101020101" pitchFamily="34" charset="-127"/>
            </a:endParaRP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ndarray의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차원과 크기 변경 -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reshape</a:t>
            </a:r>
            <a:endParaRPr lang="ko-KR" altLang="en-US" b="0" dirty="0">
              <a:solidFill>
                <a:srgbClr val="000000"/>
              </a:solidFill>
              <a:latin typeface="NanumBarunGothic UltraLight" panose="020B0603020101020101" pitchFamily="34" charset="-127"/>
              <a:ea typeface="NanumBarunGothic UltraLight" panose="020B0603020101020101" pitchFamily="34" charset="-127"/>
            </a:endParaRP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ndarray의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데이터 세트 선택 - 인덱싱 (</a:t>
            </a:r>
            <a:r>
              <a:rPr lang="ko-KR" altLang="en-US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추출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슬라이싱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팬시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인덱싱, </a:t>
            </a:r>
            <a:r>
              <a:rPr lang="ko-KR" altLang="en-US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불린 인덱싱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)</a:t>
            </a: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행렬의 정렬 -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sort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와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argsort</a:t>
            </a:r>
            <a:endParaRPr lang="ko-KR" altLang="en-US" b="0" dirty="0">
              <a:solidFill>
                <a:srgbClr val="000000"/>
              </a:solidFill>
              <a:latin typeface="NanumBarunGothic UltraLight" panose="020B0603020101020101" pitchFamily="34" charset="-127"/>
              <a:ea typeface="NanumBarunGothic UltraLight" panose="020B0603020101020101" pitchFamily="34" charset="-127"/>
            </a:endParaRP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행렬 내적과 전치 행렬 구하기 -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dot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transpose</a:t>
            </a:r>
            <a:endParaRPr lang="ko-KR" altLang="en-US" b="0" dirty="0">
              <a:solidFill>
                <a:srgbClr val="000000"/>
              </a:solidFill>
              <a:latin typeface="NanumBarunGothic UltraLight" panose="020B0603020101020101" pitchFamily="34" charset="-127"/>
              <a:ea typeface="NanumBarunGothic UltraLight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99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>
            <a:extLst>
              <a:ext uri="{FF2B5EF4-FFF2-40B4-BE49-F238E27FC236}">
                <a16:creationId xmlns:a16="http://schemas.microsoft.com/office/drawing/2014/main" id="{647474FE-D6FA-1B46-BA7A-C0155AC79F85}"/>
              </a:ext>
            </a:extLst>
          </p:cNvPr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kumimoji="0" lang="ko-KR" altLang="en-US" sz="2200" b="0" i="0" u="none" strike="noStrike" cap="none" spc="0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B7668-7B54-DB46-956B-31B5180A644D}"/>
              </a:ext>
            </a:extLst>
          </p:cNvPr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ko-KR" sz="1300" dirty="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 dirty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3266B-4C34-7048-8D95-A72A08D8BB30}"/>
              </a:ext>
            </a:extLst>
          </p:cNvPr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kumimoji="0" lang="en-US" altLang="ko-KR" sz="5000" b="1" i="0" u="none" strike="noStrike" cap="none" spc="0" normalizeH="0" baseline="0" dirty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 dirty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B6743-CD9D-9E41-94C4-9F4611EFE177}"/>
              </a:ext>
            </a:extLst>
          </p:cNvPr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ko-KR" altLang="en-US" b="0" dirty="0" err="1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파이썬</a:t>
            </a:r>
            <a:r>
              <a:rPr lang="ko-KR" altLang="en-US" b="0" dirty="0">
                <a:solidFill>
                  <a:srgbClr val="000000"/>
                </a:solidFill>
                <a:latin typeface="NanumBarunGothic Light" panose="020B0603020101020101" pitchFamily="34" charset="-127"/>
                <a:ea typeface="NanumBarunGothic Light" panose="020B0603020101020101" pitchFamily="34" charset="-127"/>
              </a:rPr>
              <a:t> 기반의 머신 러닝과 생태계 이해</a:t>
            </a:r>
            <a:endParaRPr kumimoji="0" lang="ko-KR" altLang="en-US" sz="2400" b="0" u="none" strike="noStrike" cap="none" spc="0" normalizeH="0" baseline="0" dirty="0">
              <a:solidFill>
                <a:srgbClr val="000000"/>
              </a:solidFill>
              <a:uFillTx/>
              <a:latin typeface="NanumBarunGothic Light" panose="020B0603020101020101" pitchFamily="34" charset="-127"/>
              <a:ea typeface="NanumBarunGothic Light" panose="020B0603020101020101" pitchFamily="34" charset="-127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BB0EA-F2D4-164A-802A-21263BBB88FE}"/>
              </a:ext>
            </a:extLst>
          </p:cNvPr>
          <p:cNvSpPr txBox="1"/>
          <p:nvPr/>
        </p:nvSpPr>
        <p:spPr>
          <a:xfrm>
            <a:off x="1616743" y="763184"/>
            <a:ext cx="10941746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ko-KR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4.</a:t>
            </a:r>
            <a:r>
              <a:rPr lang="ko-KR" altLang="en-US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데이터 핸들링 </a:t>
            </a:r>
            <a:r>
              <a:rPr lang="en-US" altLang="ko-KR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–</a:t>
            </a:r>
            <a:r>
              <a:rPr lang="ko-KR" altLang="en-US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4000" dirty="0" err="1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판다스</a:t>
            </a:r>
            <a:r>
              <a:rPr lang="ko-KR" altLang="en-US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(Pandas)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7BD63E-8D4D-1540-AE5E-56EEFF178A3E}"/>
              </a:ext>
            </a:extLst>
          </p:cNvPr>
          <p:cNvSpPr txBox="1"/>
          <p:nvPr/>
        </p:nvSpPr>
        <p:spPr>
          <a:xfrm>
            <a:off x="2280355" y="9356598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CUAI Study Group 1 | https://</a:t>
            </a:r>
            <a:r>
              <a:rPr lang="en-US" altLang="ko-KR" sz="1300" b="0" dirty="0" err="1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www.github.com</a:t>
            </a:r>
            <a:r>
              <a:rPr lang="en-US" altLang="ko-KR" sz="1300" b="0" dirty="0">
                <a:solidFill>
                  <a:schemeClr val="tx1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/CUAI-Group-1</a:t>
            </a:r>
            <a:endParaRPr kumimoji="0" lang="ko-KR" altLang="en-US" sz="1300" b="0" u="none" strike="noStrike" cap="none" spc="0" normalizeH="0" baseline="0" dirty="0">
              <a:solidFill>
                <a:schemeClr val="tx1"/>
              </a:solidFill>
              <a:uFillTx/>
              <a:latin typeface="Nanum Gothic" panose="020D0604000000000000" pitchFamily="34" charset="-127"/>
              <a:ea typeface="Nanum Gothic" panose="020D0604000000000000" pitchFamily="34" charset="-127"/>
              <a:sym typeface="Helvetica Neue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AEE144B8-8063-6545-A917-5926782E504C}"/>
              </a:ext>
            </a:extLst>
          </p:cNvPr>
          <p:cNvSpPr/>
          <p:nvPr/>
        </p:nvSpPr>
        <p:spPr>
          <a:xfrm>
            <a:off x="967249" y="1783976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판다스가 필요한 이유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392B244-673B-2F45-900F-BA4A3D6159CB}"/>
              </a:ext>
            </a:extLst>
          </p:cNvPr>
          <p:cNvSpPr/>
          <p:nvPr/>
        </p:nvSpPr>
        <p:spPr>
          <a:xfrm>
            <a:off x="967249" y="2434320"/>
            <a:ext cx="11070302" cy="2219768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342900" indent="-342900" algn="l" defTabSz="557031" latinLnBrk="0" hangingPunct="0">
              <a:lnSpc>
                <a:spcPts val="388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 lang="ko-KR" altLang="en-US"/>
            </a:pPr>
            <a:endParaRPr lang="ko-KR" altLang="en-US" b="0" dirty="0">
              <a:solidFill>
                <a:srgbClr val="000000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17" name="모서리가 둥근 직사각형 12">
            <a:extLst>
              <a:ext uri="{FF2B5EF4-FFF2-40B4-BE49-F238E27FC236}">
                <a16:creationId xmlns:a16="http://schemas.microsoft.com/office/drawing/2014/main" id="{C539488E-D648-8F4D-93B7-3086E522A5D1}"/>
              </a:ext>
            </a:extLst>
          </p:cNvPr>
          <p:cNvSpPr/>
          <p:nvPr/>
        </p:nvSpPr>
        <p:spPr>
          <a:xfrm>
            <a:off x="967250" y="4906640"/>
            <a:ext cx="4241295" cy="5051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자주 사용되는 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API</a:t>
            </a:r>
          </a:p>
        </p:txBody>
      </p:sp>
      <p:sp>
        <p:nvSpPr>
          <p:cNvPr id="18" name="모서리가 둥근 직사각형 13">
            <a:extLst>
              <a:ext uri="{FF2B5EF4-FFF2-40B4-BE49-F238E27FC236}">
                <a16:creationId xmlns:a16="http://schemas.microsoft.com/office/drawing/2014/main" id="{C8BA0D94-924E-F549-992C-08557ADF3BB6}"/>
              </a:ext>
            </a:extLst>
          </p:cNvPr>
          <p:cNvSpPr/>
          <p:nvPr/>
        </p:nvSpPr>
        <p:spPr>
          <a:xfrm>
            <a:off x="967250" y="5556984"/>
            <a:ext cx="11070302" cy="3595055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342900" indent="-342900" algn="l" defTabSz="539624" latinLnBrk="0" hangingPunct="0">
              <a:lnSpc>
                <a:spcPts val="388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 lang="ko-KR" altLang="en-US"/>
            </a:pPr>
            <a:endParaRPr lang="ko-KR" altLang="en-US" b="0" dirty="0">
              <a:solidFill>
                <a:srgbClr val="000000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30995-335B-A94D-A545-A432B6BCA53D}"/>
              </a:ext>
            </a:extLst>
          </p:cNvPr>
          <p:cNvSpPr txBox="1"/>
          <p:nvPr/>
        </p:nvSpPr>
        <p:spPr>
          <a:xfrm>
            <a:off x="1093576" y="2493638"/>
            <a:ext cx="10817646" cy="210314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557031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행과 열로 이뤄진 2차원 데이터 효율적으로 가공/처리</a:t>
            </a:r>
          </a:p>
          <a:p>
            <a:pPr marL="342900" indent="-342900" algn="l" defTabSz="557031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넘파이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기반으로 작성되었지만 훨씬 유연하고 편리하게 데이터 핸들링 가능</a:t>
            </a:r>
          </a:p>
          <a:p>
            <a:pPr marL="342900" indent="-342900" algn="l" defTabSz="557031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파이썬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리스트, 컬렉션,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넘파이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등의 내부 데이터와 </a:t>
            </a:r>
            <a:r>
              <a:rPr lang="en-US" altLang="ko-KR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CSV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등 파일 쉽게 </a:t>
            </a:r>
            <a:r>
              <a:rPr lang="en-US" altLang="ko-KR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DataFrame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으로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변경해 데이터 가공/분석 편리하게 수행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53F9D-620E-A742-B08D-392B9974E1FF}"/>
              </a:ext>
            </a:extLst>
          </p:cNvPr>
          <p:cNvSpPr txBox="1"/>
          <p:nvPr/>
        </p:nvSpPr>
        <p:spPr>
          <a:xfrm>
            <a:off x="1093576" y="5548488"/>
            <a:ext cx="10817646" cy="360355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DataFrame과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리스트,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딕셔너리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넘파이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ndarray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상호 변환</a:t>
            </a: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DataFrame의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칼럼 데이터 세트 생성과 수정,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DataFrame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데이터 삭제</a:t>
            </a: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Index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객체</a:t>
            </a: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데이터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셀렉션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및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필터링</a:t>
            </a:r>
            <a:endParaRPr lang="ko-KR" altLang="en-US" b="0" dirty="0">
              <a:solidFill>
                <a:srgbClr val="000000"/>
              </a:solidFill>
              <a:latin typeface="NanumBarunGothic UltraLight" panose="020B0603020101020101" pitchFamily="34" charset="-127"/>
              <a:ea typeface="NanumBarunGothic UltraLight" panose="020B0603020101020101" pitchFamily="34" charset="-127"/>
            </a:endParaRP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정렬,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Aggregation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함수,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GroupBy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적용</a:t>
            </a: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결손 데이터 처리</a:t>
            </a:r>
          </a:p>
          <a:p>
            <a:pPr marL="342900" indent="-342900" algn="l" defTabSz="539624">
              <a:lnSpc>
                <a:spcPts val="3880"/>
              </a:lnSpc>
              <a:buFont typeface="Arial"/>
              <a:buChar char="•"/>
              <a:defRPr lang="ko-KR" altLang="en-US"/>
            </a:pP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apply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</a:t>
            </a:r>
            <a:r>
              <a:rPr lang="ko-KR" altLang="en-US" b="0" dirty="0" err="1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lambda</a:t>
            </a:r>
            <a:r>
              <a:rPr lang="ko-KR" altLang="en-US" b="0" dirty="0">
                <a:solidFill>
                  <a:srgbClr val="000000"/>
                </a:solidFill>
                <a:latin typeface="NanumBarunGothic UltraLight" panose="020B0603020101020101" pitchFamily="34" charset="-127"/>
                <a:ea typeface="NanumBarunGothic UltraLight" panose="020B0603020101020101" pitchFamily="34" charset="-127"/>
              </a:rPr>
              <a:t> 식으로 데이터 가공</a:t>
            </a:r>
          </a:p>
        </p:txBody>
      </p:sp>
    </p:spTree>
    <p:extLst>
      <p:ext uri="{BB962C8B-B14F-4D97-AF65-F5344CB8AC3E}">
        <p14:creationId xmlns:p14="http://schemas.microsoft.com/office/powerpoint/2010/main" val="22469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 anchorCtr="0">
            <a:prstTxWarp prst="textNoShape">
              <a:avLst/>
            </a:prstTxWarp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130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en-US" altLang="ko-KR" sz="5000" b="1" i="0" u="none" strike="noStrike" cap="none" spc="0" normalizeH="0" baseline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b="0">
                <a:solidFill>
                  <a:srgbClr val="000000"/>
                </a:solidFill>
                <a:latin typeface="NanumBarunGothic Light"/>
                <a:ea typeface="NanumBarunGothic Light"/>
              </a:rPr>
              <a:t>파이썬 기반의 머신 러닝과 생태계 이해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Light"/>
              <a:ea typeface="NanumBarunGothic Light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6743" y="763184"/>
            <a:ext cx="10941746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4000">
                <a:solidFill>
                  <a:srgbClr val="000000"/>
                </a:solidFill>
                <a:latin typeface="NanumBarunGothic"/>
                <a:ea typeface="NanumBarunGothic"/>
              </a:rPr>
              <a:t>5.</a:t>
            </a:r>
            <a:r>
              <a:rPr lang="ko-KR" altLang="en-US" sz="4000">
                <a:solidFill>
                  <a:srgbClr val="000000"/>
                </a:solidFill>
                <a:latin typeface="NanumBarunGothic"/>
                <a:ea typeface="NanumBarunGothic"/>
              </a:rPr>
              <a:t> 과제</a:t>
            </a:r>
            <a:endParaRPr lang="en-US" altLang="ko-KR" sz="4000">
              <a:solidFill>
                <a:srgbClr val="000000"/>
              </a:solidFill>
              <a:latin typeface="NanumBarunGothic"/>
              <a:ea typeface="NanumBarunGothic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52497" y="2105487"/>
            <a:ext cx="7258816" cy="67020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과제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1.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조원의 정보를 가지고 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DataFrame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을 만들어 보세요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300" b="0">
              <a:solidFill>
                <a:schemeClr val="bg1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0355" y="9378464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lvl="0">
              <a:defRPr/>
            </a:pPr>
            <a:r>
              <a:rPr lang="en-US" altLang="ko-KR" sz="1300" b="0">
                <a:solidFill>
                  <a:schemeClr val="tx1"/>
                </a:solidFill>
                <a:latin typeface="Nanum Gothic"/>
                <a:ea typeface="Nanum Gothic"/>
              </a:rPr>
              <a:t>CUAI Study Group 1 | https://www.github.com/CUAI-Group-1</a:t>
            </a:r>
            <a:endParaRPr kumimoji="0" lang="ko-KR" altLang="en-US" sz="1300" b="0" u="none" strike="noStrike" cap="none" spc="0" normalizeH="0" baseline="0">
              <a:solidFill>
                <a:schemeClr val="tx1"/>
              </a:solidFill>
              <a:uFillTx/>
              <a:latin typeface="Nanum Gothic"/>
              <a:ea typeface="Nanum Gothic"/>
              <a:sym typeface="Helvetica Neue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52496" y="3303096"/>
            <a:ext cx="11070302" cy="3218688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8747" y="3162610"/>
            <a:ext cx="10924051" cy="321883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R="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ko-KR" altLang="en-US" sz="3500" b="0">
                <a:solidFill>
                  <a:srgbClr val="000000"/>
                </a:solidFill>
                <a:latin typeface="NanumBarunGothic Light"/>
                <a:ea typeface="NanumBarunGothic Light"/>
              </a:rPr>
              <a:t>  </a:t>
            </a:r>
            <a:r>
              <a:rPr lang="en-US" altLang="ko-KR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&lt;</a:t>
            </a:r>
            <a:r>
              <a:rPr lang="ko-KR" altLang="en-US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Conditions</a:t>
            </a:r>
            <a:r>
              <a:rPr lang="ko-KR" altLang="en-US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&gt;</a:t>
            </a:r>
            <a:endParaRPr lang="en-US" altLang="ko-KR" sz="3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marR="0" indent="-34290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조원들의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이름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’,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나이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’,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학번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’,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전화번호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를 바탕으로 이를 열 이름으로 사용하여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DataFrame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을 만들어보세요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marR="0" indent="-34290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나이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열을 기준으로 오름차순으로 정렬해보세요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marR="0" indent="-34290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학번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에서 연도만 슬라이싱하여 이에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‘4’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를 더한 값을 새로운 열인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졸업 연도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에 저장해보세요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lvl="2" indent="0" algn="l">
              <a:lnSpc>
                <a:spcPct val="150000"/>
              </a:lnSpc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	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예를 들어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,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학번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이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20189999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라면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,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2018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만 추출하여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2022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를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졸업 연도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열에 저장하면 됩니다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 anchorCtr="0">
            <a:prstTxWarp prst="textNoShape">
              <a:avLst/>
            </a:prstTxWarp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130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en-US" altLang="ko-KR" sz="5000" b="1" i="0" u="none" strike="noStrike" cap="none" spc="0" normalizeH="0" baseline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b="0">
                <a:solidFill>
                  <a:srgbClr val="000000"/>
                </a:solidFill>
                <a:latin typeface="NanumBarunGothic Light"/>
                <a:ea typeface="NanumBarunGothic Light"/>
              </a:rPr>
              <a:t>파이썬 기반의 머신 러닝과 생태계 이해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Light"/>
              <a:ea typeface="NanumBarunGothic Light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6743" y="763184"/>
            <a:ext cx="10941746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4000">
                <a:solidFill>
                  <a:srgbClr val="000000"/>
                </a:solidFill>
                <a:latin typeface="NanumBarunGothic"/>
                <a:ea typeface="NanumBarunGothic"/>
              </a:rPr>
              <a:t>5.</a:t>
            </a:r>
            <a:r>
              <a:rPr lang="ko-KR" altLang="en-US" sz="4000">
                <a:solidFill>
                  <a:srgbClr val="000000"/>
                </a:solidFill>
                <a:latin typeface="NanumBarunGothic"/>
                <a:ea typeface="NanumBarunGothic"/>
              </a:rPr>
              <a:t> 과제</a:t>
            </a:r>
            <a:endParaRPr lang="en-US" altLang="ko-KR" sz="4000">
              <a:solidFill>
                <a:srgbClr val="000000"/>
              </a:solidFill>
              <a:latin typeface="NanumBarunGothic"/>
              <a:ea typeface="NanumBarunGothic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52497" y="1895477"/>
            <a:ext cx="6297389" cy="6829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과제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2.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다음과 같은 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‘DataFrame’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을 만들어 보세요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300" b="0">
              <a:solidFill>
                <a:schemeClr val="bg1"/>
              </a:solidFill>
              <a:latin typeface="NanumBarunGothic Light"/>
              <a:ea typeface="NanumBarunGothic Light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8663" y="2977289"/>
            <a:ext cx="11658600" cy="63274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0355" y="9378464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lvl="0">
              <a:defRPr/>
            </a:pPr>
            <a:r>
              <a:rPr lang="en-US" altLang="ko-KR" sz="1300" b="0">
                <a:solidFill>
                  <a:schemeClr val="tx1"/>
                </a:solidFill>
                <a:latin typeface="Nanum Gothic"/>
                <a:ea typeface="Nanum Gothic"/>
              </a:rPr>
              <a:t>CUAI Study Group 1 | https://www.github.com/CUAI-Group-1</a:t>
            </a:r>
            <a:endParaRPr kumimoji="0" lang="ko-KR" altLang="en-US" sz="1300" b="0" u="none" strike="noStrike" cap="none" spc="0" normalizeH="0" baseline="0">
              <a:solidFill>
                <a:schemeClr val="tx1"/>
              </a:solidFill>
              <a:uFillTx/>
              <a:latin typeface="Nanum Gothic"/>
              <a:ea typeface="Nanum Gothic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 anchorCtr="0">
            <a:prstTxWarp prst="textNoShape">
              <a:avLst/>
            </a:prstTxWarp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130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en-US" altLang="ko-KR" sz="5000" b="1" i="0" u="none" strike="noStrike" cap="none" spc="0" normalizeH="0" baseline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b="0">
                <a:solidFill>
                  <a:srgbClr val="000000"/>
                </a:solidFill>
                <a:latin typeface="NanumBarunGothic Light"/>
                <a:ea typeface="NanumBarunGothic Light"/>
              </a:rPr>
              <a:t>파이썬 기반의 머신 러닝과 생태계 이해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Light"/>
              <a:ea typeface="NanumBarunGothic Light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6743" y="763184"/>
            <a:ext cx="10941746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4000">
                <a:solidFill>
                  <a:srgbClr val="000000"/>
                </a:solidFill>
                <a:latin typeface="NanumBarunGothic"/>
                <a:ea typeface="NanumBarunGothic"/>
              </a:rPr>
              <a:t>5.</a:t>
            </a:r>
            <a:r>
              <a:rPr lang="ko-KR" altLang="en-US" sz="4000">
                <a:solidFill>
                  <a:srgbClr val="000000"/>
                </a:solidFill>
                <a:latin typeface="NanumBarunGothic"/>
                <a:ea typeface="NanumBarunGothic"/>
              </a:rPr>
              <a:t> 과제</a:t>
            </a:r>
            <a:endParaRPr lang="en-US" altLang="ko-KR" sz="4000">
              <a:solidFill>
                <a:srgbClr val="000000"/>
              </a:solidFill>
              <a:latin typeface="NanumBarunGothic"/>
              <a:ea typeface="NanumBarunGothic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52496" y="1622338"/>
            <a:ext cx="6297389" cy="6448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과제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2.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다음과 같은 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DataFrame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을 만들어 보세요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300" b="0">
              <a:solidFill>
                <a:schemeClr val="bg1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952496" y="2554930"/>
            <a:ext cx="11070302" cy="6774954"/>
          </a:xfrm>
          <a:prstGeom prst="roundRect">
            <a:avLst>
              <a:gd name="adj" fmla="val 6476"/>
            </a:avLst>
          </a:prstGeom>
          <a:noFill/>
          <a:ln w="41275" cap="flat">
            <a:solidFill>
              <a:schemeClr val="accent1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8747" y="2535677"/>
            <a:ext cx="10924051" cy="668131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R="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ko-KR" altLang="en-US" sz="3500" b="0">
                <a:solidFill>
                  <a:srgbClr val="000000"/>
                </a:solidFill>
                <a:latin typeface="NanumBarunGothic Light"/>
                <a:ea typeface="NanumBarunGothic Light"/>
              </a:rPr>
              <a:t>  </a:t>
            </a:r>
            <a:r>
              <a:rPr lang="en-US" altLang="ko-KR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&lt;</a:t>
            </a:r>
            <a:r>
              <a:rPr lang="ko-KR" altLang="en-US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Conditions</a:t>
            </a:r>
            <a:r>
              <a:rPr lang="ko-KR" altLang="en-US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&gt;</a:t>
            </a:r>
            <a:r>
              <a:rPr lang="ko-KR" altLang="en-US" sz="3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Before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you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start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this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assignment,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please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check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all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columns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in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this</a:t>
            </a:r>
            <a:r>
              <a:rPr lang="ko-KR" altLang="en-US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900" b="0">
                <a:solidFill>
                  <a:srgbClr val="000000"/>
                </a:solidFill>
                <a:latin typeface="NanumBarunGothic Light"/>
                <a:ea typeface="NanumBarunGothic Light"/>
              </a:rPr>
              <a:t>dataset.</a:t>
            </a:r>
            <a:endParaRPr lang="en-US" altLang="ko-KR" sz="19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marR="0" indent="-34290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Go to Kaggle homepage and find ‘Google Play Store Apps’ dataset and download it. 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R="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	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(You will only use ‘googleplaystore.csv’ file.)</a:t>
            </a:r>
            <a:endParaRPr lang="en-US" altLang="ko-KR" sz="15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marR="0" indent="-342900" algn="l" defTabSz="584200" rtl="0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Using method which is in Pandas, find and write column name which has ‘Not Null’ data. Fill Not Null data with this condition.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lvl="5" indent="0" algn="l">
              <a:lnSpc>
                <a:spcPct val="150000"/>
              </a:lnSpc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	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1. ‘Rating’ : mean()</a:t>
            </a:r>
            <a:endParaRPr lang="en-US" altLang="ko-KR" sz="15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lvl="5" indent="0" algn="l">
              <a:lnSpc>
                <a:spcPct val="150000"/>
              </a:lnSpc>
              <a:defRPr/>
            </a:pP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	2. ‘Content Rating’, ‘Type’ : Find largest count of this column and fill with it.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(Hint : Using value_counts() method.)</a:t>
            </a:r>
            <a:endParaRPr lang="en-US" altLang="ko-KR" sz="15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lvl="5" indent="-342900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Sorting ‘Size’ column in ascending order.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endParaRPr lang="ko-KR" altLang="en-US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lvl="5" indent="-342900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Drop ‘Current Ver’, ‘Android Ver’ columns.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lvl="1" indent="-342900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‘Rating_round’ column : The value of ‘Rating’ is rounded up.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(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반올림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)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lvl="1" indent="-342900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‘Rating_cat’ column : Using ‘apply lambda’ with this condition.</a:t>
            </a:r>
            <a:endParaRPr lang="en-US" altLang="ko-KR" sz="20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lvl="1" indent="0" algn="l">
              <a:lnSpc>
                <a:spcPct val="150000"/>
              </a:lnSpc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	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1.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Using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value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of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‘Rating_round’.</a:t>
            </a:r>
            <a:endParaRPr lang="en-US" altLang="ko-KR" sz="15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lvl="1" indent="0" algn="l">
              <a:lnSpc>
                <a:spcPct val="150000"/>
              </a:lnSpc>
              <a:defRPr/>
            </a:pP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	2.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And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in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the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order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of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1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to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5,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fill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it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‘Very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Bad’,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‘Bad’,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‘So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So’,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‘Good’,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‘Very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Good’</a:t>
            </a:r>
            <a:r>
              <a:rPr lang="ko-KR" altLang="en-US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order.</a:t>
            </a:r>
            <a:endParaRPr lang="en-US" altLang="ko-KR" sz="1500" b="0">
              <a:solidFill>
                <a:srgbClr val="000000"/>
              </a:solidFill>
              <a:latin typeface="NanumBarunGothic Light"/>
              <a:ea typeface="NanumBarunGothic Light"/>
            </a:endParaRPr>
          </a:p>
          <a:p>
            <a:pPr marL="342900" lvl="1" indent="-342900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Using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‘groupby()’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method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and</a:t>
            </a:r>
            <a:r>
              <a:rPr lang="ko-KR" altLang="en-US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 </a:t>
            </a:r>
            <a:r>
              <a:rPr lang="en-US" altLang="ko-KR" sz="2000" b="0">
                <a:solidFill>
                  <a:srgbClr val="000000"/>
                </a:solidFill>
                <a:latin typeface="NanumBarunGothic Light"/>
                <a:ea typeface="NanumBarunGothic Light"/>
              </a:rPr>
              <a:t>indicate the mean rating by category. </a:t>
            </a:r>
            <a:r>
              <a:rPr lang="en-US" altLang="ko-KR" sz="1500" b="0">
                <a:solidFill>
                  <a:srgbClr val="000000"/>
                </a:solidFill>
                <a:latin typeface="NanumBarunGothic Light"/>
                <a:ea typeface="NanumBarunGothic Light"/>
              </a:rPr>
              <a:t>(See the result in next slide.)</a:t>
            </a:r>
            <a:endParaRPr lang="en-US" altLang="ko-KR" sz="1500" b="0">
              <a:solidFill>
                <a:srgbClr val="000000"/>
              </a:solidFill>
              <a:latin typeface="NanumBarunGothic Light"/>
              <a:ea typeface="NanumBarunGothic Ligh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5602" y="9383219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lvl="0">
              <a:defRPr/>
            </a:pPr>
            <a:r>
              <a:rPr lang="en-US" altLang="ko-KR" sz="1300" b="0">
                <a:solidFill>
                  <a:schemeClr val="tx1"/>
                </a:solidFill>
                <a:latin typeface="Nanum Gothic"/>
                <a:ea typeface="Nanum Gothic"/>
              </a:rPr>
              <a:t>CUAI Study Group 1 | https://www.github.com/CUAI-Group-1</a:t>
            </a:r>
            <a:endParaRPr kumimoji="0" lang="ko-KR" altLang="en-US" sz="1300" b="0" u="none" strike="noStrike" cap="none" spc="0" normalizeH="0" baseline="0">
              <a:solidFill>
                <a:schemeClr val="tx1"/>
              </a:solidFill>
              <a:uFillTx/>
              <a:latin typeface="Nanum Gothic"/>
              <a:ea typeface="Nanum Gothic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 rot="10800000">
            <a:off x="446312" y="1164"/>
            <a:ext cx="1012372" cy="1480164"/>
          </a:xfrm>
          <a:prstGeom prst="round2SameRect">
            <a:avLst>
              <a:gd name="adj1" fmla="val 32925"/>
              <a:gd name="adj2" fmla="val 0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 anchorCtr="0">
            <a:prstTxWarp prst="textNoShape">
              <a:avLst/>
            </a:prstTxWarp>
            <a:no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kumimoji="0" lang="ko-KR" altLang="en-US" sz="2200" b="0" i="0" u="none" strike="noStrike" cap="none" spc="0" normalizeH="0" baseline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81" y="146173"/>
            <a:ext cx="1170432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1300">
                <a:solidFill>
                  <a:schemeClr val="bg1"/>
                </a:solidFill>
              </a:rPr>
              <a:t>CHAPTER</a:t>
            </a:r>
            <a:endParaRPr kumimoji="0" lang="ko-KR" altLang="en-US" sz="1300" b="1" i="0" u="none" strike="noStrike" cap="none" spc="0" normalizeH="0" baseline="0">
              <a:solidFill>
                <a:schemeClr val="bg1"/>
              </a:solidFill>
              <a:uFillTx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413" y="448820"/>
            <a:ext cx="1698171" cy="87203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ctr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kumimoji="0" lang="en-US" altLang="ko-KR" sz="5000" b="1" i="0" u="none" strike="noStrike" cap="none" spc="0" normalizeH="0" baseline="0">
                <a:solidFill>
                  <a:schemeClr val="bg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kumimoji="0" lang="ko-KR" altLang="en-US" sz="5000" b="1" i="0" u="none" strike="noStrike" cap="none" spc="0" normalizeH="0" baseline="0">
              <a:solidFill>
                <a:schemeClr val="bg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6743" y="245678"/>
            <a:ext cx="8093530" cy="47192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b="0">
                <a:solidFill>
                  <a:srgbClr val="000000"/>
                </a:solidFill>
                <a:latin typeface="NanumBarunGothic Light"/>
                <a:ea typeface="NanumBarunGothic Light"/>
              </a:rPr>
              <a:t>파이썬 기반의 머신 러닝과 생태계 이해</a:t>
            </a:r>
            <a:endParaRPr kumimoji="0" lang="ko-KR" altLang="en-US" sz="2400" b="0" u="none" strike="noStrike" cap="none" spc="0" normalizeH="0" baseline="0">
              <a:solidFill>
                <a:srgbClr val="000000"/>
              </a:solidFill>
              <a:uFillTx/>
              <a:latin typeface="NanumBarunGothic Light"/>
              <a:ea typeface="NanumBarunGothic Light"/>
              <a:sym typeface="Helvetica Neu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6743" y="763184"/>
            <a:ext cx="10941746" cy="71814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marL="0" marR="0" indent="0" algn="l" defTabSz="584200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ko-KR" sz="4000">
                <a:solidFill>
                  <a:srgbClr val="000000"/>
                </a:solidFill>
                <a:latin typeface="NanumBarunGothic"/>
                <a:ea typeface="NanumBarunGothic"/>
              </a:rPr>
              <a:t>5.</a:t>
            </a:r>
            <a:r>
              <a:rPr lang="ko-KR" altLang="en-US" sz="4000">
                <a:solidFill>
                  <a:srgbClr val="000000"/>
                </a:solidFill>
                <a:latin typeface="NanumBarunGothic"/>
                <a:ea typeface="NanumBarunGothic"/>
              </a:rPr>
              <a:t> 과제</a:t>
            </a:r>
            <a:endParaRPr lang="en-US" altLang="ko-KR" sz="4000">
              <a:solidFill>
                <a:srgbClr val="000000"/>
              </a:solidFill>
              <a:latin typeface="NanumBarunGothic"/>
              <a:ea typeface="NanumBarunGothic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52497" y="1895477"/>
            <a:ext cx="6297389" cy="6829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noAutofit/>
          </a:bodyPr>
          <a:lstStyle/>
          <a:p>
            <a:pPr lvl="0">
              <a:defRPr/>
            </a:pP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과제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2.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 다음과 같은 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‘DataFrame’</a:t>
            </a:r>
            <a:r>
              <a:rPr lang="ko-KR" altLang="en-US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을 만들어 보세요</a:t>
            </a:r>
            <a:r>
              <a:rPr lang="en-US" altLang="ko-KR" sz="2300" b="0">
                <a:solidFill>
                  <a:schemeClr val="bg1"/>
                </a:solidFill>
                <a:latin typeface="NanumBarunGothic Light"/>
                <a:ea typeface="NanumBarunGothic Light"/>
              </a:rPr>
              <a:t>.</a:t>
            </a:r>
            <a:endParaRPr lang="en-US" altLang="ko-KR" sz="2300" b="0">
              <a:solidFill>
                <a:schemeClr val="bg1"/>
              </a:solidFill>
              <a:latin typeface="NanumBarunGothic Light"/>
              <a:ea typeface="NanumBarunGothic Ligh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05735" y="3170328"/>
            <a:ext cx="3993329" cy="52847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0354" y="9356598"/>
            <a:ext cx="8444089" cy="30264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vert="horz" wrap="square" lIns="50800" tIns="50800" rIns="50800" bIns="50800" anchor="ctr">
            <a:spAutoFit/>
          </a:bodyPr>
          <a:lstStyle/>
          <a:p>
            <a:pPr lvl="0">
              <a:defRPr/>
            </a:pPr>
            <a:r>
              <a:rPr lang="en-US" altLang="ko-KR" sz="1300" b="0">
                <a:solidFill>
                  <a:schemeClr val="tx1"/>
                </a:solidFill>
                <a:latin typeface="Nanum Gothic"/>
                <a:ea typeface="Nanum Gothic"/>
              </a:rPr>
              <a:t>CUAI Study Group 1 | https://www.github.com/CUAI-Group-1</a:t>
            </a:r>
            <a:endParaRPr kumimoji="0" lang="ko-KR" altLang="en-US" sz="1300" b="0" u="none" strike="noStrike" cap="none" spc="0" normalizeH="0" baseline="0">
              <a:solidFill>
                <a:schemeClr val="tx1"/>
              </a:solidFill>
              <a:uFillTx/>
              <a:latin typeface="Nanum Gothic"/>
              <a:ea typeface="Nanum Gothic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5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2200" b="0" i="0" u="none" strike="noStrike" cap="none" spc="0" normalizeH="0" baseline="0">
            <a:solidFill>
              <a:srgbClr val="ffffff"/>
            </a:solidFill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rgbClr val="000000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2400" b="1" i="0" u="none" strike="noStrike" cap="none" spc="0" normalizeH="0" baseline="0">
            <a:solidFill>
              <a:srgbClr val="000000"/>
            </a:solidFill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2200" b="0" i="0" u="none" strike="noStrike" cap="none" spc="0" normalizeH="0" baseline="0">
            <a:solidFill>
              <a:srgbClr val="ffffff"/>
            </a:solidFill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rgbClr val="000000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2400" b="1" i="0" u="none" strike="noStrike" cap="none" spc="0" normalizeH="0" baseline="0">
            <a:solidFill>
              <a:srgbClr val="000000"/>
            </a:solidFill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None/>
          <a:defRPr kumimoji="0" sz="1800" b="0" i="0" u="none" strike="noStrike" cap="none" spc="0" normalizeH="0" baseline="0">
            <a:solidFill>
              <a:srgbClr val="000000"/>
            </a:solidFill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655</ep:Words>
  <ep:PresentationFormat>사용자 지정</ep:PresentationFormat>
  <ep:Paragraphs>123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White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양명철</dc:creator>
  <cp:lastModifiedBy>windows</cp:lastModifiedBy>
  <dcterms:modified xsi:type="dcterms:W3CDTF">2019-09-17T04:26:50.231</dcterms:modified>
  <cp:revision>102</cp:revision>
  <dc:title>Deep-learning Study</dc:title>
  <cp:version>0906.0100.01</cp:version>
</cp:coreProperties>
</file>