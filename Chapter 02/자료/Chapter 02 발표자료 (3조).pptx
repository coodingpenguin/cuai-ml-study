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60" r:id="rId2"/>
    <p:sldId id="258" r:id="rId3"/>
    <p:sldId id="261" r:id="rId4"/>
    <p:sldId id="275" r:id="rId5"/>
    <p:sldId id="295" r:id="rId6"/>
    <p:sldId id="297" r:id="rId7"/>
    <p:sldId id="312" r:id="rId8"/>
    <p:sldId id="313" r:id="rId9"/>
    <p:sldId id="314" r:id="rId10"/>
    <p:sldId id="298" r:id="rId11"/>
    <p:sldId id="300" r:id="rId12"/>
    <p:sldId id="299" r:id="rId13"/>
    <p:sldId id="301" r:id="rId14"/>
    <p:sldId id="290" r:id="rId15"/>
    <p:sldId id="315" r:id="rId16"/>
    <p:sldId id="316" r:id="rId17"/>
    <p:sldId id="303" r:id="rId18"/>
    <p:sldId id="304" r:id="rId19"/>
    <p:sldId id="317" r:id="rId20"/>
    <p:sldId id="318" r:id="rId21"/>
    <p:sldId id="305" r:id="rId22"/>
    <p:sldId id="319" r:id="rId23"/>
    <p:sldId id="306" r:id="rId24"/>
    <p:sldId id="307" r:id="rId25"/>
    <p:sldId id="308" r:id="rId26"/>
    <p:sldId id="309" r:id="rId27"/>
    <p:sldId id="311" r:id="rId28"/>
    <p:sldId id="272" r:id="rId29"/>
  </p:sldIdLst>
  <p:sldSz cx="12192000" cy="6858000"/>
  <p:notesSz cx="6858000" cy="9144000"/>
  <p:embeddedFontLst>
    <p:embeddedFont>
      <p:font typeface="배달의민족 도현" panose="020B0600000101010101" pitchFamily="50" charset="-127"/>
      <p:regular r:id="rId30"/>
    </p:embeddedFont>
    <p:embeddedFont>
      <p:font typeface="배달의민족 주아" panose="02020603020101020101" pitchFamily="18" charset="-127"/>
      <p:regular r:id="rId31"/>
    </p:embeddedFont>
    <p:embeddedFont>
      <p:font typeface="맑은 고딕" panose="020B0503020000020004" pitchFamily="50" charset="-127"/>
      <p:regular r:id="rId32"/>
      <p:bold r:id="rId33"/>
    </p:embeddedFont>
    <p:embeddedFont>
      <p:font typeface="배달의민족 한나는 열한살" panose="020B0600000101010101" pitchFamily="50" charset="-127"/>
      <p:regular r:id="rId34"/>
    </p:embeddedFont>
    <p:embeddedFont>
      <p:font typeface="ＭＳ Ｐゴシック" panose="020B0600070205080204" pitchFamily="34" charset="-128"/>
      <p:regular r:id="rId35"/>
    </p:embeddedFont>
    <p:embeddedFont>
      <p:font typeface="Cambria Math" panose="02040503050406030204" pitchFamily="18" charset="0"/>
      <p:regular r:id="rId3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9B9"/>
    <a:srgbClr val="3D3830"/>
    <a:srgbClr val="2F6DA0"/>
    <a:srgbClr val="0F3363"/>
    <a:srgbClr val="1498EB"/>
    <a:srgbClr val="8CC5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14" autoAdjust="0"/>
    <p:restoredTop sz="86380" autoAdjust="0"/>
  </p:normalViewPr>
  <p:slideViewPr>
    <p:cSldViewPr snapToGrid="0" showGuides="1">
      <p:cViewPr varScale="1">
        <p:scale>
          <a:sx n="37" d="100"/>
          <a:sy n="37" d="100"/>
        </p:scale>
        <p:origin x="44" y="288"/>
      </p:cViewPr>
      <p:guideLst>
        <p:guide orient="horz" pos="2183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5586A-0788-4CE9-8C7E-ECF7F411605D}" type="datetimeFigureOut">
              <a:rPr lang="ko-KR" altLang="en-US" smtClean="0"/>
              <a:t>2019-09-17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4614-5B10-4E92-9BD9-CBC35C2F1A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284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5586A-0788-4CE9-8C7E-ECF7F411605D}" type="datetimeFigureOut">
              <a:rPr lang="ko-KR" altLang="en-US" smtClean="0"/>
              <a:t>2019-09-17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4614-5B10-4E92-9BD9-CBC35C2F1A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739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5586A-0788-4CE9-8C7E-ECF7F411605D}" type="datetimeFigureOut">
              <a:rPr lang="ko-KR" altLang="en-US" smtClean="0"/>
              <a:t>2019-09-17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4614-5B10-4E92-9BD9-CBC35C2F1A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81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5586A-0788-4CE9-8C7E-ECF7F411605D}" type="datetimeFigureOut">
              <a:rPr lang="ko-KR" altLang="en-US" smtClean="0"/>
              <a:t>2019-09-17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4614-5B10-4E92-9BD9-CBC35C2F1A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488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5586A-0788-4CE9-8C7E-ECF7F411605D}" type="datetimeFigureOut">
              <a:rPr lang="ko-KR" altLang="en-US" smtClean="0"/>
              <a:t>2019-09-17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4614-5B10-4E92-9BD9-CBC35C2F1A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324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5586A-0788-4CE9-8C7E-ECF7F411605D}" type="datetimeFigureOut">
              <a:rPr lang="ko-KR" altLang="en-US" smtClean="0"/>
              <a:t>2019-09-17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4614-5B10-4E92-9BD9-CBC35C2F1A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140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5586A-0788-4CE9-8C7E-ECF7F411605D}" type="datetimeFigureOut">
              <a:rPr lang="ko-KR" altLang="en-US" smtClean="0"/>
              <a:t>2019-09-17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4614-5B10-4E92-9BD9-CBC35C2F1A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459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5586A-0788-4CE9-8C7E-ECF7F411605D}" type="datetimeFigureOut">
              <a:rPr lang="ko-KR" altLang="en-US" smtClean="0"/>
              <a:t>2019-09-17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4614-5B10-4E92-9BD9-CBC35C2F1A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8355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5586A-0788-4CE9-8C7E-ECF7F411605D}" type="datetimeFigureOut">
              <a:rPr lang="ko-KR" altLang="en-US" smtClean="0"/>
              <a:t>2019-09-17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4614-5B10-4E92-9BD9-CBC35C2F1A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93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5586A-0788-4CE9-8C7E-ECF7F411605D}" type="datetimeFigureOut">
              <a:rPr lang="ko-KR" altLang="en-US" smtClean="0"/>
              <a:t>2019-09-17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4614-5B10-4E92-9BD9-CBC35C2F1A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386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5586A-0788-4CE9-8C7E-ECF7F411605D}" type="datetimeFigureOut">
              <a:rPr lang="ko-KR" altLang="en-US" smtClean="0"/>
              <a:t>2019-09-17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4614-5B10-4E92-9BD9-CBC35C2F1A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0680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5586A-0788-4CE9-8C7E-ECF7F411605D}" type="datetimeFigureOut">
              <a:rPr lang="ko-KR" altLang="en-US" smtClean="0"/>
              <a:t>2019-09-17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A34614-5B10-4E92-9BD9-CBC35C2F1A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519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2051AB2-2089-4204-9542-15A818D6F0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2B18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78087" y="1305342"/>
            <a:ext cx="6678431" cy="2123658"/>
          </a:xfrm>
          <a:prstGeom prst="rect">
            <a:avLst/>
          </a:prstGeom>
          <a:solidFill>
            <a:srgbClr val="3D383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400" dirty="0">
                <a:solidFill>
                  <a:prstClr val="white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데이터 전처리와</a:t>
            </a:r>
            <a:endParaRPr lang="en-US" altLang="ko-KR" sz="4400" dirty="0">
              <a:solidFill>
                <a:prstClr val="white"/>
              </a:solidFill>
              <a:latin typeface="배달의민족 한나는 열한살" panose="020B0600000101010101" pitchFamily="50" charset="-127"/>
              <a:ea typeface="배달의민족 한나는 열한살" panose="020B0600000101010101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  <a:cs typeface="+mn-cs"/>
              </a:rPr>
              <a:t>	</a:t>
            </a:r>
            <a:r>
              <a:rPr kumimoji="0" lang="ko-KR" alt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  <a:cs typeface="+mn-cs"/>
              </a:rPr>
              <a:t>사이킷런으로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  <a:cs typeface="+mn-cs"/>
              </a:rPr>
              <a:t> 수행하는</a:t>
            </a:r>
            <a:endParaRPr kumimoji="0" lang="en-US" altLang="ko-KR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배달의민족 한나는 열한살" panose="020B0600000101010101" pitchFamily="50" charset="-127"/>
              <a:ea typeface="배달의민족 한나는 열한살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400" dirty="0">
                <a:solidFill>
                  <a:prstClr val="white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		</a:t>
            </a:r>
            <a:r>
              <a:rPr lang="ko-KR" altLang="en-US" sz="4400" dirty="0">
                <a:solidFill>
                  <a:prstClr val="white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타이타닉 생존자 예측</a:t>
            </a:r>
            <a:endParaRPr kumimoji="0" lang="en-US" altLang="ko-KR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배달의민족 한나는 열한살" panose="020B0600000101010101" pitchFamily="50" charset="-127"/>
              <a:ea typeface="배달의민족 한나는 열한살" panose="020B0600000101010101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51584" y="3762748"/>
            <a:ext cx="1702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>
                    <a:lumMod val="85000"/>
                  </a:prst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CUAI </a:t>
            </a:r>
            <a:r>
              <a:rPr lang="ko-KR" altLang="en-US" dirty="0">
                <a:solidFill>
                  <a:prstClr val="white">
                    <a:lumMod val="85000"/>
                  </a:prst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삼삼오오팀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배달의민족 주아" panose="02020603020101020101" pitchFamily="18" charset="-127"/>
              <a:ea typeface="배달의민족 주아" panose="02020603020101020101" pitchFamily="18" charset="-127"/>
              <a:cs typeface="+mn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524000" y="6093296"/>
            <a:ext cx="9144000" cy="7647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2243572" y="3595874"/>
            <a:ext cx="7704856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439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/>
        </p:nvCxnSpPr>
        <p:spPr>
          <a:xfrm flipV="1">
            <a:off x="7474715" y="0"/>
            <a:ext cx="3498085" cy="7373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V="1">
            <a:off x="0" y="1091220"/>
            <a:ext cx="4696098" cy="1193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4499545" y="718724"/>
            <a:ext cx="3046392" cy="458769"/>
          </a:xfrm>
          <a:prstGeom prst="rect">
            <a:avLst/>
          </a:prstGeom>
          <a:solidFill>
            <a:srgbClr val="382B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EEECE1">
                  <a:lumMod val="25000"/>
                </a:srgb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01977" y="2858996"/>
            <a:ext cx="1845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1-1. </a:t>
            </a:r>
            <a:r>
              <a:rPr lang="ko-KR" altLang="en-US" sz="16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데이터 인코딩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1977" y="3197550"/>
            <a:ext cx="20810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1-2. </a:t>
            </a:r>
            <a:r>
              <a:rPr lang="ko-KR" altLang="en-US" sz="16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데이터 스케일링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49026" y="702506"/>
            <a:ext cx="2076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prstClr val="white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CONTENTS</a:t>
            </a:r>
            <a:endParaRPr lang="ko-KR" altLang="en-US" sz="2800" dirty="0">
              <a:solidFill>
                <a:prstClr val="white"/>
              </a:solidFill>
              <a:latin typeface="배달의민족 한나는 열한살" panose="020B0600000101010101" pitchFamily="50" charset="-127"/>
              <a:ea typeface="배달의민족 한나는 열한살" panose="020B0600000101010101" pitchFamily="50" charset="-127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4676926" y="2329076"/>
            <a:ext cx="2707961" cy="565092"/>
            <a:chOff x="4668380" y="1854508"/>
            <a:chExt cx="2707961" cy="565092"/>
          </a:xfrm>
          <a:solidFill>
            <a:srgbClr val="63463B"/>
          </a:solidFill>
        </p:grpSpPr>
        <p:grpSp>
          <p:nvGrpSpPr>
            <p:cNvPr id="7" name="그룹 6"/>
            <p:cNvGrpSpPr/>
            <p:nvPr/>
          </p:nvGrpSpPr>
          <p:grpSpPr>
            <a:xfrm>
              <a:off x="4669141" y="1854508"/>
              <a:ext cx="2707200" cy="432000"/>
              <a:chOff x="4735583" y="1864993"/>
              <a:chExt cx="2707200" cy="432000"/>
            </a:xfrm>
            <a:grpFill/>
          </p:grpSpPr>
          <p:sp>
            <p:nvSpPr>
              <p:cNvPr id="26" name="직사각형 25"/>
              <p:cNvSpPr/>
              <p:nvPr/>
            </p:nvSpPr>
            <p:spPr>
              <a:xfrm>
                <a:off x="4735583" y="1864993"/>
                <a:ext cx="2707200" cy="432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089521" y="1872893"/>
                <a:ext cx="1702710" cy="40011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배달의민족 주아" panose="02020603020101020101" pitchFamily="18" charset="-127"/>
                    <a:ea typeface="배달의민족 주아" panose="02020603020101020101" pitchFamily="18" charset="-127"/>
                  </a:rPr>
                  <a:t>1. </a:t>
                </a:r>
                <a:r>
                  <a:rPr lang="ko-KR" altLang="en-US" sz="2000" dirty="0">
                    <a:solidFill>
                      <a:schemeClr val="bg1"/>
                    </a:solidFill>
                    <a:latin typeface="배달의민족 주아" panose="02020603020101020101" pitchFamily="18" charset="-127"/>
                    <a:ea typeface="배달의민족 주아" panose="02020603020101020101" pitchFamily="18" charset="-127"/>
                  </a:rPr>
                  <a:t>데이터 </a:t>
                </a:r>
                <a:r>
                  <a:rPr lang="ko-KR" altLang="en-US" sz="2000" dirty="0" err="1">
                    <a:solidFill>
                      <a:schemeClr val="bg1"/>
                    </a:solidFill>
                    <a:latin typeface="배달의민족 주아" panose="02020603020101020101" pitchFamily="18" charset="-127"/>
                    <a:ea typeface="배달의민족 주아" panose="02020603020101020101" pitchFamily="18" charset="-127"/>
                  </a:rPr>
                  <a:t>전처리</a:t>
                </a:r>
                <a:endParaRPr lang="ko-KR" altLang="en-US" sz="2000" dirty="0">
                  <a:solidFill>
                    <a:schemeClr val="bg1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</a:endParaRPr>
              </a:p>
            </p:txBody>
          </p:sp>
        </p:grpSp>
        <p:sp>
          <p:nvSpPr>
            <p:cNvPr id="3" name="직각 삼각형 2"/>
            <p:cNvSpPr/>
            <p:nvPr/>
          </p:nvSpPr>
          <p:spPr>
            <a:xfrm flipH="1" flipV="1">
              <a:off x="4668380" y="2285195"/>
              <a:ext cx="134405" cy="134405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4" name="직선 연결선 23"/>
          <p:cNvCxnSpPr/>
          <p:nvPr/>
        </p:nvCxnSpPr>
        <p:spPr>
          <a:xfrm>
            <a:off x="4735583" y="770285"/>
            <a:ext cx="144016" cy="14401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01977" y="4495230"/>
            <a:ext cx="2579552" cy="9787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2-1.  Preprocessing</a:t>
            </a:r>
          </a:p>
          <a:p>
            <a:pPr>
              <a:lnSpc>
                <a:spcPct val="120000"/>
              </a:lnSpc>
            </a:pPr>
            <a:r>
              <a:rPr lang="en-US" altLang="ko-KR" sz="16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2-2. </a:t>
            </a:r>
            <a:r>
              <a:rPr lang="ko-KR" altLang="en-US" sz="16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테스트 데이터 추출법</a:t>
            </a:r>
            <a:endParaRPr lang="en-US" altLang="ko-KR" sz="1600" dirty="0">
              <a:solidFill>
                <a:srgbClr val="3D383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6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2-3. </a:t>
            </a:r>
            <a:r>
              <a:rPr lang="ko-KR" altLang="en-US" sz="16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교차 검증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4673001" y="4003274"/>
            <a:ext cx="2707961" cy="565092"/>
            <a:chOff x="4668380" y="1854508"/>
            <a:chExt cx="2707961" cy="565092"/>
          </a:xfrm>
          <a:solidFill>
            <a:srgbClr val="63463B"/>
          </a:solidFill>
        </p:grpSpPr>
        <p:grpSp>
          <p:nvGrpSpPr>
            <p:cNvPr id="35" name="그룹 34"/>
            <p:cNvGrpSpPr/>
            <p:nvPr/>
          </p:nvGrpSpPr>
          <p:grpSpPr>
            <a:xfrm>
              <a:off x="4669141" y="1854508"/>
              <a:ext cx="2707200" cy="432000"/>
              <a:chOff x="4735583" y="1864993"/>
              <a:chExt cx="2707200" cy="432000"/>
            </a:xfrm>
            <a:grpFill/>
          </p:grpSpPr>
          <p:sp>
            <p:nvSpPr>
              <p:cNvPr id="37" name="직사각형 36"/>
              <p:cNvSpPr/>
              <p:nvPr/>
            </p:nvSpPr>
            <p:spPr>
              <a:xfrm>
                <a:off x="4735583" y="1864993"/>
                <a:ext cx="2707200" cy="432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4859707" y="1880938"/>
                <a:ext cx="2449710" cy="40011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배달의민족 주아" panose="02020603020101020101" pitchFamily="18" charset="-127"/>
                    <a:ea typeface="배달의민족 주아" panose="02020603020101020101" pitchFamily="18" charset="-127"/>
                  </a:rPr>
                  <a:t>2. </a:t>
                </a:r>
                <a:r>
                  <a:rPr lang="ko-KR" altLang="en-US" sz="2000" dirty="0">
                    <a:solidFill>
                      <a:schemeClr val="bg1"/>
                    </a:solidFill>
                    <a:latin typeface="배달의민족 주아" panose="02020603020101020101" pitchFamily="18" charset="-127"/>
                    <a:ea typeface="배달의민족 주아" panose="02020603020101020101" pitchFamily="18" charset="-127"/>
                  </a:rPr>
                  <a:t>타이타닉 생존자 예측</a:t>
                </a:r>
              </a:p>
            </p:txBody>
          </p:sp>
        </p:grpSp>
        <p:sp>
          <p:nvSpPr>
            <p:cNvPr id="36" name="직각 삼각형 35"/>
            <p:cNvSpPr/>
            <p:nvPr/>
          </p:nvSpPr>
          <p:spPr>
            <a:xfrm flipH="1" flipV="1">
              <a:off x="4668380" y="2285195"/>
              <a:ext cx="134405" cy="134405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9547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DB638E3-85EF-4D05-85F2-BF250A8CD5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243572" y="6093296"/>
            <a:ext cx="7704856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43572" y="2400317"/>
            <a:ext cx="3215945" cy="707886"/>
          </a:xfrm>
          <a:prstGeom prst="rect">
            <a:avLst/>
          </a:prstGeom>
          <a:solidFill>
            <a:srgbClr val="3D383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배달의민족 주아" panose="02020603020101020101" pitchFamily="18" charset="-127"/>
                <a:ea typeface="배달의민족 주아" panose="02020603020101020101" pitchFamily="18" charset="-127"/>
                <a:cs typeface="+mn-cs"/>
              </a:rPr>
              <a:t>1.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배달의민족 주아" panose="02020603020101020101" pitchFamily="18" charset="-127"/>
                <a:ea typeface="배달의민족 주아" panose="02020603020101020101" pitchFamily="18" charset="-127"/>
                <a:cs typeface="+mn-cs"/>
              </a:rPr>
              <a:t>데이터 </a:t>
            </a:r>
            <a:r>
              <a:rPr kumimoji="0" lang="ko-KR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배달의민족 주아" panose="02020603020101020101" pitchFamily="18" charset="-127"/>
                <a:ea typeface="배달의민족 주아" panose="02020603020101020101" pitchFamily="18" charset="-127"/>
                <a:cs typeface="+mn-cs"/>
              </a:rPr>
              <a:t>전처리</a:t>
            </a:r>
            <a:endParaRPr kumimoji="0" lang="en-US" altLang="ko-KR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배달의민족 주아" panose="02020603020101020101" pitchFamily="18" charset="-127"/>
              <a:ea typeface="배달의민족 주아" panose="02020603020101020101" pitchFamily="18" charset="-127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58109" y="3046202"/>
            <a:ext cx="2638864" cy="977191"/>
          </a:xfrm>
          <a:prstGeom prst="rect">
            <a:avLst/>
          </a:prstGeom>
          <a:solidFill>
            <a:srgbClr val="3D383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1-1.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데이터 인코딩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1-2.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데이터 스케일링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 </a:t>
            </a:r>
          </a:p>
        </p:txBody>
      </p:sp>
      <p:sp>
        <p:nvSpPr>
          <p:cNvPr id="14" name="오각형 13"/>
          <p:cNvSpPr/>
          <p:nvPr/>
        </p:nvSpPr>
        <p:spPr>
          <a:xfrm rot="5400000">
            <a:off x="9677269" y="0"/>
            <a:ext cx="720000" cy="720000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261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A35EDE-F5B8-429D-B1D2-C2E54CA94B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CD856-78BA-4161-BF13-ACC74CA0965B}"/>
              </a:ext>
            </a:extLst>
          </p:cNvPr>
          <p:cNvSpPr/>
          <p:nvPr/>
        </p:nvSpPr>
        <p:spPr>
          <a:xfrm>
            <a:off x="0" y="-11430"/>
            <a:ext cx="12192000" cy="688085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DC98E629-0EA0-4EDD-8C96-1D192CE35CC0}"/>
              </a:ext>
            </a:extLst>
          </p:cNvPr>
          <p:cNvSpPr txBox="1">
            <a:spLocks/>
          </p:cNvSpPr>
          <p:nvPr/>
        </p:nvSpPr>
        <p:spPr>
          <a:xfrm>
            <a:off x="932877" y="1409278"/>
            <a:ext cx="4155582" cy="49076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A.</a:t>
            </a:r>
            <a:r>
              <a:rPr lang="en-US" altLang="ko-KR" dirty="0">
                <a:solidFill>
                  <a:srgbClr val="3D3830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 Null</a:t>
            </a:r>
            <a:r>
              <a:rPr lang="ko-KR" altLang="en-US" dirty="0">
                <a:solidFill>
                  <a:srgbClr val="3D3830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값 처리</a:t>
            </a:r>
            <a:endParaRPr kumimoji="0" lang="en-US" altLang="ko-KR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배달의민족 한나는 열한살" panose="020B0600000101010101" pitchFamily="50" charset="-127"/>
              <a:ea typeface="배달의민족 한나는 열한살" panose="020B0600000101010101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배달의민족 한나는 열한살" panose="020B0600000101010101" pitchFamily="50" charset="-127"/>
              <a:ea typeface="배달의민족 한나는 열한살" panose="020B0600000101010101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B. </a:t>
            </a:r>
            <a:r>
              <a:rPr kumimoji="0" lang="ko-KR" altLang="en-US" i="0" u="none" strike="noStrike" kern="1200" cap="none" spc="0" normalizeH="0" baseline="0" noProof="0" dirty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데이터 인코딩</a:t>
            </a:r>
            <a:endParaRPr kumimoji="0" lang="en-US" altLang="ko-KR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배달의민족 한나는 열한살" panose="020B0600000101010101" pitchFamily="50" charset="-127"/>
              <a:ea typeface="배달의민족 한나는 열한살" panose="020B0600000101010101" pitchFamily="50" charset="-127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Label Encoder</a:t>
            </a:r>
          </a:p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One-Hot Encoder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배달의민족 한나는 열한살" panose="020B0600000101010101" pitchFamily="50" charset="-127"/>
              <a:ea typeface="배달의민족 한나는 열한살" panose="020B0600000101010101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>
                <a:solidFill>
                  <a:srgbClr val="3D3830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C.</a:t>
            </a: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 </a:t>
            </a:r>
            <a:r>
              <a:rPr kumimoji="0" lang="ko-KR" altLang="en-US" i="0" u="none" strike="noStrike" kern="1200" cap="none" spc="0" normalizeH="0" baseline="0" noProof="0" dirty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스케일링</a:t>
            </a:r>
            <a:endParaRPr kumimoji="0" lang="en-US" altLang="ko-KR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배달의민족 한나는 열한살" panose="020B0600000101010101" pitchFamily="50" charset="-127"/>
              <a:ea typeface="배달의민족 한나는 열한살" panose="020B0600000101010101" pitchFamily="50" charset="-127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StandardScaler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MinMaxScaler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배달의민족 한나는 열한살" panose="020B0600000101010101" pitchFamily="50" charset="-127"/>
              <a:ea typeface="배달의민족 한나는 열한살" panose="020B0600000101010101" pitchFamily="50" charset="-127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6DDBF90-1434-4161-A6ED-98E2A5DD1B91}"/>
              </a:ext>
            </a:extLst>
          </p:cNvPr>
          <p:cNvGrpSpPr/>
          <p:nvPr/>
        </p:nvGrpSpPr>
        <p:grpSpPr>
          <a:xfrm>
            <a:off x="9503253" y="5395227"/>
            <a:ext cx="1153376" cy="1424658"/>
            <a:chOff x="606175" y="1911879"/>
            <a:chExt cx="1425486" cy="1758448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848DC3EB-09B9-4E63-9F72-219BF3356535}"/>
                </a:ext>
              </a:extLst>
            </p:cNvPr>
            <p:cNvSpPr/>
            <p:nvPr/>
          </p:nvSpPr>
          <p:spPr>
            <a:xfrm>
              <a:off x="1108508" y="3434109"/>
              <a:ext cx="101600" cy="236218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>
                  <a:shade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8DE2D6E2-0085-442C-95D5-DA2713E83BC4}"/>
                </a:ext>
              </a:extLst>
            </p:cNvPr>
            <p:cNvSpPr/>
            <p:nvPr/>
          </p:nvSpPr>
          <p:spPr>
            <a:xfrm>
              <a:off x="1475753" y="3432235"/>
              <a:ext cx="101600" cy="236218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>
                  <a:shade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C95AF40-37B0-431C-B43E-166260973D78}"/>
                </a:ext>
              </a:extLst>
            </p:cNvPr>
            <p:cNvSpPr/>
            <p:nvPr/>
          </p:nvSpPr>
          <p:spPr>
            <a:xfrm rot="942030">
              <a:off x="769297" y="2699290"/>
              <a:ext cx="63576" cy="492778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>
                  <a:shade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901629D-AA55-4542-91D7-8CA5CFC757FC}"/>
                </a:ext>
              </a:extLst>
            </p:cNvPr>
            <p:cNvSpPr/>
            <p:nvPr/>
          </p:nvSpPr>
          <p:spPr>
            <a:xfrm rot="20802753">
              <a:off x="1811035" y="2704273"/>
              <a:ext cx="65325" cy="509442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>
                  <a:shade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4825D5FF-FB3D-4B70-B110-5E02F1AF1F07}"/>
                </a:ext>
              </a:extLst>
            </p:cNvPr>
            <p:cNvSpPr/>
            <p:nvPr/>
          </p:nvSpPr>
          <p:spPr>
            <a:xfrm>
              <a:off x="838200" y="2559068"/>
              <a:ext cx="981075" cy="869932"/>
            </a:xfrm>
            <a:prstGeom prst="roundRect">
              <a:avLst/>
            </a:prstGeom>
            <a:solidFill>
              <a:srgbClr val="FFFF00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84773C43-9E23-4D29-B9C2-50D5DD9DD767}"/>
                </a:ext>
              </a:extLst>
            </p:cNvPr>
            <p:cNvSpPr/>
            <p:nvPr/>
          </p:nvSpPr>
          <p:spPr>
            <a:xfrm>
              <a:off x="911591" y="1953676"/>
              <a:ext cx="816789" cy="600283"/>
            </a:xfrm>
            <a:prstGeom prst="roundRect">
              <a:avLst/>
            </a:prstGeom>
            <a:solidFill>
              <a:srgbClr val="FFFF00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2C588386-BBE5-44AA-AADD-F01ADEA01D9C}"/>
                </a:ext>
              </a:extLst>
            </p:cNvPr>
            <p:cNvSpPr/>
            <p:nvPr/>
          </p:nvSpPr>
          <p:spPr>
            <a:xfrm>
              <a:off x="1159308" y="2406813"/>
              <a:ext cx="300505" cy="45719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solidFill>
                <a:srgbClr val="FFFF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928B1449-58C0-4028-82C8-BBA69978764A}"/>
                </a:ext>
              </a:extLst>
            </p:cNvPr>
            <p:cNvSpPr/>
            <p:nvPr/>
          </p:nvSpPr>
          <p:spPr>
            <a:xfrm>
              <a:off x="1053355" y="2221878"/>
              <a:ext cx="134207" cy="109043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rgbClr val="FFFF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18853422-0C24-444C-8833-2928E4FCF1F3}"/>
                </a:ext>
              </a:extLst>
            </p:cNvPr>
            <p:cNvSpPr/>
            <p:nvPr/>
          </p:nvSpPr>
          <p:spPr>
            <a:xfrm>
              <a:off x="1408455" y="2221878"/>
              <a:ext cx="134207" cy="109043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rgbClr val="FFFF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FF9F3AAD-F45F-4E29-8540-F732744C85A0}"/>
                </a:ext>
              </a:extLst>
            </p:cNvPr>
            <p:cNvSpPr/>
            <p:nvPr/>
          </p:nvSpPr>
          <p:spPr>
            <a:xfrm>
              <a:off x="926588" y="2757537"/>
              <a:ext cx="796925" cy="433941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3D3830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머신</a:t>
              </a:r>
            </a:p>
          </p:txBody>
        </p:sp>
        <p:sp>
          <p:nvSpPr>
            <p:cNvPr id="42" name="막힌 원호 41">
              <a:extLst>
                <a:ext uri="{FF2B5EF4-FFF2-40B4-BE49-F238E27FC236}">
                  <a16:creationId xmlns:a16="http://schemas.microsoft.com/office/drawing/2014/main" id="{3C546958-8627-41D2-B3AB-C923345D6E4D}"/>
                </a:ext>
              </a:extLst>
            </p:cNvPr>
            <p:cNvSpPr/>
            <p:nvPr/>
          </p:nvSpPr>
          <p:spPr>
            <a:xfrm rot="918457">
              <a:off x="606175" y="3174911"/>
              <a:ext cx="195262" cy="219075"/>
            </a:xfrm>
            <a:prstGeom prst="blockArc">
              <a:avLst/>
            </a:prstGeom>
            <a:solidFill>
              <a:srgbClr val="00B0F0"/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007A262D-F6AF-4614-B370-42E1622A9DF5}"/>
                </a:ext>
              </a:extLst>
            </p:cNvPr>
            <p:cNvSpPr/>
            <p:nvPr/>
          </p:nvSpPr>
          <p:spPr>
            <a:xfrm>
              <a:off x="926588" y="1911879"/>
              <a:ext cx="780466" cy="143145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4" name="막힌 원호 43">
              <a:extLst>
                <a:ext uri="{FF2B5EF4-FFF2-40B4-BE49-F238E27FC236}">
                  <a16:creationId xmlns:a16="http://schemas.microsoft.com/office/drawing/2014/main" id="{FA823425-5724-4733-B56E-51018F7B49D0}"/>
                </a:ext>
              </a:extLst>
            </p:cNvPr>
            <p:cNvSpPr/>
            <p:nvPr/>
          </p:nvSpPr>
          <p:spPr>
            <a:xfrm rot="20493245">
              <a:off x="1836399" y="3178286"/>
              <a:ext cx="195262" cy="219075"/>
            </a:xfrm>
            <a:prstGeom prst="blockArc">
              <a:avLst/>
            </a:prstGeom>
            <a:solidFill>
              <a:srgbClr val="00B0F0"/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859A81C4-E5FD-4599-A5D6-E8033FA5E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093974"/>
              </p:ext>
            </p:extLst>
          </p:nvPr>
        </p:nvGraphicFramePr>
        <p:xfrm>
          <a:off x="6702762" y="2049621"/>
          <a:ext cx="3759111" cy="2639200"/>
        </p:xfrm>
        <a:graphic>
          <a:graphicData uri="http://schemas.openxmlformats.org/drawingml/2006/table">
            <a:tbl>
              <a:tblPr firstRow="1" bandRow="1"/>
              <a:tblGrid>
                <a:gridCol w="1253037">
                  <a:extLst>
                    <a:ext uri="{9D8B030D-6E8A-4147-A177-3AD203B41FA5}">
                      <a16:colId xmlns:a16="http://schemas.microsoft.com/office/drawing/2014/main" val="1732837231"/>
                    </a:ext>
                  </a:extLst>
                </a:gridCol>
                <a:gridCol w="1253037">
                  <a:extLst>
                    <a:ext uri="{9D8B030D-6E8A-4147-A177-3AD203B41FA5}">
                      <a16:colId xmlns:a16="http://schemas.microsoft.com/office/drawing/2014/main" val="3616476212"/>
                    </a:ext>
                  </a:extLst>
                </a:gridCol>
                <a:gridCol w="1253037">
                  <a:extLst>
                    <a:ext uri="{9D8B030D-6E8A-4147-A177-3AD203B41FA5}">
                      <a16:colId xmlns:a16="http://schemas.microsoft.com/office/drawing/2014/main" val="2240179704"/>
                    </a:ext>
                  </a:extLst>
                </a:gridCol>
              </a:tblGrid>
              <a:tr h="527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dirty="0"/>
                        <a:t>Animal</a:t>
                      </a:r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dirty="0"/>
                        <a:t>Age(y)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dirty="0"/>
                        <a:t>size(m)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107399"/>
                  </a:ext>
                </a:extLst>
              </a:tr>
              <a:tr h="527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dirty="0"/>
                        <a:t>Dog</a:t>
                      </a:r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dirty="0"/>
                        <a:t>0.5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45483"/>
                  </a:ext>
                </a:extLst>
              </a:tr>
              <a:tr h="527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dirty="0"/>
                        <a:t>Cat</a:t>
                      </a:r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dirty="0"/>
                        <a:t>0.2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920965"/>
                  </a:ext>
                </a:extLst>
              </a:tr>
              <a:tr h="527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dirty="0"/>
                        <a:t>Pig</a:t>
                      </a:r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483198"/>
                  </a:ext>
                </a:extLst>
              </a:tr>
              <a:tr h="527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dirty="0"/>
                        <a:t>Turtle</a:t>
                      </a:r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dirty="0"/>
                        <a:t>80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dirty="0"/>
                        <a:t>0.3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098258"/>
                  </a:ext>
                </a:extLst>
              </a:tr>
            </a:tbl>
          </a:graphicData>
        </a:graphic>
      </p:graphicFrame>
      <p:sp>
        <p:nvSpPr>
          <p:cNvPr id="46" name="正方形/長方形 1">
            <a:extLst>
              <a:ext uri="{FF2B5EF4-FFF2-40B4-BE49-F238E27FC236}">
                <a16:creationId xmlns:a16="http://schemas.microsoft.com/office/drawing/2014/main" id="{DF6EA75D-9458-45F1-BE28-67DEF5D29A4C}"/>
              </a:ext>
            </a:extLst>
          </p:cNvPr>
          <p:cNvSpPr/>
          <p:nvPr/>
        </p:nvSpPr>
        <p:spPr>
          <a:xfrm>
            <a:off x="808382" y="0"/>
            <a:ext cx="1828801" cy="132522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sp>
        <p:nvSpPr>
          <p:cNvPr id="47" name="正方形/長方形 2">
            <a:extLst>
              <a:ext uri="{FF2B5EF4-FFF2-40B4-BE49-F238E27FC236}">
                <a16:creationId xmlns:a16="http://schemas.microsoft.com/office/drawing/2014/main" id="{DA6A0CE3-6368-4ED1-B0DB-3C0543FD046D}"/>
              </a:ext>
            </a:extLst>
          </p:cNvPr>
          <p:cNvSpPr/>
          <p:nvPr/>
        </p:nvSpPr>
        <p:spPr>
          <a:xfrm flipV="1">
            <a:off x="0" y="6804461"/>
            <a:ext cx="12192000" cy="76398"/>
          </a:xfrm>
          <a:prstGeom prst="rect">
            <a:avLst/>
          </a:prstGeom>
          <a:solidFill>
            <a:srgbClr val="3D3830"/>
          </a:solidFill>
          <a:ln>
            <a:solidFill>
              <a:srgbClr val="3D38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cxnSp>
        <p:nvCxnSpPr>
          <p:cNvPr id="48" name="直線コネクタ 12">
            <a:extLst>
              <a:ext uri="{FF2B5EF4-FFF2-40B4-BE49-F238E27FC236}">
                <a16:creationId xmlns:a16="http://schemas.microsoft.com/office/drawing/2014/main" id="{62C87091-16DE-49DB-99D2-0CE67C3C6D09}"/>
              </a:ext>
            </a:extLst>
          </p:cNvPr>
          <p:cNvCxnSpPr/>
          <p:nvPr/>
        </p:nvCxnSpPr>
        <p:spPr>
          <a:xfrm>
            <a:off x="808382" y="1073426"/>
            <a:ext cx="113836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3">
            <a:extLst>
              <a:ext uri="{FF2B5EF4-FFF2-40B4-BE49-F238E27FC236}">
                <a16:creationId xmlns:a16="http://schemas.microsoft.com/office/drawing/2014/main" id="{4D8B0868-2C8F-465C-A821-4663920F8077}"/>
              </a:ext>
            </a:extLst>
          </p:cNvPr>
          <p:cNvSpPr txBox="1"/>
          <p:nvPr/>
        </p:nvSpPr>
        <p:spPr>
          <a:xfrm>
            <a:off x="736498" y="453868"/>
            <a:ext cx="30909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1.</a:t>
            </a:r>
            <a:r>
              <a:rPr kumimoji="1" lang="ko-KR" altLang="en-US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 데이터 </a:t>
            </a:r>
            <a:r>
              <a:rPr kumimoji="1" lang="ko-KR" altLang="en-US" sz="3200" dirty="0" err="1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전처리</a:t>
            </a:r>
            <a:endParaRPr kumimoji="1" lang="ja-JP" altLang="en-US" sz="3200" dirty="0">
              <a:solidFill>
                <a:srgbClr val="3D3830"/>
              </a:solidFill>
              <a:latin typeface="배달의민족 도현" panose="020B0600000101010101" pitchFamily="50" charset="-127"/>
              <a:ea typeface="조선일보명조" pitchFamily="18" charset="-127"/>
              <a:cs typeface="조선일보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529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A35EDE-F5B8-429D-B1D2-C2E54CA94B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CD856-78BA-4161-BF13-ACC74CA0965B}"/>
              </a:ext>
            </a:extLst>
          </p:cNvPr>
          <p:cNvSpPr/>
          <p:nvPr/>
        </p:nvSpPr>
        <p:spPr>
          <a:xfrm>
            <a:off x="0" y="0"/>
            <a:ext cx="12192000" cy="688085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正方形/長方形 1">
            <a:extLst>
              <a:ext uri="{FF2B5EF4-FFF2-40B4-BE49-F238E27FC236}">
                <a16:creationId xmlns:a16="http://schemas.microsoft.com/office/drawing/2014/main" id="{DF6EA75D-9458-45F1-BE28-67DEF5D29A4C}"/>
              </a:ext>
            </a:extLst>
          </p:cNvPr>
          <p:cNvSpPr/>
          <p:nvPr/>
        </p:nvSpPr>
        <p:spPr>
          <a:xfrm>
            <a:off x="808382" y="0"/>
            <a:ext cx="1828801" cy="132522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sp>
        <p:nvSpPr>
          <p:cNvPr id="47" name="正方形/長方形 2">
            <a:extLst>
              <a:ext uri="{FF2B5EF4-FFF2-40B4-BE49-F238E27FC236}">
                <a16:creationId xmlns:a16="http://schemas.microsoft.com/office/drawing/2014/main" id="{DA6A0CE3-6368-4ED1-B0DB-3C0543FD046D}"/>
              </a:ext>
            </a:extLst>
          </p:cNvPr>
          <p:cNvSpPr/>
          <p:nvPr/>
        </p:nvSpPr>
        <p:spPr>
          <a:xfrm flipV="1">
            <a:off x="0" y="6804461"/>
            <a:ext cx="12192000" cy="76398"/>
          </a:xfrm>
          <a:prstGeom prst="rect">
            <a:avLst/>
          </a:prstGeom>
          <a:solidFill>
            <a:srgbClr val="3D3830"/>
          </a:solidFill>
          <a:ln>
            <a:solidFill>
              <a:srgbClr val="3D38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cxnSp>
        <p:nvCxnSpPr>
          <p:cNvPr id="48" name="直線コネクタ 12">
            <a:extLst>
              <a:ext uri="{FF2B5EF4-FFF2-40B4-BE49-F238E27FC236}">
                <a16:creationId xmlns:a16="http://schemas.microsoft.com/office/drawing/2014/main" id="{62C87091-16DE-49DB-99D2-0CE67C3C6D09}"/>
              </a:ext>
            </a:extLst>
          </p:cNvPr>
          <p:cNvCxnSpPr/>
          <p:nvPr/>
        </p:nvCxnSpPr>
        <p:spPr>
          <a:xfrm>
            <a:off x="808382" y="1073426"/>
            <a:ext cx="113836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3">
            <a:extLst>
              <a:ext uri="{FF2B5EF4-FFF2-40B4-BE49-F238E27FC236}">
                <a16:creationId xmlns:a16="http://schemas.microsoft.com/office/drawing/2014/main" id="{4D8B0868-2C8F-465C-A821-4663920F8077}"/>
              </a:ext>
            </a:extLst>
          </p:cNvPr>
          <p:cNvSpPr txBox="1"/>
          <p:nvPr/>
        </p:nvSpPr>
        <p:spPr>
          <a:xfrm>
            <a:off x="736498" y="453868"/>
            <a:ext cx="35092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1-1.</a:t>
            </a:r>
            <a:r>
              <a:rPr kumimoji="1" lang="ko-KR" altLang="en-US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 데이터 인코딩</a:t>
            </a:r>
            <a:endParaRPr kumimoji="1" lang="ja-JP" altLang="en-US" sz="3200" dirty="0">
              <a:solidFill>
                <a:srgbClr val="3D3830"/>
              </a:solidFill>
              <a:latin typeface="배달의민족 도현" panose="020B0600000101010101" pitchFamily="50" charset="-127"/>
              <a:ea typeface="조선일보명조" pitchFamily="18" charset="-127"/>
              <a:cs typeface="조선일보명조" pitchFamily="18" charset="-127"/>
            </a:endParaRPr>
          </a:p>
        </p:txBody>
      </p:sp>
      <p:sp>
        <p:nvSpPr>
          <p:cNvPr id="86" name="제목 1">
            <a:extLst>
              <a:ext uri="{FF2B5EF4-FFF2-40B4-BE49-F238E27FC236}">
                <a16:creationId xmlns:a16="http://schemas.microsoft.com/office/drawing/2014/main" id="{2050D715-EF89-48A5-93D2-C894C747FF74}"/>
              </a:ext>
            </a:extLst>
          </p:cNvPr>
          <p:cNvSpPr txBox="1">
            <a:spLocks/>
          </p:cNvSpPr>
          <p:nvPr/>
        </p:nvSpPr>
        <p:spPr>
          <a:xfrm>
            <a:off x="2047903" y="1327994"/>
            <a:ext cx="7900525" cy="9959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What is a Encoder?</a:t>
            </a:r>
            <a:endParaRPr lang="ko-KR" altLang="en-US" sz="3200" dirty="0">
              <a:solidFill>
                <a:srgbClr val="3D383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F06859CC-E9A9-4390-A912-C65C80698CCA}"/>
              </a:ext>
            </a:extLst>
          </p:cNvPr>
          <p:cNvGrpSpPr/>
          <p:nvPr/>
        </p:nvGrpSpPr>
        <p:grpSpPr>
          <a:xfrm>
            <a:off x="3190963" y="4631594"/>
            <a:ext cx="1357240" cy="1719494"/>
            <a:chOff x="606175" y="1911879"/>
            <a:chExt cx="1425486" cy="1758448"/>
          </a:xfrm>
        </p:grpSpPr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5056EBF7-3044-4E64-ACE9-F60B70B0ACA9}"/>
                </a:ext>
              </a:extLst>
            </p:cNvPr>
            <p:cNvSpPr/>
            <p:nvPr/>
          </p:nvSpPr>
          <p:spPr>
            <a:xfrm>
              <a:off x="1108508" y="3434109"/>
              <a:ext cx="101600" cy="23621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A042DDB6-AE82-422C-B4E5-69D96466B5D6}"/>
                </a:ext>
              </a:extLst>
            </p:cNvPr>
            <p:cNvSpPr/>
            <p:nvPr/>
          </p:nvSpPr>
          <p:spPr>
            <a:xfrm>
              <a:off x="1475753" y="3432235"/>
              <a:ext cx="101600" cy="23621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B2BB896B-719A-4C35-A78F-FB76E9F598D5}"/>
                </a:ext>
              </a:extLst>
            </p:cNvPr>
            <p:cNvSpPr/>
            <p:nvPr/>
          </p:nvSpPr>
          <p:spPr>
            <a:xfrm rot="942030">
              <a:off x="769297" y="2699290"/>
              <a:ext cx="63576" cy="49277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ACD1FEFC-1E65-4AEA-AA78-8D0ACA11F1B0}"/>
                </a:ext>
              </a:extLst>
            </p:cNvPr>
            <p:cNvSpPr/>
            <p:nvPr/>
          </p:nvSpPr>
          <p:spPr>
            <a:xfrm rot="20802753">
              <a:off x="1811035" y="2704273"/>
              <a:ext cx="65325" cy="50944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  <p:sp>
          <p:nvSpPr>
            <p:cNvPr id="92" name="사각형: 둥근 모서리 91">
              <a:extLst>
                <a:ext uri="{FF2B5EF4-FFF2-40B4-BE49-F238E27FC236}">
                  <a16:creationId xmlns:a16="http://schemas.microsoft.com/office/drawing/2014/main" id="{217BC012-0AE9-4B61-8461-14DE0AA1C7BB}"/>
                </a:ext>
              </a:extLst>
            </p:cNvPr>
            <p:cNvSpPr/>
            <p:nvPr/>
          </p:nvSpPr>
          <p:spPr>
            <a:xfrm>
              <a:off x="838200" y="2559068"/>
              <a:ext cx="981075" cy="869932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228D595C-7BF2-4D58-870D-21DF2E755F24}"/>
                </a:ext>
              </a:extLst>
            </p:cNvPr>
            <p:cNvSpPr/>
            <p:nvPr/>
          </p:nvSpPr>
          <p:spPr>
            <a:xfrm>
              <a:off x="911591" y="1953676"/>
              <a:ext cx="816789" cy="600283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5255221C-7D67-4D83-AA98-8F9426860C44}"/>
                </a:ext>
              </a:extLst>
            </p:cNvPr>
            <p:cNvSpPr/>
            <p:nvPr/>
          </p:nvSpPr>
          <p:spPr>
            <a:xfrm>
              <a:off x="1159308" y="2406813"/>
              <a:ext cx="300505" cy="45719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B40C75C5-15C7-4DA0-888C-7BA722C1E512}"/>
                </a:ext>
              </a:extLst>
            </p:cNvPr>
            <p:cNvSpPr/>
            <p:nvPr/>
          </p:nvSpPr>
          <p:spPr>
            <a:xfrm>
              <a:off x="1053355" y="2221878"/>
              <a:ext cx="134207" cy="109043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BDD1F316-B89D-4545-BBC1-86F9D7D38BBA}"/>
                </a:ext>
              </a:extLst>
            </p:cNvPr>
            <p:cNvSpPr/>
            <p:nvPr/>
          </p:nvSpPr>
          <p:spPr>
            <a:xfrm>
              <a:off x="1408455" y="2221878"/>
              <a:ext cx="134207" cy="109043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A698E82D-13D6-4FCC-985D-AAAFE2DCF30D}"/>
                </a:ext>
              </a:extLst>
            </p:cNvPr>
            <p:cNvSpPr/>
            <p:nvPr/>
          </p:nvSpPr>
          <p:spPr>
            <a:xfrm>
              <a:off x="926588" y="2757537"/>
              <a:ext cx="796925" cy="43394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rPr>
                <a:t>머신</a:t>
              </a:r>
            </a:p>
          </p:txBody>
        </p:sp>
        <p:sp>
          <p:nvSpPr>
            <p:cNvPr id="98" name="막힌 원호 97">
              <a:extLst>
                <a:ext uri="{FF2B5EF4-FFF2-40B4-BE49-F238E27FC236}">
                  <a16:creationId xmlns:a16="http://schemas.microsoft.com/office/drawing/2014/main" id="{0C5AD639-E892-46D6-8B5E-0F07C0AE492E}"/>
                </a:ext>
              </a:extLst>
            </p:cNvPr>
            <p:cNvSpPr/>
            <p:nvPr/>
          </p:nvSpPr>
          <p:spPr>
            <a:xfrm rot="918457">
              <a:off x="606175" y="3174911"/>
              <a:ext cx="195262" cy="219075"/>
            </a:xfrm>
            <a:prstGeom prst="blockArc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A1F9A871-336B-4017-B3AF-7FA46F8B2C28}"/>
                </a:ext>
              </a:extLst>
            </p:cNvPr>
            <p:cNvSpPr/>
            <p:nvPr/>
          </p:nvSpPr>
          <p:spPr>
            <a:xfrm>
              <a:off x="926588" y="1911879"/>
              <a:ext cx="780466" cy="14314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  <p:sp>
          <p:nvSpPr>
            <p:cNvPr id="100" name="막힌 원호 99">
              <a:extLst>
                <a:ext uri="{FF2B5EF4-FFF2-40B4-BE49-F238E27FC236}">
                  <a16:creationId xmlns:a16="http://schemas.microsoft.com/office/drawing/2014/main" id="{3E3A4FD9-A276-4D37-A9E2-0EFED53BEEB6}"/>
                </a:ext>
              </a:extLst>
            </p:cNvPr>
            <p:cNvSpPr/>
            <p:nvPr/>
          </p:nvSpPr>
          <p:spPr>
            <a:xfrm rot="20493245">
              <a:off x="1836399" y="3178286"/>
              <a:ext cx="195262" cy="219075"/>
            </a:xfrm>
            <a:prstGeom prst="blockArc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</p:grpSp>
      <p:graphicFrame>
        <p:nvGraphicFramePr>
          <p:cNvPr id="101" name="표 100">
            <a:extLst>
              <a:ext uri="{FF2B5EF4-FFF2-40B4-BE49-F238E27FC236}">
                <a16:creationId xmlns:a16="http://schemas.microsoft.com/office/drawing/2014/main" id="{9A7ACEEB-4A8B-4FFA-A4B9-6A9D81633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747761"/>
              </p:ext>
            </p:extLst>
          </p:nvPr>
        </p:nvGraphicFramePr>
        <p:xfrm>
          <a:off x="1779877" y="4182158"/>
          <a:ext cx="841656" cy="215458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41656">
                  <a:extLst>
                    <a:ext uri="{9D8B030D-6E8A-4147-A177-3AD203B41FA5}">
                      <a16:colId xmlns:a16="http://schemas.microsoft.com/office/drawing/2014/main" val="1732837231"/>
                    </a:ext>
                  </a:extLst>
                </a:gridCol>
              </a:tblGrid>
              <a:tr h="496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Animal</a:t>
                      </a:r>
                      <a:endParaRPr lang="ko-KR" altLang="en-US" sz="1400" dirty="0"/>
                    </a:p>
                  </a:txBody>
                  <a:tcPr marL="68700" marR="68700" marT="34350" marB="34350" anchor="ctr"/>
                </a:tc>
                <a:extLst>
                  <a:ext uri="{0D108BD9-81ED-4DB2-BD59-A6C34878D82A}">
                    <a16:rowId xmlns:a16="http://schemas.microsoft.com/office/drawing/2014/main" val="2185107399"/>
                  </a:ext>
                </a:extLst>
              </a:tr>
              <a:tr h="4144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Dog</a:t>
                      </a:r>
                      <a:endParaRPr lang="ko-KR" altLang="en-US" sz="1400" dirty="0"/>
                    </a:p>
                  </a:txBody>
                  <a:tcPr marL="68700" marR="68700" marT="34350" marB="34350" anchor="ctr"/>
                </a:tc>
                <a:extLst>
                  <a:ext uri="{0D108BD9-81ED-4DB2-BD59-A6C34878D82A}">
                    <a16:rowId xmlns:a16="http://schemas.microsoft.com/office/drawing/2014/main" val="242445483"/>
                  </a:ext>
                </a:extLst>
              </a:tr>
              <a:tr h="4144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Cat</a:t>
                      </a:r>
                      <a:endParaRPr lang="ko-KR" altLang="en-US" sz="1400" dirty="0"/>
                    </a:p>
                  </a:txBody>
                  <a:tcPr marL="68700" marR="68700" marT="34350" marB="34350" anchor="ctr"/>
                </a:tc>
                <a:extLst>
                  <a:ext uri="{0D108BD9-81ED-4DB2-BD59-A6C34878D82A}">
                    <a16:rowId xmlns:a16="http://schemas.microsoft.com/office/drawing/2014/main" val="3896920965"/>
                  </a:ext>
                </a:extLst>
              </a:tr>
              <a:tr h="4144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Pig</a:t>
                      </a:r>
                      <a:endParaRPr lang="ko-KR" altLang="en-US" sz="1400" dirty="0"/>
                    </a:p>
                  </a:txBody>
                  <a:tcPr marL="68700" marR="68700" marT="34350" marB="34350" anchor="ctr"/>
                </a:tc>
                <a:extLst>
                  <a:ext uri="{0D108BD9-81ED-4DB2-BD59-A6C34878D82A}">
                    <a16:rowId xmlns:a16="http://schemas.microsoft.com/office/drawing/2014/main" val="639483198"/>
                  </a:ext>
                </a:extLst>
              </a:tr>
              <a:tr h="4144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Turtle</a:t>
                      </a:r>
                      <a:endParaRPr lang="ko-KR" altLang="en-US" sz="1400" dirty="0"/>
                    </a:p>
                  </a:txBody>
                  <a:tcPr marL="68700" marR="68700" marT="34350" marB="34350" anchor="ctr"/>
                </a:tc>
                <a:extLst>
                  <a:ext uri="{0D108BD9-81ED-4DB2-BD59-A6C34878D82A}">
                    <a16:rowId xmlns:a16="http://schemas.microsoft.com/office/drawing/2014/main" val="1344098258"/>
                  </a:ext>
                </a:extLst>
              </a:tr>
            </a:tbl>
          </a:graphicData>
        </a:graphic>
      </p:graphicFrame>
      <p:sp>
        <p:nvSpPr>
          <p:cNvPr id="102" name="생각 풍선: 구름 모양 101">
            <a:extLst>
              <a:ext uri="{FF2B5EF4-FFF2-40B4-BE49-F238E27FC236}">
                <a16:creationId xmlns:a16="http://schemas.microsoft.com/office/drawing/2014/main" id="{31A7DF9B-F4DC-4F99-A1A1-9769D45BDC70}"/>
              </a:ext>
            </a:extLst>
          </p:cNvPr>
          <p:cNvSpPr/>
          <p:nvPr/>
        </p:nvSpPr>
        <p:spPr>
          <a:xfrm>
            <a:off x="3744516" y="2954017"/>
            <a:ext cx="1624264" cy="1180631"/>
          </a:xfrm>
          <a:prstGeom prst="cloud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문자는 </a:t>
            </a:r>
            <a:endParaRPr lang="en-US" altLang="ko-KR" sz="1400" dirty="0">
              <a:latin typeface="배달의민족 한나는 열한살" panose="020B0600000101010101" pitchFamily="50" charset="-127"/>
              <a:ea typeface="배달의민족 한나는 열한살" panose="020B0600000101010101" pitchFamily="50" charset="-127"/>
            </a:endParaRPr>
          </a:p>
          <a:p>
            <a:pPr algn="ctr"/>
            <a:r>
              <a:rPr lang="ko-KR" altLang="en-US" sz="1400" dirty="0"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너무 </a:t>
            </a:r>
            <a:endParaRPr lang="en-US" altLang="ko-KR" sz="1400" dirty="0">
              <a:latin typeface="배달의민족 한나는 열한살" panose="020B0600000101010101" pitchFamily="50" charset="-127"/>
              <a:ea typeface="배달의민족 한나는 열한살" panose="020B0600000101010101" pitchFamily="50" charset="-127"/>
            </a:endParaRPr>
          </a:p>
          <a:p>
            <a:pPr algn="ctr"/>
            <a:r>
              <a:rPr lang="ko-KR" altLang="en-US" sz="1400" dirty="0"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어려워</a:t>
            </a:r>
            <a:r>
              <a:rPr lang="en-US" altLang="ko-KR" sz="1400" dirty="0"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…</a:t>
            </a:r>
            <a:endParaRPr lang="ko-KR" altLang="en-US" sz="1400" dirty="0">
              <a:latin typeface="배달의민족 한나는 열한살" panose="020B0600000101010101" pitchFamily="50" charset="-127"/>
              <a:ea typeface="배달의민족 한나는 열한살" panose="020B0600000101010101" pitchFamily="50" charset="-127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A4F9C915-4EC2-4449-8927-21E4B37D4D0A}"/>
              </a:ext>
            </a:extLst>
          </p:cNvPr>
          <p:cNvGrpSpPr/>
          <p:nvPr/>
        </p:nvGrpSpPr>
        <p:grpSpPr>
          <a:xfrm>
            <a:off x="5557140" y="3035284"/>
            <a:ext cx="2007918" cy="3318033"/>
            <a:chOff x="6737619" y="1977979"/>
            <a:chExt cx="2672539" cy="4416302"/>
          </a:xfrm>
        </p:grpSpPr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B92FF75D-3572-442C-8E76-109099DC1C19}"/>
                </a:ext>
              </a:extLst>
            </p:cNvPr>
            <p:cNvGrpSpPr/>
            <p:nvPr/>
          </p:nvGrpSpPr>
          <p:grpSpPr>
            <a:xfrm>
              <a:off x="6737619" y="3008428"/>
              <a:ext cx="2672539" cy="3385853"/>
              <a:chOff x="606175" y="1911879"/>
              <a:chExt cx="1425486" cy="1758448"/>
            </a:xfrm>
          </p:grpSpPr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B6A481CB-557B-47BD-A0C8-4B20A54F4B4C}"/>
                  </a:ext>
                </a:extLst>
              </p:cNvPr>
              <p:cNvSpPr/>
              <p:nvPr/>
            </p:nvSpPr>
            <p:spPr>
              <a:xfrm>
                <a:off x="1108508" y="3434109"/>
                <a:ext cx="101600" cy="236218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B3898362-866C-4D1B-9457-6A58BD135E63}"/>
                  </a:ext>
                </a:extLst>
              </p:cNvPr>
              <p:cNvSpPr/>
              <p:nvPr/>
            </p:nvSpPr>
            <p:spPr>
              <a:xfrm>
                <a:off x="1475753" y="3432235"/>
                <a:ext cx="101600" cy="236218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048598BE-D8AF-4DB2-93DC-6DEF7C9C2007}"/>
                  </a:ext>
                </a:extLst>
              </p:cNvPr>
              <p:cNvSpPr/>
              <p:nvPr/>
            </p:nvSpPr>
            <p:spPr>
              <a:xfrm rot="942030">
                <a:off x="769297" y="2699290"/>
                <a:ext cx="63576" cy="492778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01F03FAD-6CF6-4E90-90C1-22EFF76C2B3E}"/>
                  </a:ext>
                </a:extLst>
              </p:cNvPr>
              <p:cNvSpPr/>
              <p:nvPr/>
            </p:nvSpPr>
            <p:spPr>
              <a:xfrm rot="20802753">
                <a:off x="1811035" y="2704273"/>
                <a:ext cx="65325" cy="509442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110" name="사각형: 둥근 모서리 109">
                <a:extLst>
                  <a:ext uri="{FF2B5EF4-FFF2-40B4-BE49-F238E27FC236}">
                    <a16:creationId xmlns:a16="http://schemas.microsoft.com/office/drawing/2014/main" id="{744D35AE-BF0D-4B4A-BE2B-2FFD1CAAE7D4}"/>
                  </a:ext>
                </a:extLst>
              </p:cNvPr>
              <p:cNvSpPr/>
              <p:nvPr/>
            </p:nvSpPr>
            <p:spPr>
              <a:xfrm>
                <a:off x="838200" y="2559068"/>
                <a:ext cx="981075" cy="869932"/>
              </a:xfrm>
              <a:prstGeom prst="round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111" name="사각형: 둥근 모서리 110">
                <a:extLst>
                  <a:ext uri="{FF2B5EF4-FFF2-40B4-BE49-F238E27FC236}">
                    <a16:creationId xmlns:a16="http://schemas.microsoft.com/office/drawing/2014/main" id="{6A521A02-8770-4DE6-89F1-7E321D6666E5}"/>
                  </a:ext>
                </a:extLst>
              </p:cNvPr>
              <p:cNvSpPr/>
              <p:nvPr/>
            </p:nvSpPr>
            <p:spPr>
              <a:xfrm>
                <a:off x="911591" y="1953676"/>
                <a:ext cx="816789" cy="600283"/>
              </a:xfrm>
              <a:prstGeom prst="round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61AE8A03-D7EA-4AB4-92DB-B44C39C0999C}"/>
                  </a:ext>
                </a:extLst>
              </p:cNvPr>
              <p:cNvSpPr/>
              <p:nvPr/>
            </p:nvSpPr>
            <p:spPr>
              <a:xfrm>
                <a:off x="1159308" y="2406813"/>
                <a:ext cx="300505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8FBB2DEF-AA20-4A23-BCFB-569EE56A2ACE}"/>
                  </a:ext>
                </a:extLst>
              </p:cNvPr>
              <p:cNvSpPr/>
              <p:nvPr/>
            </p:nvSpPr>
            <p:spPr>
              <a:xfrm>
                <a:off x="1053355" y="2221878"/>
                <a:ext cx="134207" cy="10904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95D19BDE-8F71-461C-9061-BC42DC7D10C8}"/>
                  </a:ext>
                </a:extLst>
              </p:cNvPr>
              <p:cNvSpPr/>
              <p:nvPr/>
            </p:nvSpPr>
            <p:spPr>
              <a:xfrm>
                <a:off x="1408455" y="2221878"/>
                <a:ext cx="134207" cy="10904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1348620B-281E-4704-AF3D-A30A7480A7A4}"/>
                  </a:ext>
                </a:extLst>
              </p:cNvPr>
              <p:cNvSpPr/>
              <p:nvPr/>
            </p:nvSpPr>
            <p:spPr>
              <a:xfrm>
                <a:off x="926588" y="2757537"/>
                <a:ext cx="796925" cy="43394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  <a:latin typeface="배달의민족 한나는 열한살" panose="020B0600000101010101" pitchFamily="50" charset="-127"/>
                    <a:ea typeface="배달의민족 한나는 열한살" panose="020B0600000101010101" pitchFamily="50" charset="-127"/>
                  </a:rPr>
                  <a:t>인코더</a:t>
                </a:r>
              </a:p>
            </p:txBody>
          </p:sp>
          <p:sp>
            <p:nvSpPr>
              <p:cNvPr id="116" name="막힌 원호 115">
                <a:extLst>
                  <a:ext uri="{FF2B5EF4-FFF2-40B4-BE49-F238E27FC236}">
                    <a16:creationId xmlns:a16="http://schemas.microsoft.com/office/drawing/2014/main" id="{F75C935D-02AE-4D47-A8AB-44D16F2214B3}"/>
                  </a:ext>
                </a:extLst>
              </p:cNvPr>
              <p:cNvSpPr/>
              <p:nvPr/>
            </p:nvSpPr>
            <p:spPr>
              <a:xfrm rot="918457">
                <a:off x="606175" y="3174911"/>
                <a:ext cx="195262" cy="219075"/>
              </a:xfrm>
              <a:prstGeom prst="blockArc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810FD268-23D6-454D-8A76-E70B91A53A86}"/>
                  </a:ext>
                </a:extLst>
              </p:cNvPr>
              <p:cNvSpPr/>
              <p:nvPr/>
            </p:nvSpPr>
            <p:spPr>
              <a:xfrm>
                <a:off x="926588" y="1911879"/>
                <a:ext cx="780466" cy="143145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118" name="막힌 원호 117">
                <a:extLst>
                  <a:ext uri="{FF2B5EF4-FFF2-40B4-BE49-F238E27FC236}">
                    <a16:creationId xmlns:a16="http://schemas.microsoft.com/office/drawing/2014/main" id="{C306BF24-6D4F-44C4-84EC-670B5665CC17}"/>
                  </a:ext>
                </a:extLst>
              </p:cNvPr>
              <p:cNvSpPr/>
              <p:nvPr/>
            </p:nvSpPr>
            <p:spPr>
              <a:xfrm rot="20493245">
                <a:off x="1836399" y="3178286"/>
                <a:ext cx="195262" cy="219075"/>
              </a:xfrm>
              <a:prstGeom prst="blockArc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</p:grpSp>
        <p:sp>
          <p:nvSpPr>
            <p:cNvPr id="105" name="1/2 액자 104">
              <a:extLst>
                <a:ext uri="{FF2B5EF4-FFF2-40B4-BE49-F238E27FC236}">
                  <a16:creationId xmlns:a16="http://schemas.microsoft.com/office/drawing/2014/main" id="{225F853A-7FE3-489A-A2B6-30CACC34234B}"/>
                </a:ext>
              </a:extLst>
            </p:cNvPr>
            <p:cNvSpPr/>
            <p:nvPr/>
          </p:nvSpPr>
          <p:spPr>
            <a:xfrm rot="13288558">
              <a:off x="7276879" y="1977979"/>
              <a:ext cx="1362075" cy="1325563"/>
            </a:xfrm>
            <a:prstGeom prst="halfFrame">
              <a:avLst>
                <a:gd name="adj1" fmla="val 22554"/>
                <a:gd name="adj2" fmla="val 25429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</p:grpSp>
      <p:graphicFrame>
        <p:nvGraphicFramePr>
          <p:cNvPr id="119" name="표 118">
            <a:extLst>
              <a:ext uri="{FF2B5EF4-FFF2-40B4-BE49-F238E27FC236}">
                <a16:creationId xmlns:a16="http://schemas.microsoft.com/office/drawing/2014/main" id="{4B2F4198-081A-4CB6-81F7-D8E96C1C57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494082"/>
              </p:ext>
            </p:extLst>
          </p:nvPr>
        </p:nvGraphicFramePr>
        <p:xfrm>
          <a:off x="8101376" y="3235254"/>
          <a:ext cx="841656" cy="312832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41656">
                  <a:extLst>
                    <a:ext uri="{9D8B030D-6E8A-4147-A177-3AD203B41FA5}">
                      <a16:colId xmlns:a16="http://schemas.microsoft.com/office/drawing/2014/main" val="1732837231"/>
                    </a:ext>
                  </a:extLst>
                </a:gridCol>
              </a:tblGrid>
              <a:tr h="6256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Animal</a:t>
                      </a:r>
                      <a:endParaRPr lang="ko-KR" altLang="en-US" sz="1400" dirty="0"/>
                    </a:p>
                  </a:txBody>
                  <a:tcPr marL="68700" marR="68700" marT="34350" marB="34350" anchor="ctr"/>
                </a:tc>
                <a:extLst>
                  <a:ext uri="{0D108BD9-81ED-4DB2-BD59-A6C34878D82A}">
                    <a16:rowId xmlns:a16="http://schemas.microsoft.com/office/drawing/2014/main" val="2185107399"/>
                  </a:ext>
                </a:extLst>
              </a:tr>
              <a:tr h="6256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Dog</a:t>
                      </a:r>
                      <a:endParaRPr lang="ko-KR" altLang="en-US" sz="1400" dirty="0"/>
                    </a:p>
                  </a:txBody>
                  <a:tcPr marL="68700" marR="68700" marT="34350" marB="34350" anchor="ctr"/>
                </a:tc>
                <a:extLst>
                  <a:ext uri="{0D108BD9-81ED-4DB2-BD59-A6C34878D82A}">
                    <a16:rowId xmlns:a16="http://schemas.microsoft.com/office/drawing/2014/main" val="242445483"/>
                  </a:ext>
                </a:extLst>
              </a:tr>
              <a:tr h="6256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Cat</a:t>
                      </a:r>
                      <a:endParaRPr lang="ko-KR" altLang="en-US" sz="1400" dirty="0"/>
                    </a:p>
                  </a:txBody>
                  <a:tcPr marL="68700" marR="68700" marT="34350" marB="34350" anchor="ctr"/>
                </a:tc>
                <a:extLst>
                  <a:ext uri="{0D108BD9-81ED-4DB2-BD59-A6C34878D82A}">
                    <a16:rowId xmlns:a16="http://schemas.microsoft.com/office/drawing/2014/main" val="3896920965"/>
                  </a:ext>
                </a:extLst>
              </a:tr>
              <a:tr h="6256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Pig</a:t>
                      </a:r>
                      <a:endParaRPr lang="ko-KR" altLang="en-US" sz="1400" dirty="0"/>
                    </a:p>
                  </a:txBody>
                  <a:tcPr marL="68700" marR="68700" marT="34350" marB="34350" anchor="ctr"/>
                </a:tc>
                <a:extLst>
                  <a:ext uri="{0D108BD9-81ED-4DB2-BD59-A6C34878D82A}">
                    <a16:rowId xmlns:a16="http://schemas.microsoft.com/office/drawing/2014/main" val="639483198"/>
                  </a:ext>
                </a:extLst>
              </a:tr>
              <a:tr h="6256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Turtle</a:t>
                      </a:r>
                      <a:endParaRPr lang="ko-KR" altLang="en-US" sz="1400" dirty="0"/>
                    </a:p>
                  </a:txBody>
                  <a:tcPr marL="68700" marR="68700" marT="34350" marB="34350" anchor="ctr"/>
                </a:tc>
                <a:extLst>
                  <a:ext uri="{0D108BD9-81ED-4DB2-BD59-A6C34878D82A}">
                    <a16:rowId xmlns:a16="http://schemas.microsoft.com/office/drawing/2014/main" val="1344098258"/>
                  </a:ext>
                </a:extLst>
              </a:tr>
            </a:tbl>
          </a:graphicData>
        </a:graphic>
      </p:graphicFrame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D4B3F9EB-565D-4EF1-921C-9FF6B88E7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445032"/>
              </p:ext>
            </p:extLst>
          </p:nvPr>
        </p:nvGraphicFramePr>
        <p:xfrm>
          <a:off x="10084378" y="3240607"/>
          <a:ext cx="841656" cy="312832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41656">
                  <a:extLst>
                    <a:ext uri="{9D8B030D-6E8A-4147-A177-3AD203B41FA5}">
                      <a16:colId xmlns:a16="http://schemas.microsoft.com/office/drawing/2014/main" val="1732837231"/>
                    </a:ext>
                  </a:extLst>
                </a:gridCol>
              </a:tblGrid>
              <a:tr h="6256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Animal</a:t>
                      </a:r>
                      <a:endParaRPr lang="ko-KR" altLang="en-US" sz="1400" dirty="0"/>
                    </a:p>
                  </a:txBody>
                  <a:tcPr marL="68700" marR="68700" marT="34350" marB="34350" anchor="ctr"/>
                </a:tc>
                <a:extLst>
                  <a:ext uri="{0D108BD9-81ED-4DB2-BD59-A6C34878D82A}">
                    <a16:rowId xmlns:a16="http://schemas.microsoft.com/office/drawing/2014/main" val="2185107399"/>
                  </a:ext>
                </a:extLst>
              </a:tr>
              <a:tr h="6256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L="68700" marR="68700" marT="34350" marB="34350" anchor="ctr"/>
                </a:tc>
                <a:extLst>
                  <a:ext uri="{0D108BD9-81ED-4DB2-BD59-A6C34878D82A}">
                    <a16:rowId xmlns:a16="http://schemas.microsoft.com/office/drawing/2014/main" val="242445483"/>
                  </a:ext>
                </a:extLst>
              </a:tr>
              <a:tr h="6256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L="68700" marR="68700" marT="34350" marB="34350" anchor="ctr"/>
                </a:tc>
                <a:extLst>
                  <a:ext uri="{0D108BD9-81ED-4DB2-BD59-A6C34878D82A}">
                    <a16:rowId xmlns:a16="http://schemas.microsoft.com/office/drawing/2014/main" val="3896920965"/>
                  </a:ext>
                </a:extLst>
              </a:tr>
              <a:tr h="6256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 marL="68700" marR="68700" marT="34350" marB="34350" anchor="ctr"/>
                </a:tc>
                <a:extLst>
                  <a:ext uri="{0D108BD9-81ED-4DB2-BD59-A6C34878D82A}">
                    <a16:rowId xmlns:a16="http://schemas.microsoft.com/office/drawing/2014/main" val="639483198"/>
                  </a:ext>
                </a:extLst>
              </a:tr>
              <a:tr h="6256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 marL="68700" marR="68700" marT="34350" marB="34350" anchor="ctr"/>
                </a:tc>
                <a:extLst>
                  <a:ext uri="{0D108BD9-81ED-4DB2-BD59-A6C34878D82A}">
                    <a16:rowId xmlns:a16="http://schemas.microsoft.com/office/drawing/2014/main" val="1344098258"/>
                  </a:ext>
                </a:extLst>
              </a:tr>
            </a:tbl>
          </a:graphicData>
        </a:graphic>
      </p:graphicFrame>
      <p:sp>
        <p:nvSpPr>
          <p:cNvPr id="121" name="화살표: 오른쪽 120">
            <a:extLst>
              <a:ext uri="{FF2B5EF4-FFF2-40B4-BE49-F238E27FC236}">
                <a16:creationId xmlns:a16="http://schemas.microsoft.com/office/drawing/2014/main" id="{755FFD36-EF4C-4CFD-BDD5-D9820E6FB8B5}"/>
              </a:ext>
            </a:extLst>
          </p:cNvPr>
          <p:cNvSpPr/>
          <p:nvPr/>
        </p:nvSpPr>
        <p:spPr>
          <a:xfrm>
            <a:off x="9259886" y="4080722"/>
            <a:ext cx="540680" cy="21602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3830"/>
              </a:solidFill>
            </a:endParaRPr>
          </a:p>
        </p:txBody>
      </p:sp>
      <p:sp>
        <p:nvSpPr>
          <p:cNvPr id="122" name="화살표: 오른쪽 121">
            <a:extLst>
              <a:ext uri="{FF2B5EF4-FFF2-40B4-BE49-F238E27FC236}">
                <a16:creationId xmlns:a16="http://schemas.microsoft.com/office/drawing/2014/main" id="{BC584A6D-8B22-4E17-87EA-AADF92391D7A}"/>
              </a:ext>
            </a:extLst>
          </p:cNvPr>
          <p:cNvSpPr/>
          <p:nvPr/>
        </p:nvSpPr>
        <p:spPr>
          <a:xfrm>
            <a:off x="9259886" y="4699416"/>
            <a:ext cx="540680" cy="21602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3830"/>
              </a:solidFill>
            </a:endParaRPr>
          </a:p>
        </p:txBody>
      </p:sp>
      <p:sp>
        <p:nvSpPr>
          <p:cNvPr id="123" name="화살표: 오른쪽 122">
            <a:extLst>
              <a:ext uri="{FF2B5EF4-FFF2-40B4-BE49-F238E27FC236}">
                <a16:creationId xmlns:a16="http://schemas.microsoft.com/office/drawing/2014/main" id="{767B25B4-FFD6-4A6B-A5E4-0121152A91A8}"/>
              </a:ext>
            </a:extLst>
          </p:cNvPr>
          <p:cNvSpPr/>
          <p:nvPr/>
        </p:nvSpPr>
        <p:spPr>
          <a:xfrm>
            <a:off x="9247407" y="5318111"/>
            <a:ext cx="540680" cy="21602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3830"/>
              </a:solidFill>
            </a:endParaRPr>
          </a:p>
        </p:txBody>
      </p:sp>
      <p:sp>
        <p:nvSpPr>
          <p:cNvPr id="124" name="화살표: 오른쪽 123">
            <a:extLst>
              <a:ext uri="{FF2B5EF4-FFF2-40B4-BE49-F238E27FC236}">
                <a16:creationId xmlns:a16="http://schemas.microsoft.com/office/drawing/2014/main" id="{67D97DA4-ABD2-4C53-BAA1-3A2FAE1A7510}"/>
              </a:ext>
            </a:extLst>
          </p:cNvPr>
          <p:cNvSpPr/>
          <p:nvPr/>
        </p:nvSpPr>
        <p:spPr>
          <a:xfrm>
            <a:off x="9258617" y="5941768"/>
            <a:ext cx="540680" cy="21602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38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778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animBg="1"/>
      <p:bldP spid="122" grpId="0" animBg="1"/>
      <p:bldP spid="123" grpId="0" animBg="1"/>
      <p:bldP spid="1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A35EDE-F5B8-429D-B1D2-C2E54CA94B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CD856-78BA-4161-BF13-ACC74CA0965B}"/>
              </a:ext>
            </a:extLst>
          </p:cNvPr>
          <p:cNvSpPr/>
          <p:nvPr/>
        </p:nvSpPr>
        <p:spPr>
          <a:xfrm>
            <a:off x="0" y="0"/>
            <a:ext cx="12192000" cy="688085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正方形/長方形 1">
            <a:extLst>
              <a:ext uri="{FF2B5EF4-FFF2-40B4-BE49-F238E27FC236}">
                <a16:creationId xmlns:a16="http://schemas.microsoft.com/office/drawing/2014/main" id="{DF6EA75D-9458-45F1-BE28-67DEF5D29A4C}"/>
              </a:ext>
            </a:extLst>
          </p:cNvPr>
          <p:cNvSpPr/>
          <p:nvPr/>
        </p:nvSpPr>
        <p:spPr>
          <a:xfrm>
            <a:off x="808382" y="0"/>
            <a:ext cx="1828801" cy="132522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sp>
        <p:nvSpPr>
          <p:cNvPr id="47" name="正方形/長方形 2">
            <a:extLst>
              <a:ext uri="{FF2B5EF4-FFF2-40B4-BE49-F238E27FC236}">
                <a16:creationId xmlns:a16="http://schemas.microsoft.com/office/drawing/2014/main" id="{DA6A0CE3-6368-4ED1-B0DB-3C0543FD046D}"/>
              </a:ext>
            </a:extLst>
          </p:cNvPr>
          <p:cNvSpPr/>
          <p:nvPr/>
        </p:nvSpPr>
        <p:spPr>
          <a:xfrm flipV="1">
            <a:off x="0" y="6804461"/>
            <a:ext cx="12192000" cy="76398"/>
          </a:xfrm>
          <a:prstGeom prst="rect">
            <a:avLst/>
          </a:prstGeom>
          <a:solidFill>
            <a:srgbClr val="3D3830"/>
          </a:solidFill>
          <a:ln>
            <a:solidFill>
              <a:srgbClr val="3D38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cxnSp>
        <p:nvCxnSpPr>
          <p:cNvPr id="48" name="直線コネクタ 12">
            <a:extLst>
              <a:ext uri="{FF2B5EF4-FFF2-40B4-BE49-F238E27FC236}">
                <a16:creationId xmlns:a16="http://schemas.microsoft.com/office/drawing/2014/main" id="{62C87091-16DE-49DB-99D2-0CE67C3C6D09}"/>
              </a:ext>
            </a:extLst>
          </p:cNvPr>
          <p:cNvCxnSpPr/>
          <p:nvPr/>
        </p:nvCxnSpPr>
        <p:spPr>
          <a:xfrm>
            <a:off x="808382" y="1073426"/>
            <a:ext cx="113836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3">
            <a:extLst>
              <a:ext uri="{FF2B5EF4-FFF2-40B4-BE49-F238E27FC236}">
                <a16:creationId xmlns:a16="http://schemas.microsoft.com/office/drawing/2014/main" id="{4D8B0868-2C8F-465C-A821-4663920F8077}"/>
              </a:ext>
            </a:extLst>
          </p:cNvPr>
          <p:cNvSpPr txBox="1"/>
          <p:nvPr/>
        </p:nvSpPr>
        <p:spPr>
          <a:xfrm>
            <a:off x="736498" y="453868"/>
            <a:ext cx="35092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1-1.</a:t>
            </a:r>
            <a:r>
              <a:rPr kumimoji="1" lang="ko-KR" altLang="en-US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 데이터 인코딩</a:t>
            </a:r>
            <a:endParaRPr kumimoji="1" lang="ja-JP" altLang="en-US" sz="3200" dirty="0">
              <a:solidFill>
                <a:srgbClr val="3D3830"/>
              </a:solidFill>
              <a:latin typeface="배달의민족 도현" panose="020B0600000101010101" pitchFamily="50" charset="-127"/>
              <a:ea typeface="조선일보명조" pitchFamily="18" charset="-127"/>
              <a:cs typeface="조선일보명조" pitchFamily="18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353783C-CFA2-4480-8E0B-06362DB3DC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168444"/>
              </p:ext>
            </p:extLst>
          </p:nvPr>
        </p:nvGraphicFramePr>
        <p:xfrm>
          <a:off x="2104679" y="1769065"/>
          <a:ext cx="1018404" cy="34411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18404">
                  <a:extLst>
                    <a:ext uri="{9D8B030D-6E8A-4147-A177-3AD203B41FA5}">
                      <a16:colId xmlns:a16="http://schemas.microsoft.com/office/drawing/2014/main" val="1732837231"/>
                    </a:ext>
                  </a:extLst>
                </a:gridCol>
              </a:tblGrid>
              <a:tr h="688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Animal</a:t>
                      </a:r>
                      <a:endParaRPr lang="ko-KR" altLang="en-US" sz="1500" dirty="0"/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2185107399"/>
                  </a:ext>
                </a:extLst>
              </a:tr>
              <a:tr h="688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Dog</a:t>
                      </a:r>
                      <a:endParaRPr lang="ko-KR" altLang="en-US" sz="1500" dirty="0"/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242445483"/>
                  </a:ext>
                </a:extLst>
              </a:tr>
              <a:tr h="688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Cat</a:t>
                      </a:r>
                      <a:endParaRPr lang="ko-KR" altLang="en-US" sz="1500" dirty="0"/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3896920965"/>
                  </a:ext>
                </a:extLst>
              </a:tr>
              <a:tr h="688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Pig</a:t>
                      </a:r>
                      <a:endParaRPr lang="ko-KR" altLang="en-US" sz="1500" dirty="0"/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639483198"/>
                  </a:ext>
                </a:extLst>
              </a:tr>
              <a:tr h="688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Turtle</a:t>
                      </a:r>
                      <a:endParaRPr lang="ko-KR" altLang="en-US" sz="1500" dirty="0"/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1344098258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02D7AA1-C41F-449D-ADA7-F6B1430A5D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066203"/>
              </p:ext>
            </p:extLst>
          </p:nvPr>
        </p:nvGraphicFramePr>
        <p:xfrm>
          <a:off x="4087681" y="1774418"/>
          <a:ext cx="1018404" cy="34411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18404">
                  <a:extLst>
                    <a:ext uri="{9D8B030D-6E8A-4147-A177-3AD203B41FA5}">
                      <a16:colId xmlns:a16="http://schemas.microsoft.com/office/drawing/2014/main" val="1732837231"/>
                    </a:ext>
                  </a:extLst>
                </a:gridCol>
              </a:tblGrid>
              <a:tr h="688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Animal</a:t>
                      </a:r>
                      <a:endParaRPr lang="ko-KR" altLang="en-US" sz="1500" dirty="0"/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2185107399"/>
                  </a:ext>
                </a:extLst>
              </a:tr>
              <a:tr h="688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0</a:t>
                      </a:r>
                      <a:endParaRPr lang="ko-KR" altLang="en-US" sz="1500" dirty="0"/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242445483"/>
                  </a:ext>
                </a:extLst>
              </a:tr>
              <a:tr h="688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1</a:t>
                      </a:r>
                      <a:endParaRPr lang="ko-KR" altLang="en-US" sz="1500" dirty="0"/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3896920965"/>
                  </a:ext>
                </a:extLst>
              </a:tr>
              <a:tr h="688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2</a:t>
                      </a:r>
                      <a:endParaRPr lang="ko-KR" altLang="en-US" sz="1500" dirty="0"/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639483198"/>
                  </a:ext>
                </a:extLst>
              </a:tr>
              <a:tr h="688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3</a:t>
                      </a:r>
                      <a:endParaRPr lang="ko-KR" altLang="en-US" sz="1500" dirty="0"/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1344098258"/>
                  </a:ext>
                </a:extLst>
              </a:tr>
            </a:tbl>
          </a:graphicData>
        </a:graphic>
      </p:graphicFrame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228776C1-A942-4CBC-94A5-6B823DF22A38}"/>
              </a:ext>
            </a:extLst>
          </p:cNvPr>
          <p:cNvSpPr/>
          <p:nvPr/>
        </p:nvSpPr>
        <p:spPr>
          <a:xfrm>
            <a:off x="3244304" y="2605243"/>
            <a:ext cx="719645" cy="2875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3830"/>
              </a:solidFill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F0D46971-A287-42E0-ACCB-D0F3A5D9BFAC}"/>
              </a:ext>
            </a:extLst>
          </p:cNvPr>
          <p:cNvSpPr/>
          <p:nvPr/>
        </p:nvSpPr>
        <p:spPr>
          <a:xfrm>
            <a:off x="3231824" y="3339111"/>
            <a:ext cx="719645" cy="2875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3830"/>
              </a:solidFill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9346E28E-503C-4A06-AD53-9AB786F4E645}"/>
              </a:ext>
            </a:extLst>
          </p:cNvPr>
          <p:cNvSpPr/>
          <p:nvPr/>
        </p:nvSpPr>
        <p:spPr>
          <a:xfrm>
            <a:off x="3231824" y="4067982"/>
            <a:ext cx="719645" cy="2875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3830"/>
              </a:solidFill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2F26C742-9F2F-489E-882D-A6F2F9AA8BF3}"/>
              </a:ext>
            </a:extLst>
          </p:cNvPr>
          <p:cNvSpPr/>
          <p:nvPr/>
        </p:nvSpPr>
        <p:spPr>
          <a:xfrm>
            <a:off x="3249948" y="4796853"/>
            <a:ext cx="719645" cy="2875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3830"/>
              </a:solidFill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E15E06BE-5700-4B3A-81F4-B3268AFCF4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123741"/>
              </p:ext>
            </p:extLst>
          </p:nvPr>
        </p:nvGraphicFramePr>
        <p:xfrm>
          <a:off x="6934125" y="1769065"/>
          <a:ext cx="1018404" cy="34411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18404">
                  <a:extLst>
                    <a:ext uri="{9D8B030D-6E8A-4147-A177-3AD203B41FA5}">
                      <a16:colId xmlns:a16="http://schemas.microsoft.com/office/drawing/2014/main" val="1732837231"/>
                    </a:ext>
                  </a:extLst>
                </a:gridCol>
              </a:tblGrid>
              <a:tr h="688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Animal</a:t>
                      </a:r>
                      <a:endParaRPr lang="ko-KR" altLang="en-US" sz="1500" dirty="0"/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2185107399"/>
                  </a:ext>
                </a:extLst>
              </a:tr>
              <a:tr h="688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Dog</a:t>
                      </a:r>
                      <a:endParaRPr lang="ko-KR" altLang="en-US" sz="1500" dirty="0"/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242445483"/>
                  </a:ext>
                </a:extLst>
              </a:tr>
              <a:tr h="688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Cat</a:t>
                      </a:r>
                      <a:endParaRPr lang="ko-KR" altLang="en-US" sz="1500" dirty="0"/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3896920965"/>
                  </a:ext>
                </a:extLst>
              </a:tr>
              <a:tr h="688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Pig</a:t>
                      </a:r>
                      <a:endParaRPr lang="ko-KR" altLang="en-US" sz="1500" dirty="0"/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639483198"/>
                  </a:ext>
                </a:extLst>
              </a:tr>
              <a:tr h="688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Turtle</a:t>
                      </a:r>
                      <a:endParaRPr lang="ko-KR" altLang="en-US" sz="1500" dirty="0"/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1344098258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77B8C64F-8E83-4E39-98F7-B62D7EAAC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69480"/>
              </p:ext>
            </p:extLst>
          </p:nvPr>
        </p:nvGraphicFramePr>
        <p:xfrm>
          <a:off x="8917127" y="1774418"/>
          <a:ext cx="1018404" cy="34411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18404">
                  <a:extLst>
                    <a:ext uri="{9D8B030D-6E8A-4147-A177-3AD203B41FA5}">
                      <a16:colId xmlns:a16="http://schemas.microsoft.com/office/drawing/2014/main" val="1732837231"/>
                    </a:ext>
                  </a:extLst>
                </a:gridCol>
              </a:tblGrid>
              <a:tr h="688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Animal</a:t>
                      </a:r>
                      <a:endParaRPr lang="ko-KR" altLang="en-US" sz="1500" dirty="0"/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2185107399"/>
                  </a:ext>
                </a:extLst>
              </a:tr>
              <a:tr h="688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[</a:t>
                      </a:r>
                      <a:r>
                        <a:rPr lang="en-US" altLang="ko-KR" sz="1500" b="1" dirty="0"/>
                        <a:t>1</a:t>
                      </a:r>
                      <a:r>
                        <a:rPr lang="en-US" altLang="ko-KR" sz="1500" dirty="0"/>
                        <a:t>,0,0,0]</a:t>
                      </a:r>
                      <a:endParaRPr lang="ko-KR" altLang="en-US" sz="1500" dirty="0"/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242445483"/>
                  </a:ext>
                </a:extLst>
              </a:tr>
              <a:tr h="688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[0,</a:t>
                      </a:r>
                      <a:r>
                        <a:rPr lang="en-US" altLang="ko-KR" sz="1500" b="1" dirty="0"/>
                        <a:t>1</a:t>
                      </a:r>
                      <a:r>
                        <a:rPr lang="en-US" altLang="ko-KR" sz="1500" dirty="0"/>
                        <a:t>,0,0]</a:t>
                      </a:r>
                      <a:endParaRPr lang="ko-KR" altLang="en-US" sz="1500" dirty="0"/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3896920965"/>
                  </a:ext>
                </a:extLst>
              </a:tr>
              <a:tr h="688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[0,0,</a:t>
                      </a:r>
                      <a:r>
                        <a:rPr lang="en-US" altLang="ko-KR" sz="1500" b="1" dirty="0"/>
                        <a:t>1</a:t>
                      </a:r>
                      <a:r>
                        <a:rPr lang="en-US" altLang="ko-KR" sz="1500" dirty="0"/>
                        <a:t>,0]</a:t>
                      </a:r>
                      <a:endParaRPr lang="ko-KR" altLang="en-US" sz="1500" dirty="0"/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639483198"/>
                  </a:ext>
                </a:extLst>
              </a:tr>
              <a:tr h="688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[0,0,0,</a:t>
                      </a:r>
                      <a:r>
                        <a:rPr lang="en-US" altLang="ko-KR" sz="1500" b="1" dirty="0"/>
                        <a:t>1</a:t>
                      </a:r>
                      <a:r>
                        <a:rPr lang="en-US" altLang="ko-KR" sz="1500" dirty="0"/>
                        <a:t>]</a:t>
                      </a:r>
                      <a:endParaRPr lang="ko-KR" altLang="en-US" sz="1500" dirty="0"/>
                    </a:p>
                  </a:txBody>
                  <a:tcPr marL="83127" marR="83127" marT="37785" marB="37785" anchor="ctr"/>
                </a:tc>
                <a:extLst>
                  <a:ext uri="{0D108BD9-81ED-4DB2-BD59-A6C34878D82A}">
                    <a16:rowId xmlns:a16="http://schemas.microsoft.com/office/drawing/2014/main" val="134409825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AFEFDB7-2A84-4A71-9BB3-B3C50911D249}"/>
              </a:ext>
            </a:extLst>
          </p:cNvPr>
          <p:cNvSpPr txBox="1"/>
          <p:nvPr/>
        </p:nvSpPr>
        <p:spPr>
          <a:xfrm>
            <a:off x="1985983" y="5688959"/>
            <a:ext cx="3236286" cy="53415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36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Label Encoder</a:t>
            </a:r>
            <a:endParaRPr lang="ko-KR" altLang="en-US" sz="3600" dirty="0">
              <a:solidFill>
                <a:srgbClr val="3D383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1DA72D-10D7-4053-8F59-D6B61B82C825}"/>
              </a:ext>
            </a:extLst>
          </p:cNvPr>
          <p:cNvSpPr txBox="1"/>
          <p:nvPr/>
        </p:nvSpPr>
        <p:spPr>
          <a:xfrm>
            <a:off x="6619166" y="5688959"/>
            <a:ext cx="3656938" cy="53415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36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One-Hot Encoder</a:t>
            </a:r>
            <a:endParaRPr lang="ko-KR" altLang="en-US" sz="3600" dirty="0">
              <a:solidFill>
                <a:srgbClr val="3D383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26A4F85E-5E6E-4E07-ABE2-BE1393C735E7}"/>
              </a:ext>
            </a:extLst>
          </p:cNvPr>
          <p:cNvSpPr/>
          <p:nvPr/>
        </p:nvSpPr>
        <p:spPr>
          <a:xfrm>
            <a:off x="8100293" y="2605243"/>
            <a:ext cx="719645" cy="2875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3830"/>
              </a:solidFill>
            </a:endParaRP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6B558B1C-69F4-4B2D-B76E-78910ABCBEDC}"/>
              </a:ext>
            </a:extLst>
          </p:cNvPr>
          <p:cNvSpPr/>
          <p:nvPr/>
        </p:nvSpPr>
        <p:spPr>
          <a:xfrm>
            <a:off x="8087813" y="3339111"/>
            <a:ext cx="719645" cy="2875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3830"/>
              </a:solidFill>
            </a:endParaRP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EADACCFE-D408-4019-9F57-3B9D2173B8C9}"/>
              </a:ext>
            </a:extLst>
          </p:cNvPr>
          <p:cNvSpPr/>
          <p:nvPr/>
        </p:nvSpPr>
        <p:spPr>
          <a:xfrm>
            <a:off x="8087813" y="4067982"/>
            <a:ext cx="719645" cy="2875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3830"/>
              </a:solidFill>
            </a:endParaRP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33B25134-1204-409A-B77F-5786F27F9643}"/>
              </a:ext>
            </a:extLst>
          </p:cNvPr>
          <p:cNvSpPr/>
          <p:nvPr/>
        </p:nvSpPr>
        <p:spPr>
          <a:xfrm>
            <a:off x="8105937" y="4796853"/>
            <a:ext cx="719645" cy="2875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38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35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A35EDE-F5B8-429D-B1D2-C2E54CA94B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CD856-78BA-4161-BF13-ACC74CA0965B}"/>
              </a:ext>
            </a:extLst>
          </p:cNvPr>
          <p:cNvSpPr/>
          <p:nvPr/>
        </p:nvSpPr>
        <p:spPr>
          <a:xfrm>
            <a:off x="0" y="0"/>
            <a:ext cx="12192000" cy="688085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正方形/長方形 1">
            <a:extLst>
              <a:ext uri="{FF2B5EF4-FFF2-40B4-BE49-F238E27FC236}">
                <a16:creationId xmlns:a16="http://schemas.microsoft.com/office/drawing/2014/main" id="{DF6EA75D-9458-45F1-BE28-67DEF5D29A4C}"/>
              </a:ext>
            </a:extLst>
          </p:cNvPr>
          <p:cNvSpPr/>
          <p:nvPr/>
        </p:nvSpPr>
        <p:spPr>
          <a:xfrm>
            <a:off x="808382" y="0"/>
            <a:ext cx="1828801" cy="132522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sp>
        <p:nvSpPr>
          <p:cNvPr id="47" name="正方形/長方形 2">
            <a:extLst>
              <a:ext uri="{FF2B5EF4-FFF2-40B4-BE49-F238E27FC236}">
                <a16:creationId xmlns:a16="http://schemas.microsoft.com/office/drawing/2014/main" id="{DA6A0CE3-6368-4ED1-B0DB-3C0543FD046D}"/>
              </a:ext>
            </a:extLst>
          </p:cNvPr>
          <p:cNvSpPr/>
          <p:nvPr/>
        </p:nvSpPr>
        <p:spPr>
          <a:xfrm flipV="1">
            <a:off x="0" y="6804461"/>
            <a:ext cx="12192000" cy="76398"/>
          </a:xfrm>
          <a:prstGeom prst="rect">
            <a:avLst/>
          </a:prstGeom>
          <a:solidFill>
            <a:srgbClr val="3D3830"/>
          </a:solidFill>
          <a:ln>
            <a:solidFill>
              <a:srgbClr val="3D38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cxnSp>
        <p:nvCxnSpPr>
          <p:cNvPr id="48" name="直線コネクタ 12">
            <a:extLst>
              <a:ext uri="{FF2B5EF4-FFF2-40B4-BE49-F238E27FC236}">
                <a16:creationId xmlns:a16="http://schemas.microsoft.com/office/drawing/2014/main" id="{62C87091-16DE-49DB-99D2-0CE67C3C6D09}"/>
              </a:ext>
            </a:extLst>
          </p:cNvPr>
          <p:cNvCxnSpPr/>
          <p:nvPr/>
        </p:nvCxnSpPr>
        <p:spPr>
          <a:xfrm>
            <a:off x="808382" y="1073426"/>
            <a:ext cx="113836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3">
            <a:extLst>
              <a:ext uri="{FF2B5EF4-FFF2-40B4-BE49-F238E27FC236}">
                <a16:creationId xmlns:a16="http://schemas.microsoft.com/office/drawing/2014/main" id="{4D8B0868-2C8F-465C-A821-4663920F8077}"/>
              </a:ext>
            </a:extLst>
          </p:cNvPr>
          <p:cNvSpPr txBox="1"/>
          <p:nvPr/>
        </p:nvSpPr>
        <p:spPr>
          <a:xfrm>
            <a:off x="736498" y="453868"/>
            <a:ext cx="35092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1-1.</a:t>
            </a:r>
            <a:r>
              <a:rPr kumimoji="1" lang="ko-KR" altLang="en-US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 데이터 인코딩</a:t>
            </a:r>
            <a:endParaRPr kumimoji="1" lang="ja-JP" altLang="en-US" sz="3200" dirty="0">
              <a:solidFill>
                <a:srgbClr val="3D3830"/>
              </a:solidFill>
              <a:latin typeface="배달의민족 도현" panose="020B0600000101010101" pitchFamily="50" charset="-127"/>
              <a:ea typeface="조선일보명조" pitchFamily="18" charset="-127"/>
              <a:cs typeface="조선일보명조" pitchFamily="18" charset="-127"/>
            </a:endParaRPr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DD678C6E-077A-4775-A2AB-B5923FE0E8CC}"/>
              </a:ext>
            </a:extLst>
          </p:cNvPr>
          <p:cNvSpPr txBox="1">
            <a:spLocks/>
          </p:cNvSpPr>
          <p:nvPr/>
        </p:nvSpPr>
        <p:spPr>
          <a:xfrm>
            <a:off x="932876" y="1409278"/>
            <a:ext cx="5163123" cy="4907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 err="1">
                <a:solidFill>
                  <a:srgbClr val="3D3830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OneHotEncoder</a:t>
            </a:r>
            <a:r>
              <a:rPr lang="en-US" altLang="ko-KR" dirty="0">
                <a:solidFill>
                  <a:srgbClr val="3D3830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 Class</a:t>
            </a:r>
            <a:endParaRPr kumimoji="0" lang="en-US" altLang="ko-KR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배달의민족 한나는 열한살" panose="020B0600000101010101" pitchFamily="50" charset="-127"/>
              <a:ea typeface="배달의민족 한나는 열한살" panose="020B0600000101010101" pitchFamily="50" charset="-127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모든 문자열 값을 숫자형 값으로 변환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입력 값으로 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차원 데이터 필요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배달의민족 한나는 열한살" panose="020B0600000101010101" pitchFamily="50" charset="-127"/>
              <a:ea typeface="배달의민족 한나는 열한살" panose="020B0600000101010101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배달의민족 한나는 열한살" panose="020B0600000101010101" pitchFamily="50" charset="-127"/>
              <a:ea typeface="배달의민족 한나는 열한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A29A8A3-9DA0-4901-9799-DB5F657DF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929728"/>
            <a:ext cx="5811917" cy="363095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5533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A35EDE-F5B8-429D-B1D2-C2E54CA94B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CD856-78BA-4161-BF13-ACC74CA0965B}"/>
              </a:ext>
            </a:extLst>
          </p:cNvPr>
          <p:cNvSpPr/>
          <p:nvPr/>
        </p:nvSpPr>
        <p:spPr>
          <a:xfrm>
            <a:off x="-1" y="-22859"/>
            <a:ext cx="12192000" cy="688085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正方形/長方形 1">
            <a:extLst>
              <a:ext uri="{FF2B5EF4-FFF2-40B4-BE49-F238E27FC236}">
                <a16:creationId xmlns:a16="http://schemas.microsoft.com/office/drawing/2014/main" id="{DF6EA75D-9458-45F1-BE28-67DEF5D29A4C}"/>
              </a:ext>
            </a:extLst>
          </p:cNvPr>
          <p:cNvSpPr/>
          <p:nvPr/>
        </p:nvSpPr>
        <p:spPr>
          <a:xfrm>
            <a:off x="808382" y="0"/>
            <a:ext cx="1828801" cy="132522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sp>
        <p:nvSpPr>
          <p:cNvPr id="47" name="正方形/長方形 2">
            <a:extLst>
              <a:ext uri="{FF2B5EF4-FFF2-40B4-BE49-F238E27FC236}">
                <a16:creationId xmlns:a16="http://schemas.microsoft.com/office/drawing/2014/main" id="{DA6A0CE3-6368-4ED1-B0DB-3C0543FD046D}"/>
              </a:ext>
            </a:extLst>
          </p:cNvPr>
          <p:cNvSpPr/>
          <p:nvPr/>
        </p:nvSpPr>
        <p:spPr>
          <a:xfrm flipV="1">
            <a:off x="0" y="6804461"/>
            <a:ext cx="12192000" cy="76398"/>
          </a:xfrm>
          <a:prstGeom prst="rect">
            <a:avLst/>
          </a:prstGeom>
          <a:solidFill>
            <a:srgbClr val="3D3830"/>
          </a:solidFill>
          <a:ln>
            <a:solidFill>
              <a:srgbClr val="3D38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cxnSp>
        <p:nvCxnSpPr>
          <p:cNvPr id="48" name="直線コネクタ 12">
            <a:extLst>
              <a:ext uri="{FF2B5EF4-FFF2-40B4-BE49-F238E27FC236}">
                <a16:creationId xmlns:a16="http://schemas.microsoft.com/office/drawing/2014/main" id="{62C87091-16DE-49DB-99D2-0CE67C3C6D09}"/>
              </a:ext>
            </a:extLst>
          </p:cNvPr>
          <p:cNvCxnSpPr/>
          <p:nvPr/>
        </p:nvCxnSpPr>
        <p:spPr>
          <a:xfrm>
            <a:off x="808382" y="1073426"/>
            <a:ext cx="113836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3">
            <a:extLst>
              <a:ext uri="{FF2B5EF4-FFF2-40B4-BE49-F238E27FC236}">
                <a16:creationId xmlns:a16="http://schemas.microsoft.com/office/drawing/2014/main" id="{4D8B0868-2C8F-465C-A821-4663920F8077}"/>
              </a:ext>
            </a:extLst>
          </p:cNvPr>
          <p:cNvSpPr txBox="1"/>
          <p:nvPr/>
        </p:nvSpPr>
        <p:spPr>
          <a:xfrm>
            <a:off x="736498" y="453868"/>
            <a:ext cx="35092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1-1.</a:t>
            </a:r>
            <a:r>
              <a:rPr kumimoji="1" lang="ko-KR" altLang="en-US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 데이터 인코딩</a:t>
            </a:r>
            <a:endParaRPr kumimoji="1" lang="ja-JP" altLang="en-US" sz="3200" dirty="0">
              <a:solidFill>
                <a:srgbClr val="3D3830"/>
              </a:solidFill>
              <a:latin typeface="배달의민족 도현" panose="020B0600000101010101" pitchFamily="50" charset="-127"/>
              <a:ea typeface="조선일보명조" pitchFamily="18" charset="-127"/>
              <a:cs typeface="조선일보명조" pitchFamily="18" charset="-127"/>
            </a:endParaRPr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DD678C6E-077A-4775-A2AB-B5923FE0E8CC}"/>
              </a:ext>
            </a:extLst>
          </p:cNvPr>
          <p:cNvSpPr txBox="1">
            <a:spLocks/>
          </p:cNvSpPr>
          <p:nvPr/>
        </p:nvSpPr>
        <p:spPr>
          <a:xfrm>
            <a:off x="932876" y="1409278"/>
            <a:ext cx="5163123" cy="4907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 err="1">
                <a:solidFill>
                  <a:srgbClr val="3D3830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get_dummies</a:t>
            </a:r>
            <a:r>
              <a:rPr lang="en-US" altLang="ko-KR" dirty="0">
                <a:solidFill>
                  <a:srgbClr val="3D3830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( )</a:t>
            </a:r>
          </a:p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400" dirty="0" err="1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사이킷런의</a:t>
            </a:r>
            <a:r>
              <a:rPr lang="ko-KR" altLang="en-US" sz="24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2400" dirty="0" err="1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OneHotEncoder</a:t>
            </a:r>
            <a:r>
              <a:rPr lang="ko-KR" altLang="en-US" sz="24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와 다르게 문자열 카테고리 값을 숫자 형으로 변환할 필요 없음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배달의민족 한나는 열한살" panose="020B0600000101010101" pitchFamily="50" charset="-127"/>
              <a:ea typeface="배달의민족 한나는 열한살" panose="020B0600000101010101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배달의민족 한나는 열한살" panose="020B0600000101010101" pitchFamily="50" charset="-127"/>
              <a:ea typeface="배달의민족 한나는 열한살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9D4A5B6-FEF9-4F66-98AB-EAFCC5199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354" y="3629922"/>
            <a:ext cx="5880438" cy="282959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39848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A35EDE-F5B8-429D-B1D2-C2E54CA94B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CD856-78BA-4161-BF13-ACC74CA0965B}"/>
              </a:ext>
            </a:extLst>
          </p:cNvPr>
          <p:cNvSpPr/>
          <p:nvPr/>
        </p:nvSpPr>
        <p:spPr>
          <a:xfrm>
            <a:off x="0" y="0"/>
            <a:ext cx="12192000" cy="688085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正方形/長方形 1">
            <a:extLst>
              <a:ext uri="{FF2B5EF4-FFF2-40B4-BE49-F238E27FC236}">
                <a16:creationId xmlns:a16="http://schemas.microsoft.com/office/drawing/2014/main" id="{DF6EA75D-9458-45F1-BE28-67DEF5D29A4C}"/>
              </a:ext>
            </a:extLst>
          </p:cNvPr>
          <p:cNvSpPr/>
          <p:nvPr/>
        </p:nvSpPr>
        <p:spPr>
          <a:xfrm>
            <a:off x="808382" y="0"/>
            <a:ext cx="1828801" cy="132522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sp>
        <p:nvSpPr>
          <p:cNvPr id="47" name="正方形/長方形 2">
            <a:extLst>
              <a:ext uri="{FF2B5EF4-FFF2-40B4-BE49-F238E27FC236}">
                <a16:creationId xmlns:a16="http://schemas.microsoft.com/office/drawing/2014/main" id="{DA6A0CE3-6368-4ED1-B0DB-3C0543FD046D}"/>
              </a:ext>
            </a:extLst>
          </p:cNvPr>
          <p:cNvSpPr/>
          <p:nvPr/>
        </p:nvSpPr>
        <p:spPr>
          <a:xfrm flipV="1">
            <a:off x="0" y="6804461"/>
            <a:ext cx="12192000" cy="76398"/>
          </a:xfrm>
          <a:prstGeom prst="rect">
            <a:avLst/>
          </a:prstGeom>
          <a:solidFill>
            <a:srgbClr val="3D3830"/>
          </a:solidFill>
          <a:ln>
            <a:solidFill>
              <a:srgbClr val="3D38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cxnSp>
        <p:nvCxnSpPr>
          <p:cNvPr id="48" name="直線コネクタ 12">
            <a:extLst>
              <a:ext uri="{FF2B5EF4-FFF2-40B4-BE49-F238E27FC236}">
                <a16:creationId xmlns:a16="http://schemas.microsoft.com/office/drawing/2014/main" id="{62C87091-16DE-49DB-99D2-0CE67C3C6D09}"/>
              </a:ext>
            </a:extLst>
          </p:cNvPr>
          <p:cNvCxnSpPr/>
          <p:nvPr/>
        </p:nvCxnSpPr>
        <p:spPr>
          <a:xfrm>
            <a:off x="808382" y="1073426"/>
            <a:ext cx="113836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3">
            <a:extLst>
              <a:ext uri="{FF2B5EF4-FFF2-40B4-BE49-F238E27FC236}">
                <a16:creationId xmlns:a16="http://schemas.microsoft.com/office/drawing/2014/main" id="{4D8B0868-2C8F-465C-A821-4663920F8077}"/>
              </a:ext>
            </a:extLst>
          </p:cNvPr>
          <p:cNvSpPr txBox="1"/>
          <p:nvPr/>
        </p:nvSpPr>
        <p:spPr>
          <a:xfrm>
            <a:off x="736498" y="453868"/>
            <a:ext cx="39789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1-2.</a:t>
            </a:r>
            <a:r>
              <a:rPr kumimoji="1" lang="ko-KR" altLang="en-US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 데이터 스케일링</a:t>
            </a:r>
            <a:endParaRPr kumimoji="1" lang="ja-JP" altLang="en-US" sz="3200" dirty="0">
              <a:solidFill>
                <a:srgbClr val="3D3830"/>
              </a:solidFill>
              <a:latin typeface="배달의민족 도현" panose="020B0600000101010101" pitchFamily="50" charset="-127"/>
              <a:ea typeface="조선일보명조" pitchFamily="18" charset="-127"/>
              <a:cs typeface="조선일보명조" pitchFamily="18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9A36E3DA-AE34-4AB5-BC6C-422FB62322D7}"/>
              </a:ext>
            </a:extLst>
          </p:cNvPr>
          <p:cNvSpPr txBox="1">
            <a:spLocks/>
          </p:cNvSpPr>
          <p:nvPr/>
        </p:nvSpPr>
        <p:spPr>
          <a:xfrm>
            <a:off x="2119827" y="1319053"/>
            <a:ext cx="8690578" cy="1095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What is Scaling ?</a:t>
            </a:r>
            <a:endParaRPr lang="ko-KR" altLang="en-US" sz="3200" dirty="0">
              <a:solidFill>
                <a:srgbClr val="3D383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9B09C3C-E005-4362-8F7B-BF6D6192BC92}"/>
              </a:ext>
            </a:extLst>
          </p:cNvPr>
          <p:cNvGrpSpPr/>
          <p:nvPr/>
        </p:nvGrpSpPr>
        <p:grpSpPr>
          <a:xfrm>
            <a:off x="4567919" y="4570611"/>
            <a:ext cx="1492964" cy="1891443"/>
            <a:chOff x="606175" y="1911879"/>
            <a:chExt cx="1425486" cy="1758448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5861722-1E29-4FD4-B22E-478C11E9D783}"/>
                </a:ext>
              </a:extLst>
            </p:cNvPr>
            <p:cNvSpPr/>
            <p:nvPr/>
          </p:nvSpPr>
          <p:spPr>
            <a:xfrm>
              <a:off x="1108508" y="3434109"/>
              <a:ext cx="101600" cy="23621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54504DA-7461-4BDD-AFC4-6A9E10366D48}"/>
                </a:ext>
              </a:extLst>
            </p:cNvPr>
            <p:cNvSpPr/>
            <p:nvPr/>
          </p:nvSpPr>
          <p:spPr>
            <a:xfrm>
              <a:off x="1475753" y="3432235"/>
              <a:ext cx="101600" cy="23621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CB2B1C7-C502-4126-880A-CF5824696154}"/>
                </a:ext>
              </a:extLst>
            </p:cNvPr>
            <p:cNvSpPr/>
            <p:nvPr/>
          </p:nvSpPr>
          <p:spPr>
            <a:xfrm rot="942030">
              <a:off x="769297" y="2699290"/>
              <a:ext cx="63576" cy="49277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FFB8F06-84A9-49D3-A7B4-D79230EE2690}"/>
                </a:ext>
              </a:extLst>
            </p:cNvPr>
            <p:cNvSpPr/>
            <p:nvPr/>
          </p:nvSpPr>
          <p:spPr>
            <a:xfrm rot="20802753">
              <a:off x="1811035" y="2704273"/>
              <a:ext cx="65325" cy="50944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0E247B60-E6CC-40A2-AF0F-51BC3F47B6ED}"/>
                </a:ext>
              </a:extLst>
            </p:cNvPr>
            <p:cNvSpPr/>
            <p:nvPr/>
          </p:nvSpPr>
          <p:spPr>
            <a:xfrm>
              <a:off x="838200" y="2559068"/>
              <a:ext cx="981075" cy="869932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AD5537F1-6D45-4E08-8624-AECEF8D658BF}"/>
                </a:ext>
              </a:extLst>
            </p:cNvPr>
            <p:cNvSpPr/>
            <p:nvPr/>
          </p:nvSpPr>
          <p:spPr>
            <a:xfrm>
              <a:off x="911591" y="1953676"/>
              <a:ext cx="816789" cy="600283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FD1A941-CD33-49E0-AA0E-9161AE96DAE0}"/>
                </a:ext>
              </a:extLst>
            </p:cNvPr>
            <p:cNvSpPr/>
            <p:nvPr/>
          </p:nvSpPr>
          <p:spPr>
            <a:xfrm>
              <a:off x="1159308" y="2406813"/>
              <a:ext cx="300505" cy="45719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D403702C-3A65-4E42-B2BF-579EAD1056F8}"/>
                </a:ext>
              </a:extLst>
            </p:cNvPr>
            <p:cNvSpPr/>
            <p:nvPr/>
          </p:nvSpPr>
          <p:spPr>
            <a:xfrm>
              <a:off x="1053355" y="2221878"/>
              <a:ext cx="134207" cy="109043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0ACD3464-BC3B-4CF9-B37D-690AE119A975}"/>
                </a:ext>
              </a:extLst>
            </p:cNvPr>
            <p:cNvSpPr/>
            <p:nvPr/>
          </p:nvSpPr>
          <p:spPr>
            <a:xfrm>
              <a:off x="1408455" y="2221878"/>
              <a:ext cx="134207" cy="109043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0A0776B0-3A70-4DC5-B85E-380CAFB24D2B}"/>
                </a:ext>
              </a:extLst>
            </p:cNvPr>
            <p:cNvSpPr/>
            <p:nvPr/>
          </p:nvSpPr>
          <p:spPr>
            <a:xfrm>
              <a:off x="926588" y="2757537"/>
              <a:ext cx="796925" cy="43394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rPr>
                <a:t>머신</a:t>
              </a:r>
            </a:p>
          </p:txBody>
        </p:sp>
        <p:sp>
          <p:nvSpPr>
            <p:cNvPr id="21" name="막힌 원호 20">
              <a:extLst>
                <a:ext uri="{FF2B5EF4-FFF2-40B4-BE49-F238E27FC236}">
                  <a16:creationId xmlns:a16="http://schemas.microsoft.com/office/drawing/2014/main" id="{C7B3942D-ABCE-4B64-9434-84F8F57A8D2C}"/>
                </a:ext>
              </a:extLst>
            </p:cNvPr>
            <p:cNvSpPr/>
            <p:nvPr/>
          </p:nvSpPr>
          <p:spPr>
            <a:xfrm rot="918457">
              <a:off x="606175" y="3174911"/>
              <a:ext cx="195262" cy="219075"/>
            </a:xfrm>
            <a:prstGeom prst="blockArc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436931E6-0879-4235-ADA2-89F6DF31D390}"/>
                </a:ext>
              </a:extLst>
            </p:cNvPr>
            <p:cNvSpPr/>
            <p:nvPr/>
          </p:nvSpPr>
          <p:spPr>
            <a:xfrm>
              <a:off x="926588" y="1911879"/>
              <a:ext cx="780466" cy="14314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  <p:sp>
          <p:nvSpPr>
            <p:cNvPr id="23" name="막힌 원호 22">
              <a:extLst>
                <a:ext uri="{FF2B5EF4-FFF2-40B4-BE49-F238E27FC236}">
                  <a16:creationId xmlns:a16="http://schemas.microsoft.com/office/drawing/2014/main" id="{D3D15AA5-B2CC-4505-8469-DE7474AF9CD2}"/>
                </a:ext>
              </a:extLst>
            </p:cNvPr>
            <p:cNvSpPr/>
            <p:nvPr/>
          </p:nvSpPr>
          <p:spPr>
            <a:xfrm rot="20493245">
              <a:off x="1836399" y="3178286"/>
              <a:ext cx="195262" cy="219075"/>
            </a:xfrm>
            <a:prstGeom prst="blockArc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</p:grp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B11B3867-CD53-4132-BD0D-3A37A43998A8}"/>
              </a:ext>
            </a:extLst>
          </p:cNvPr>
          <p:cNvGraphicFramePr>
            <a:graphicFrameLocks noGrp="1"/>
          </p:cNvGraphicFramePr>
          <p:nvPr/>
        </p:nvGraphicFramePr>
        <p:xfrm>
          <a:off x="981626" y="4064044"/>
          <a:ext cx="2977965" cy="243329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92655">
                  <a:extLst>
                    <a:ext uri="{9D8B030D-6E8A-4147-A177-3AD203B41FA5}">
                      <a16:colId xmlns:a16="http://schemas.microsoft.com/office/drawing/2014/main" val="1732837231"/>
                    </a:ext>
                  </a:extLst>
                </a:gridCol>
                <a:gridCol w="992655">
                  <a:extLst>
                    <a:ext uri="{9D8B030D-6E8A-4147-A177-3AD203B41FA5}">
                      <a16:colId xmlns:a16="http://schemas.microsoft.com/office/drawing/2014/main" val="3616476212"/>
                    </a:ext>
                  </a:extLst>
                </a:gridCol>
                <a:gridCol w="992655">
                  <a:extLst>
                    <a:ext uri="{9D8B030D-6E8A-4147-A177-3AD203B41FA5}">
                      <a16:colId xmlns:a16="http://schemas.microsoft.com/office/drawing/2014/main" val="2240179704"/>
                    </a:ext>
                  </a:extLst>
                </a:gridCol>
              </a:tblGrid>
              <a:tr h="4866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Animal</a:t>
                      </a:r>
                      <a:endParaRPr lang="ko-KR" altLang="en-US" sz="1500" dirty="0"/>
                    </a:p>
                  </a:txBody>
                  <a:tcPr marL="75570" marR="75570" marT="37785" marB="3778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Age(y)</a:t>
                      </a:r>
                      <a:endParaRPr lang="ko-KR" altLang="en-US" sz="1500" dirty="0"/>
                    </a:p>
                  </a:txBody>
                  <a:tcPr marL="75570" marR="75570" marT="37785" marB="377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size(m)</a:t>
                      </a:r>
                      <a:endParaRPr lang="ko-KR" altLang="en-US" sz="1500" dirty="0"/>
                    </a:p>
                  </a:txBody>
                  <a:tcPr marL="75570" marR="75570" marT="37785" marB="377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5107399"/>
                  </a:ext>
                </a:extLst>
              </a:tr>
              <a:tr h="4866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0</a:t>
                      </a:r>
                      <a:endParaRPr lang="ko-KR" altLang="en-US" sz="1500" dirty="0"/>
                    </a:p>
                  </a:txBody>
                  <a:tcPr marL="75570" marR="75570" marT="37785" marB="3778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10</a:t>
                      </a:r>
                      <a:endParaRPr lang="ko-KR" altLang="en-US" sz="1500" dirty="0"/>
                    </a:p>
                  </a:txBody>
                  <a:tcPr marL="75570" marR="75570" marT="37785" marB="377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0.5</a:t>
                      </a:r>
                      <a:endParaRPr lang="ko-KR" altLang="en-US" sz="1500" dirty="0"/>
                    </a:p>
                  </a:txBody>
                  <a:tcPr marL="75570" marR="75570" marT="37785" marB="377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445483"/>
                  </a:ext>
                </a:extLst>
              </a:tr>
              <a:tr h="4866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1</a:t>
                      </a:r>
                      <a:endParaRPr lang="ko-KR" altLang="en-US" sz="1500" dirty="0"/>
                    </a:p>
                  </a:txBody>
                  <a:tcPr marL="75570" marR="75570" marT="37785" marB="3778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6</a:t>
                      </a:r>
                      <a:endParaRPr lang="ko-KR" altLang="en-US" sz="1500" dirty="0"/>
                    </a:p>
                  </a:txBody>
                  <a:tcPr marL="75570" marR="75570" marT="37785" marB="377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0.2</a:t>
                      </a:r>
                      <a:endParaRPr lang="ko-KR" altLang="en-US" sz="1500" dirty="0"/>
                    </a:p>
                  </a:txBody>
                  <a:tcPr marL="75570" marR="75570" marT="37785" marB="377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6920965"/>
                  </a:ext>
                </a:extLst>
              </a:tr>
              <a:tr h="4866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2</a:t>
                      </a:r>
                      <a:endParaRPr lang="ko-KR" altLang="en-US" sz="1500" dirty="0"/>
                    </a:p>
                  </a:txBody>
                  <a:tcPr marL="75570" marR="75570" marT="37785" marB="3778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4</a:t>
                      </a:r>
                      <a:endParaRPr lang="ko-KR" altLang="en-US" sz="1500" dirty="0"/>
                    </a:p>
                  </a:txBody>
                  <a:tcPr marL="75570" marR="75570" marT="37785" marB="377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1</a:t>
                      </a:r>
                      <a:endParaRPr lang="ko-KR" altLang="en-US" sz="1500" dirty="0"/>
                    </a:p>
                  </a:txBody>
                  <a:tcPr marL="75570" marR="75570" marT="37785" marB="377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39483198"/>
                  </a:ext>
                </a:extLst>
              </a:tr>
              <a:tr h="4866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3</a:t>
                      </a:r>
                      <a:endParaRPr lang="ko-KR" altLang="en-US" sz="1500" dirty="0"/>
                    </a:p>
                  </a:txBody>
                  <a:tcPr marL="75570" marR="75570" marT="37785" marB="3778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80</a:t>
                      </a:r>
                      <a:endParaRPr lang="ko-KR" altLang="en-US" sz="1500" dirty="0"/>
                    </a:p>
                  </a:txBody>
                  <a:tcPr marL="75570" marR="75570" marT="37785" marB="377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0.3</a:t>
                      </a:r>
                      <a:endParaRPr lang="ko-KR" altLang="en-US" sz="1500" dirty="0"/>
                    </a:p>
                  </a:txBody>
                  <a:tcPr marL="75570" marR="75570" marT="37785" marB="377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4098258"/>
                  </a:ext>
                </a:extLst>
              </a:tr>
            </a:tbl>
          </a:graphicData>
        </a:graphic>
      </p:graphicFrame>
      <p:sp>
        <p:nvSpPr>
          <p:cNvPr id="25" name="생각 풍선: 구름 모양 24">
            <a:extLst>
              <a:ext uri="{FF2B5EF4-FFF2-40B4-BE49-F238E27FC236}">
                <a16:creationId xmlns:a16="http://schemas.microsoft.com/office/drawing/2014/main" id="{83740F27-83A3-4A6F-B748-7139EA101E54}"/>
              </a:ext>
            </a:extLst>
          </p:cNvPr>
          <p:cNvSpPr/>
          <p:nvPr/>
        </p:nvSpPr>
        <p:spPr>
          <a:xfrm>
            <a:off x="4983794" y="2699904"/>
            <a:ext cx="2612227" cy="1298694"/>
          </a:xfrm>
          <a:prstGeom prst="cloud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size</a:t>
            </a:r>
            <a:r>
              <a:rPr lang="ko-KR" altLang="en-US" dirty="0"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에 비해 </a:t>
            </a:r>
            <a:r>
              <a:rPr lang="en-US" altLang="ko-KR" dirty="0"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Age</a:t>
            </a:r>
            <a:r>
              <a:rPr lang="ko-KR" altLang="en-US" dirty="0"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가 너무 커</a:t>
            </a:r>
            <a:r>
              <a:rPr lang="en-US" altLang="ko-KR" dirty="0"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…</a:t>
            </a:r>
            <a:endParaRPr lang="ko-KR" altLang="en-US" dirty="0">
              <a:latin typeface="배달의민족 한나는 열한살" panose="020B0600000101010101" pitchFamily="50" charset="-127"/>
              <a:ea typeface="배달의민족 한나는 열한살" panose="020B0600000101010101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7886A3C4-210A-4166-AEE1-9A29CE10A68C}"/>
              </a:ext>
            </a:extLst>
          </p:cNvPr>
          <p:cNvGrpSpPr/>
          <p:nvPr/>
        </p:nvGrpSpPr>
        <p:grpSpPr>
          <a:xfrm>
            <a:off x="8464150" y="2827214"/>
            <a:ext cx="2208710" cy="3649836"/>
            <a:chOff x="6737619" y="1977979"/>
            <a:chExt cx="2672539" cy="4416302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860F39AF-DF37-4673-B5BA-8257F4FBAEA2}"/>
                </a:ext>
              </a:extLst>
            </p:cNvPr>
            <p:cNvGrpSpPr/>
            <p:nvPr/>
          </p:nvGrpSpPr>
          <p:grpSpPr>
            <a:xfrm>
              <a:off x="6737619" y="3008428"/>
              <a:ext cx="2672539" cy="3385853"/>
              <a:chOff x="606175" y="1911879"/>
              <a:chExt cx="1425486" cy="1758448"/>
            </a:xfrm>
          </p:grpSpPr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31128000-2B86-40E8-8790-B00B6FA4B612}"/>
                  </a:ext>
                </a:extLst>
              </p:cNvPr>
              <p:cNvSpPr/>
              <p:nvPr/>
            </p:nvSpPr>
            <p:spPr>
              <a:xfrm>
                <a:off x="1108508" y="3434109"/>
                <a:ext cx="101600" cy="236218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B24EBE69-A128-46AF-B12A-28D9A9A3EDA0}"/>
                  </a:ext>
                </a:extLst>
              </p:cNvPr>
              <p:cNvSpPr/>
              <p:nvPr/>
            </p:nvSpPr>
            <p:spPr>
              <a:xfrm>
                <a:off x="1475753" y="3432235"/>
                <a:ext cx="101600" cy="236218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EE2CC14C-F0E3-4089-AAC1-45E0A7270D01}"/>
                  </a:ext>
                </a:extLst>
              </p:cNvPr>
              <p:cNvSpPr/>
              <p:nvPr/>
            </p:nvSpPr>
            <p:spPr>
              <a:xfrm rot="942030">
                <a:off x="769297" y="2699290"/>
                <a:ext cx="63576" cy="492778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DA0ABAB6-E471-490A-9B56-865D47056028}"/>
                  </a:ext>
                </a:extLst>
              </p:cNvPr>
              <p:cNvSpPr/>
              <p:nvPr/>
            </p:nvSpPr>
            <p:spPr>
              <a:xfrm rot="20802753">
                <a:off x="1811035" y="2704273"/>
                <a:ext cx="65325" cy="509442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8E087F19-3EC9-4041-A0A9-1F582935A64E}"/>
                  </a:ext>
                </a:extLst>
              </p:cNvPr>
              <p:cNvSpPr/>
              <p:nvPr/>
            </p:nvSpPr>
            <p:spPr>
              <a:xfrm>
                <a:off x="838200" y="2559068"/>
                <a:ext cx="981075" cy="869932"/>
              </a:xfrm>
              <a:prstGeom prst="round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34" name="사각형: 둥근 모서리 33">
                <a:extLst>
                  <a:ext uri="{FF2B5EF4-FFF2-40B4-BE49-F238E27FC236}">
                    <a16:creationId xmlns:a16="http://schemas.microsoft.com/office/drawing/2014/main" id="{FEF202A6-48B0-4968-BA32-7C11DF81A892}"/>
                  </a:ext>
                </a:extLst>
              </p:cNvPr>
              <p:cNvSpPr/>
              <p:nvPr/>
            </p:nvSpPr>
            <p:spPr>
              <a:xfrm>
                <a:off x="911591" y="1953676"/>
                <a:ext cx="816789" cy="600283"/>
              </a:xfrm>
              <a:prstGeom prst="round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C7B22CB0-5D61-4FCE-98F9-18FCE2C73069}"/>
                  </a:ext>
                </a:extLst>
              </p:cNvPr>
              <p:cNvSpPr/>
              <p:nvPr/>
            </p:nvSpPr>
            <p:spPr>
              <a:xfrm>
                <a:off x="1159308" y="2406813"/>
                <a:ext cx="300505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893E3A30-C28C-4F5F-85FE-360A67A9C99E}"/>
                  </a:ext>
                </a:extLst>
              </p:cNvPr>
              <p:cNvSpPr/>
              <p:nvPr/>
            </p:nvSpPr>
            <p:spPr>
              <a:xfrm>
                <a:off x="1053355" y="2221878"/>
                <a:ext cx="134207" cy="10904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37" name="타원 36">
                <a:extLst>
                  <a:ext uri="{FF2B5EF4-FFF2-40B4-BE49-F238E27FC236}">
                    <a16:creationId xmlns:a16="http://schemas.microsoft.com/office/drawing/2014/main" id="{C2042030-F995-4B85-992C-F4D40888782E}"/>
                  </a:ext>
                </a:extLst>
              </p:cNvPr>
              <p:cNvSpPr/>
              <p:nvPr/>
            </p:nvSpPr>
            <p:spPr>
              <a:xfrm>
                <a:off x="1408455" y="2221878"/>
                <a:ext cx="134207" cy="10904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DD51A27E-9463-43BC-BE91-D78CC02B6AF3}"/>
                  </a:ext>
                </a:extLst>
              </p:cNvPr>
              <p:cNvSpPr/>
              <p:nvPr/>
            </p:nvSpPr>
            <p:spPr>
              <a:xfrm>
                <a:off x="926588" y="2757537"/>
                <a:ext cx="796925" cy="43394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2400" dirty="0" err="1">
                    <a:solidFill>
                      <a:schemeClr val="tx1"/>
                    </a:solidFill>
                    <a:latin typeface="배달의민족 한나는 열한살" panose="020B0600000101010101" pitchFamily="50" charset="-127"/>
                    <a:ea typeface="배달의민족 한나는 열한살" panose="020B0600000101010101" pitchFamily="50" charset="-127"/>
                  </a:rPr>
                  <a:t>스케일러</a:t>
                </a:r>
                <a:endParaRPr lang="ko-KR" altLang="en-US" sz="2400" dirty="0">
                  <a:solidFill>
                    <a:schemeClr val="tx1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39" name="막힌 원호 38">
                <a:extLst>
                  <a:ext uri="{FF2B5EF4-FFF2-40B4-BE49-F238E27FC236}">
                    <a16:creationId xmlns:a16="http://schemas.microsoft.com/office/drawing/2014/main" id="{D184C07A-7652-4C33-B0A2-0BA217F0A60A}"/>
                  </a:ext>
                </a:extLst>
              </p:cNvPr>
              <p:cNvSpPr/>
              <p:nvPr/>
            </p:nvSpPr>
            <p:spPr>
              <a:xfrm rot="918457">
                <a:off x="606175" y="3174911"/>
                <a:ext cx="195262" cy="219075"/>
              </a:xfrm>
              <a:prstGeom prst="blockArc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41D89C3B-2E85-49F4-A995-84B5F69608FC}"/>
                  </a:ext>
                </a:extLst>
              </p:cNvPr>
              <p:cNvSpPr/>
              <p:nvPr/>
            </p:nvSpPr>
            <p:spPr>
              <a:xfrm>
                <a:off x="926588" y="1911879"/>
                <a:ext cx="780466" cy="143145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41" name="막힌 원호 40">
                <a:extLst>
                  <a:ext uri="{FF2B5EF4-FFF2-40B4-BE49-F238E27FC236}">
                    <a16:creationId xmlns:a16="http://schemas.microsoft.com/office/drawing/2014/main" id="{BD5D80A7-2020-43D9-A33B-9337C45725B7}"/>
                  </a:ext>
                </a:extLst>
              </p:cNvPr>
              <p:cNvSpPr/>
              <p:nvPr/>
            </p:nvSpPr>
            <p:spPr>
              <a:xfrm rot="20493245">
                <a:off x="1836399" y="3178286"/>
                <a:ext cx="195262" cy="219075"/>
              </a:xfrm>
              <a:prstGeom prst="blockArc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</p:grpSp>
        <p:sp>
          <p:nvSpPr>
            <p:cNvPr id="28" name="1/2 액자 27">
              <a:extLst>
                <a:ext uri="{FF2B5EF4-FFF2-40B4-BE49-F238E27FC236}">
                  <a16:creationId xmlns:a16="http://schemas.microsoft.com/office/drawing/2014/main" id="{679E3923-DCF3-4CC0-AF0E-9D4BA0631B7C}"/>
                </a:ext>
              </a:extLst>
            </p:cNvPr>
            <p:cNvSpPr/>
            <p:nvPr/>
          </p:nvSpPr>
          <p:spPr>
            <a:xfrm rot="13288558">
              <a:off x="7276879" y="1977979"/>
              <a:ext cx="1362075" cy="1325563"/>
            </a:xfrm>
            <a:prstGeom prst="halfFrame">
              <a:avLst>
                <a:gd name="adj1" fmla="val 22554"/>
                <a:gd name="adj2" fmla="val 25429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8059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A35EDE-F5B8-429D-B1D2-C2E54CA94B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CD856-78BA-4161-BF13-ACC74CA0965B}"/>
              </a:ext>
            </a:extLst>
          </p:cNvPr>
          <p:cNvSpPr/>
          <p:nvPr/>
        </p:nvSpPr>
        <p:spPr>
          <a:xfrm>
            <a:off x="0" y="0"/>
            <a:ext cx="12192000" cy="688085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正方形/長方形 1">
            <a:extLst>
              <a:ext uri="{FF2B5EF4-FFF2-40B4-BE49-F238E27FC236}">
                <a16:creationId xmlns:a16="http://schemas.microsoft.com/office/drawing/2014/main" id="{DF6EA75D-9458-45F1-BE28-67DEF5D29A4C}"/>
              </a:ext>
            </a:extLst>
          </p:cNvPr>
          <p:cNvSpPr/>
          <p:nvPr/>
        </p:nvSpPr>
        <p:spPr>
          <a:xfrm>
            <a:off x="808382" y="0"/>
            <a:ext cx="1828801" cy="132522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sp>
        <p:nvSpPr>
          <p:cNvPr id="47" name="正方形/長方形 2">
            <a:extLst>
              <a:ext uri="{FF2B5EF4-FFF2-40B4-BE49-F238E27FC236}">
                <a16:creationId xmlns:a16="http://schemas.microsoft.com/office/drawing/2014/main" id="{DA6A0CE3-6368-4ED1-B0DB-3C0543FD046D}"/>
              </a:ext>
            </a:extLst>
          </p:cNvPr>
          <p:cNvSpPr/>
          <p:nvPr/>
        </p:nvSpPr>
        <p:spPr>
          <a:xfrm flipV="1">
            <a:off x="0" y="6804461"/>
            <a:ext cx="12192000" cy="76398"/>
          </a:xfrm>
          <a:prstGeom prst="rect">
            <a:avLst/>
          </a:prstGeom>
          <a:solidFill>
            <a:srgbClr val="3D3830"/>
          </a:solidFill>
          <a:ln>
            <a:solidFill>
              <a:srgbClr val="3D38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sp>
        <p:nvSpPr>
          <p:cNvPr id="49" name="テキスト ボックス 3">
            <a:extLst>
              <a:ext uri="{FF2B5EF4-FFF2-40B4-BE49-F238E27FC236}">
                <a16:creationId xmlns:a16="http://schemas.microsoft.com/office/drawing/2014/main" id="{4D8B0868-2C8F-465C-A821-4663920F8077}"/>
              </a:ext>
            </a:extLst>
          </p:cNvPr>
          <p:cNvSpPr txBox="1"/>
          <p:nvPr/>
        </p:nvSpPr>
        <p:spPr>
          <a:xfrm>
            <a:off x="736498" y="453868"/>
            <a:ext cx="39789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1-2.</a:t>
            </a:r>
            <a:r>
              <a:rPr kumimoji="1" lang="ko-KR" altLang="en-US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 데이터 스케일링</a:t>
            </a:r>
            <a:endParaRPr kumimoji="1" lang="ja-JP" altLang="en-US" sz="3200" dirty="0">
              <a:solidFill>
                <a:srgbClr val="3D3830"/>
              </a:solidFill>
              <a:latin typeface="배달의민족 도현" panose="020B0600000101010101" pitchFamily="50" charset="-127"/>
              <a:ea typeface="조선일보명조" pitchFamily="18" charset="-127"/>
              <a:cs typeface="조선일보명조" pitchFamily="18" charset="-127"/>
            </a:endParaRPr>
          </a:p>
        </p:txBody>
      </p:sp>
      <p:sp>
        <p:nvSpPr>
          <p:cNvPr id="42" name="내용 개체 틀 2">
            <a:extLst>
              <a:ext uri="{FF2B5EF4-FFF2-40B4-BE49-F238E27FC236}">
                <a16:creationId xmlns:a16="http://schemas.microsoft.com/office/drawing/2014/main" id="{71883FBB-7C42-4EE4-9321-466D45335763}"/>
              </a:ext>
            </a:extLst>
          </p:cNvPr>
          <p:cNvSpPr txBox="1">
            <a:spLocks/>
          </p:cNvSpPr>
          <p:nvPr/>
        </p:nvSpPr>
        <p:spPr>
          <a:xfrm>
            <a:off x="3589348" y="4455964"/>
            <a:ext cx="4155582" cy="4907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A.</a:t>
            </a:r>
            <a:r>
              <a:rPr lang="en-US" altLang="ko-KR" dirty="0">
                <a:solidFill>
                  <a:srgbClr val="3D3830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 </a:t>
            </a:r>
            <a:r>
              <a:rPr lang="ko-KR" altLang="en-US" dirty="0">
                <a:solidFill>
                  <a:srgbClr val="3D3830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표준화</a:t>
            </a:r>
            <a:endParaRPr kumimoji="0" lang="en-US" altLang="ko-KR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배달의민족 한나는 열한살" panose="020B0600000101010101" pitchFamily="50" charset="-127"/>
              <a:ea typeface="배달의민족 한나는 열한살" panose="020B0600000101010101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B. </a:t>
            </a:r>
            <a:r>
              <a:rPr kumimoji="0" lang="ko-KR" altLang="en-US" i="0" u="none" strike="noStrike" kern="1200" cap="none" spc="0" normalizeH="0" baseline="0" noProof="0" dirty="0">
                <a:ln>
                  <a:noFill/>
                </a:ln>
                <a:solidFill>
                  <a:srgbClr val="3D3830"/>
                </a:solidFill>
                <a:effectLst/>
                <a:uLnTx/>
                <a:uFillTx/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정규화</a:t>
            </a:r>
            <a:endParaRPr kumimoji="0" lang="en-US" altLang="ko-KR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배달의민족 한나는 열한살" panose="020B0600000101010101" pitchFamily="50" charset="-127"/>
              <a:ea typeface="배달의민족 한나는 열한살" panose="020B0600000101010101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배달의민족 한나는 열한살" panose="020B0600000101010101" pitchFamily="50" charset="-127"/>
              <a:ea typeface="배달의민족 한나는 열한살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3" name="표 42">
                <a:extLst>
                  <a:ext uri="{FF2B5EF4-FFF2-40B4-BE49-F238E27FC236}">
                    <a16:creationId xmlns:a16="http://schemas.microsoft.com/office/drawing/2014/main" id="{2055BA04-08EB-477F-A35A-6DB8652766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8486130"/>
                  </p:ext>
                </p:extLst>
              </p:nvPr>
            </p:nvGraphicFramePr>
            <p:xfrm>
              <a:off x="3589348" y="2157106"/>
              <a:ext cx="5013304" cy="2037102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506652">
                      <a:extLst>
                        <a:ext uri="{9D8B030D-6E8A-4147-A177-3AD203B41FA5}">
                          <a16:colId xmlns:a16="http://schemas.microsoft.com/office/drawing/2014/main" val="2857121213"/>
                        </a:ext>
                      </a:extLst>
                    </a:gridCol>
                    <a:gridCol w="2506652">
                      <a:extLst>
                        <a:ext uri="{9D8B030D-6E8A-4147-A177-3AD203B41FA5}">
                          <a16:colId xmlns:a16="http://schemas.microsoft.com/office/drawing/2014/main" val="537292835"/>
                        </a:ext>
                      </a:extLst>
                    </a:gridCol>
                  </a:tblGrid>
                  <a:tr h="44036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900" dirty="0"/>
                            <a:t>Standard</a:t>
                          </a:r>
                          <a:endParaRPr lang="ko-KR" altLang="en-US" sz="1900" dirty="0"/>
                        </a:p>
                      </a:txBody>
                      <a:tcPr marL="62455" marR="62455" marT="31227" marB="31227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900" dirty="0" err="1"/>
                            <a:t>MinMax</a:t>
                          </a:r>
                          <a:endParaRPr lang="ko-KR" altLang="en-US" sz="1900" dirty="0"/>
                        </a:p>
                      </a:txBody>
                      <a:tcPr marL="62455" marR="62455" marT="31227" marB="31227" anchor="ctr"/>
                    </a:tc>
                    <a:extLst>
                      <a:ext uri="{0D108BD9-81ED-4DB2-BD59-A6C34878D82A}">
                        <a16:rowId xmlns:a16="http://schemas.microsoft.com/office/drawing/2014/main" val="4184130043"/>
                      </a:ext>
                    </a:extLst>
                  </a:tr>
                  <a:tr h="1573985">
                    <a:tc>
                      <a:txBody>
                        <a:bodyPr/>
                        <a:lstStyle/>
                        <a:p>
                          <a:pPr latinLnBrk="1"/>
                          <a:endParaRPr lang="en-US" altLang="ko-KR" sz="2200" dirty="0"/>
                        </a:p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20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ko-KR" sz="220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ko-KR" altLang="en-US" sz="2200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num>
                                  <m:den>
                                    <m:r>
                                      <a:rPr lang="en-US" altLang="ko-KR" sz="2200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den>
                                </m:f>
                                <m:r>
                                  <a:rPr lang="en-US" altLang="ko-KR" sz="2200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oMath>
                            </m:oMathPara>
                          </a14:m>
                          <a:endParaRPr lang="en-US" altLang="ko-KR" sz="2200" dirty="0"/>
                        </a:p>
                        <a:p>
                          <a:pPr latinLnBrk="1"/>
                          <a:r>
                            <a:rPr lang="en-US" altLang="ko-KR" sz="1300" dirty="0"/>
                            <a:t/>
                          </a:r>
                          <a:br>
                            <a:rPr lang="en-US" altLang="ko-KR" sz="1300" dirty="0"/>
                          </a:b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ko-KR" sz="1400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ko-KR" sz="14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smtClean="0">
                                    <a:latin typeface="Cambria Math" panose="02040503050406030204" pitchFamily="18" charset="0"/>
                                  </a:rPr>
                                  <m:t>𝑚𝑒𝑎𝑛</m:t>
                                </m:r>
                                <m:r>
                                  <a:rPr lang="en-US" altLang="ko-KR" sz="1400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oMath>
                            </m:oMathPara>
                          </a14:m>
                          <a:endParaRPr lang="en-US" altLang="ko-KR" sz="1400" dirty="0"/>
                        </a:p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ko-KR" sz="1400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altLang="ko-KR" sz="14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smtClean="0">
                                    <a:latin typeface="Cambria Math" panose="02040503050406030204" pitchFamily="18" charset="0"/>
                                  </a:rPr>
                                  <m:t>𝑠𝑡𝑎𝑛𝑑𝑎𝑟𝑑</m:t>
                                </m:r>
                                <m:r>
                                  <a:rPr lang="en-US" altLang="ko-KR" sz="14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400" smtClean="0">
                                    <a:latin typeface="Cambria Math" panose="02040503050406030204" pitchFamily="18" charset="0"/>
                                  </a:rPr>
                                  <m:t>𝑑𝑒𝑣𝑖𝑎𝑡𝑖𝑜𝑛</m:t>
                                </m:r>
                              </m:oMath>
                            </m:oMathPara>
                          </a14:m>
                          <a:endParaRPr lang="en-US" altLang="ko-KR" sz="1900" b="0" dirty="0"/>
                        </a:p>
                      </a:txBody>
                      <a:tcPr marL="62455" marR="62455" marT="31227" marB="31227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220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20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ko-KR" sz="220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sz="2200" b="0" i="1" smtClean="0"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num>
                                  <m:den>
                                    <m:r>
                                      <a:rPr lang="en-US" altLang="ko-KR" sz="2200" b="0" i="1" smtClean="0">
                                        <a:latin typeface="Cambria Math" panose="02040503050406030204" pitchFamily="18" charset="0"/>
                                      </a:rPr>
                                      <m:t>𝑀𝑎𝑥</m:t>
                                    </m:r>
                                    <m:r>
                                      <a:rPr lang="en-US" altLang="ko-KR" sz="2200" b="0" i="1" smtClean="0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altLang="ko-KR" sz="2200" b="0" i="1" smtClean="0"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den>
                                </m:f>
                                <m:r>
                                  <a:rPr lang="en-US" altLang="ko-KR" sz="2200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oMath>
                            </m:oMathPara>
                          </a14:m>
                          <a:endParaRPr lang="en-US" altLang="ko-KR" sz="2200" dirty="0"/>
                        </a:p>
                        <a:p>
                          <a:pPr latinLnBrk="1"/>
                          <a:endParaRPr lang="ko-KR" altLang="en-US" sz="1300" dirty="0"/>
                        </a:p>
                      </a:txBody>
                      <a:tcPr marL="62455" marR="62455" marT="31227" marB="31227"/>
                    </a:tc>
                    <a:extLst>
                      <a:ext uri="{0D108BD9-81ED-4DB2-BD59-A6C34878D82A}">
                        <a16:rowId xmlns:a16="http://schemas.microsoft.com/office/drawing/2014/main" val="31930451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3" name="표 42">
                <a:extLst>
                  <a:ext uri="{FF2B5EF4-FFF2-40B4-BE49-F238E27FC236}">
                    <a16:creationId xmlns:a16="http://schemas.microsoft.com/office/drawing/2014/main" id="{2055BA04-08EB-477F-A35A-6DB8652766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8486130"/>
                  </p:ext>
                </p:extLst>
              </p:nvPr>
            </p:nvGraphicFramePr>
            <p:xfrm>
              <a:off x="3589348" y="2157106"/>
              <a:ext cx="5013304" cy="2037102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506652">
                      <a:extLst>
                        <a:ext uri="{9D8B030D-6E8A-4147-A177-3AD203B41FA5}">
                          <a16:colId xmlns:a16="http://schemas.microsoft.com/office/drawing/2014/main" val="2857121213"/>
                        </a:ext>
                      </a:extLst>
                    </a:gridCol>
                    <a:gridCol w="2506652">
                      <a:extLst>
                        <a:ext uri="{9D8B030D-6E8A-4147-A177-3AD203B41FA5}">
                          <a16:colId xmlns:a16="http://schemas.microsoft.com/office/drawing/2014/main" val="537292835"/>
                        </a:ext>
                      </a:extLst>
                    </a:gridCol>
                  </a:tblGrid>
                  <a:tr h="44036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900" dirty="0"/>
                            <a:t>Standard</a:t>
                          </a:r>
                          <a:endParaRPr lang="ko-KR" altLang="en-US" sz="1900" dirty="0"/>
                        </a:p>
                      </a:txBody>
                      <a:tcPr marL="62455" marR="62455" marT="31227" marB="31227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900" dirty="0" err="1"/>
                            <a:t>MinMax</a:t>
                          </a:r>
                          <a:endParaRPr lang="ko-KR" altLang="en-US" sz="1900" dirty="0"/>
                        </a:p>
                      </a:txBody>
                      <a:tcPr marL="62455" marR="62455" marT="31227" marB="31227" anchor="ctr"/>
                    </a:tc>
                    <a:extLst>
                      <a:ext uri="{0D108BD9-81ED-4DB2-BD59-A6C34878D82A}">
                        <a16:rowId xmlns:a16="http://schemas.microsoft.com/office/drawing/2014/main" val="4184130043"/>
                      </a:ext>
                    </a:extLst>
                  </a:tr>
                  <a:tr h="159674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2455" marR="62455" marT="31227" marB="31227">
                        <a:blipFill>
                          <a:blip r:embed="rId2"/>
                          <a:stretch>
                            <a:fillRect l="-243" t="-28137" r="-100971" b="-7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2455" marR="62455" marT="31227" marB="31227">
                        <a:blipFill>
                          <a:blip r:embed="rId2"/>
                          <a:stretch>
                            <a:fillRect l="-100243" t="-28137" r="-971" b="-7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30451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13238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A35EDE-F5B8-429D-B1D2-C2E54CA94B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CD856-78BA-4161-BF13-ACC74CA0965B}"/>
              </a:ext>
            </a:extLst>
          </p:cNvPr>
          <p:cNvSpPr/>
          <p:nvPr/>
        </p:nvSpPr>
        <p:spPr>
          <a:xfrm>
            <a:off x="0" y="0"/>
            <a:ext cx="12192000" cy="688085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正方形/長方形 1">
            <a:extLst>
              <a:ext uri="{FF2B5EF4-FFF2-40B4-BE49-F238E27FC236}">
                <a16:creationId xmlns:a16="http://schemas.microsoft.com/office/drawing/2014/main" id="{DF6EA75D-9458-45F1-BE28-67DEF5D29A4C}"/>
              </a:ext>
            </a:extLst>
          </p:cNvPr>
          <p:cNvSpPr/>
          <p:nvPr/>
        </p:nvSpPr>
        <p:spPr>
          <a:xfrm>
            <a:off x="808382" y="0"/>
            <a:ext cx="1828801" cy="132522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2">
            <a:extLst>
              <a:ext uri="{FF2B5EF4-FFF2-40B4-BE49-F238E27FC236}">
                <a16:creationId xmlns:a16="http://schemas.microsoft.com/office/drawing/2014/main" id="{DA6A0CE3-6368-4ED1-B0DB-3C0543FD046D}"/>
              </a:ext>
            </a:extLst>
          </p:cNvPr>
          <p:cNvSpPr/>
          <p:nvPr/>
        </p:nvSpPr>
        <p:spPr>
          <a:xfrm flipV="1">
            <a:off x="0" y="6804461"/>
            <a:ext cx="12192000" cy="76398"/>
          </a:xfrm>
          <a:prstGeom prst="rect">
            <a:avLst/>
          </a:prstGeom>
          <a:solidFill>
            <a:srgbClr val="3D3830"/>
          </a:solidFill>
          <a:ln>
            <a:solidFill>
              <a:srgbClr val="3D38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8" name="直線コネクタ 12">
            <a:extLst>
              <a:ext uri="{FF2B5EF4-FFF2-40B4-BE49-F238E27FC236}">
                <a16:creationId xmlns:a16="http://schemas.microsoft.com/office/drawing/2014/main" id="{62C87091-16DE-49DB-99D2-0CE67C3C6D09}"/>
              </a:ext>
            </a:extLst>
          </p:cNvPr>
          <p:cNvCxnSpPr/>
          <p:nvPr/>
        </p:nvCxnSpPr>
        <p:spPr>
          <a:xfrm>
            <a:off x="808382" y="1073426"/>
            <a:ext cx="113836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3">
            <a:extLst>
              <a:ext uri="{FF2B5EF4-FFF2-40B4-BE49-F238E27FC236}">
                <a16:creationId xmlns:a16="http://schemas.microsoft.com/office/drawing/2014/main" id="{B466757D-2F67-4FA4-AC65-18238B2F98CA}"/>
              </a:ext>
            </a:extLst>
          </p:cNvPr>
          <p:cNvSpPr txBox="1"/>
          <p:nvPr/>
        </p:nvSpPr>
        <p:spPr>
          <a:xfrm>
            <a:off x="736498" y="453868"/>
            <a:ext cx="39789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1-2.</a:t>
            </a:r>
            <a:r>
              <a:rPr kumimoji="1" lang="ko-KR" altLang="en-US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 데이터 스케일링</a:t>
            </a:r>
            <a:endParaRPr kumimoji="1" lang="ja-JP" altLang="en-US" sz="3200" dirty="0">
              <a:solidFill>
                <a:srgbClr val="3D3830"/>
              </a:solidFill>
              <a:latin typeface="배달의민족 도현" panose="020B0600000101010101" pitchFamily="50" charset="-127"/>
              <a:ea typeface="조선일보명조" pitchFamily="18" charset="-127"/>
              <a:cs typeface="조선일보명조" pitchFamily="18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06F7576-CAAD-4BFA-AD93-371BBF04EA26}"/>
              </a:ext>
            </a:extLst>
          </p:cNvPr>
          <p:cNvGrpSpPr/>
          <p:nvPr/>
        </p:nvGrpSpPr>
        <p:grpSpPr>
          <a:xfrm>
            <a:off x="2567241" y="1215726"/>
            <a:ext cx="1434307" cy="2257151"/>
            <a:chOff x="6737619" y="1977979"/>
            <a:chExt cx="2672539" cy="4416302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97C1C0EE-50E0-43BF-936F-D6C4D1D975D3}"/>
                </a:ext>
              </a:extLst>
            </p:cNvPr>
            <p:cNvGrpSpPr/>
            <p:nvPr/>
          </p:nvGrpSpPr>
          <p:grpSpPr>
            <a:xfrm>
              <a:off x="6737619" y="3008428"/>
              <a:ext cx="2672539" cy="3385853"/>
              <a:chOff x="606175" y="1911879"/>
              <a:chExt cx="1425486" cy="1758448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AEFB062F-1C87-4851-AFE9-2AE0972D5833}"/>
                  </a:ext>
                </a:extLst>
              </p:cNvPr>
              <p:cNvSpPr/>
              <p:nvPr/>
            </p:nvSpPr>
            <p:spPr>
              <a:xfrm>
                <a:off x="1108508" y="3434109"/>
                <a:ext cx="101600" cy="236218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배달의민족 도현" panose="020B0600000101010101" pitchFamily="50" charset="-127"/>
                  <a:ea typeface="배달의민족 도현" panose="020B0600000101010101" pitchFamily="50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EEEA87A-CF60-4AE8-A2AA-7443A13686E4}"/>
                  </a:ext>
                </a:extLst>
              </p:cNvPr>
              <p:cNvSpPr/>
              <p:nvPr/>
            </p:nvSpPr>
            <p:spPr>
              <a:xfrm>
                <a:off x="1475753" y="3432235"/>
                <a:ext cx="101600" cy="236218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배달의민족 도현" panose="020B0600000101010101" pitchFamily="50" charset="-127"/>
                  <a:ea typeface="배달의민족 도현" panose="020B0600000101010101" pitchFamily="50" charset="-127"/>
                </a:endParaRPr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12078879-5AA6-4960-9CAA-903276EDEB59}"/>
                  </a:ext>
                </a:extLst>
              </p:cNvPr>
              <p:cNvSpPr/>
              <p:nvPr/>
            </p:nvSpPr>
            <p:spPr>
              <a:xfrm rot="942030">
                <a:off x="769297" y="2699290"/>
                <a:ext cx="63576" cy="492778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배달의민족 도현" panose="020B0600000101010101" pitchFamily="50" charset="-127"/>
                  <a:ea typeface="배달의민족 도현" panose="020B0600000101010101" pitchFamily="50" charset="-127"/>
                </a:endParaRPr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E868B7AF-491B-497D-B59D-8DE11DB006C5}"/>
                  </a:ext>
                </a:extLst>
              </p:cNvPr>
              <p:cNvSpPr/>
              <p:nvPr/>
            </p:nvSpPr>
            <p:spPr>
              <a:xfrm rot="20802753">
                <a:off x="1811035" y="2704273"/>
                <a:ext cx="65325" cy="509442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배달의민족 도현" panose="020B0600000101010101" pitchFamily="50" charset="-127"/>
                  <a:ea typeface="배달의민족 도현" panose="020B0600000101010101" pitchFamily="50" charset="-127"/>
                </a:endParaRPr>
              </a:p>
            </p:txBody>
          </p:sp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A3BBADCF-F189-4439-8625-87DE074C2C27}"/>
                  </a:ext>
                </a:extLst>
              </p:cNvPr>
              <p:cNvSpPr/>
              <p:nvPr/>
            </p:nvSpPr>
            <p:spPr>
              <a:xfrm>
                <a:off x="838201" y="2559068"/>
                <a:ext cx="981075" cy="869932"/>
              </a:xfrm>
              <a:prstGeom prst="round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endParaRPr>
              </a:p>
            </p:txBody>
          </p:sp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E49F9880-B77F-46FF-AD35-D2C2DC9DEF8B}"/>
                  </a:ext>
                </a:extLst>
              </p:cNvPr>
              <p:cNvSpPr/>
              <p:nvPr/>
            </p:nvSpPr>
            <p:spPr>
              <a:xfrm>
                <a:off x="911591" y="1953676"/>
                <a:ext cx="816789" cy="600283"/>
              </a:xfrm>
              <a:prstGeom prst="round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endParaRPr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34EF2917-6273-4249-8030-32DF3D582775}"/>
                  </a:ext>
                </a:extLst>
              </p:cNvPr>
              <p:cNvSpPr/>
              <p:nvPr/>
            </p:nvSpPr>
            <p:spPr>
              <a:xfrm>
                <a:off x="1159308" y="2406813"/>
                <a:ext cx="300505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배달의민족 도현" panose="020B0600000101010101" pitchFamily="50" charset="-127"/>
                  <a:ea typeface="배달의민족 도현" panose="020B0600000101010101" pitchFamily="50" charset="-127"/>
                </a:endParaRPr>
              </a:p>
            </p:txBody>
          </p:sp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FD62A2BF-BE41-4693-BFFF-028315D98FF1}"/>
                  </a:ext>
                </a:extLst>
              </p:cNvPr>
              <p:cNvSpPr/>
              <p:nvPr/>
            </p:nvSpPr>
            <p:spPr>
              <a:xfrm>
                <a:off x="1053355" y="2221878"/>
                <a:ext cx="134207" cy="10904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6C7D01B1-17F1-489E-987B-326F30FAE28D}"/>
                  </a:ext>
                </a:extLst>
              </p:cNvPr>
              <p:cNvSpPr/>
              <p:nvPr/>
            </p:nvSpPr>
            <p:spPr>
              <a:xfrm>
                <a:off x="1408455" y="2221878"/>
                <a:ext cx="134207" cy="10904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endParaRP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3DE6155A-7B50-47D2-9227-47B01D4D5FBF}"/>
                  </a:ext>
                </a:extLst>
              </p:cNvPr>
              <p:cNvSpPr/>
              <p:nvPr/>
            </p:nvSpPr>
            <p:spPr>
              <a:xfrm>
                <a:off x="926588" y="2757537"/>
                <a:ext cx="796925" cy="43394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 err="1">
                    <a:solidFill>
                      <a:schemeClr val="tx1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</a:rPr>
                  <a:t>스케일러</a:t>
                </a:r>
                <a:endParaRPr lang="ko-KR" altLang="en-US" sz="1200" dirty="0">
                  <a:solidFill>
                    <a:schemeClr val="tx1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endParaRPr>
              </a:p>
            </p:txBody>
          </p:sp>
          <p:sp>
            <p:nvSpPr>
              <p:cNvPr id="24" name="막힌 원호 23">
                <a:extLst>
                  <a:ext uri="{FF2B5EF4-FFF2-40B4-BE49-F238E27FC236}">
                    <a16:creationId xmlns:a16="http://schemas.microsoft.com/office/drawing/2014/main" id="{FA66F4BF-DEA8-4917-B734-B67DF4300BAD}"/>
                  </a:ext>
                </a:extLst>
              </p:cNvPr>
              <p:cNvSpPr/>
              <p:nvPr/>
            </p:nvSpPr>
            <p:spPr>
              <a:xfrm rot="918457">
                <a:off x="606175" y="3174911"/>
                <a:ext cx="195262" cy="219075"/>
              </a:xfrm>
              <a:prstGeom prst="blockArc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solidFill>
                    <a:schemeClr val="tx1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051EDCD4-CBAA-4898-9248-0C42C9974E48}"/>
                  </a:ext>
                </a:extLst>
              </p:cNvPr>
              <p:cNvSpPr/>
              <p:nvPr/>
            </p:nvSpPr>
            <p:spPr>
              <a:xfrm>
                <a:off x="926588" y="1911879"/>
                <a:ext cx="780466" cy="143145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endParaRPr>
              </a:p>
            </p:txBody>
          </p:sp>
          <p:sp>
            <p:nvSpPr>
              <p:cNvPr id="26" name="막힌 원호 25">
                <a:extLst>
                  <a:ext uri="{FF2B5EF4-FFF2-40B4-BE49-F238E27FC236}">
                    <a16:creationId xmlns:a16="http://schemas.microsoft.com/office/drawing/2014/main" id="{EA5CAF70-DDCA-42E0-8FEA-4C79F99B8791}"/>
                  </a:ext>
                </a:extLst>
              </p:cNvPr>
              <p:cNvSpPr/>
              <p:nvPr/>
            </p:nvSpPr>
            <p:spPr>
              <a:xfrm rot="20493245">
                <a:off x="1836399" y="3178286"/>
                <a:ext cx="195262" cy="219075"/>
              </a:xfrm>
              <a:prstGeom prst="blockArc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solidFill>
                    <a:schemeClr val="tx1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endParaRPr>
              </a:p>
            </p:txBody>
          </p:sp>
        </p:grpSp>
        <p:sp>
          <p:nvSpPr>
            <p:cNvPr id="12" name="1/2 액자 11">
              <a:extLst>
                <a:ext uri="{FF2B5EF4-FFF2-40B4-BE49-F238E27FC236}">
                  <a16:creationId xmlns:a16="http://schemas.microsoft.com/office/drawing/2014/main" id="{624665ED-9D63-4780-8B62-2A29BD2AB5F0}"/>
                </a:ext>
              </a:extLst>
            </p:cNvPr>
            <p:cNvSpPr/>
            <p:nvPr/>
          </p:nvSpPr>
          <p:spPr>
            <a:xfrm rot="13288558">
              <a:off x="7276879" y="1977979"/>
              <a:ext cx="1362075" cy="1325563"/>
            </a:xfrm>
            <a:prstGeom prst="halfFrame">
              <a:avLst>
                <a:gd name="adj1" fmla="val 22554"/>
                <a:gd name="adj2" fmla="val 25429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표 26">
                <a:extLst>
                  <a:ext uri="{FF2B5EF4-FFF2-40B4-BE49-F238E27FC236}">
                    <a16:creationId xmlns:a16="http://schemas.microsoft.com/office/drawing/2014/main" id="{6E17EC76-1127-4863-A5A6-F11ABB3E533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86864" y="1579403"/>
              <a:ext cx="5013304" cy="2037102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506652">
                      <a:extLst>
                        <a:ext uri="{9D8B030D-6E8A-4147-A177-3AD203B41FA5}">
                          <a16:colId xmlns:a16="http://schemas.microsoft.com/office/drawing/2014/main" val="2857121213"/>
                        </a:ext>
                      </a:extLst>
                    </a:gridCol>
                    <a:gridCol w="2506652">
                      <a:extLst>
                        <a:ext uri="{9D8B030D-6E8A-4147-A177-3AD203B41FA5}">
                          <a16:colId xmlns:a16="http://schemas.microsoft.com/office/drawing/2014/main" val="537292835"/>
                        </a:ext>
                      </a:extLst>
                    </a:gridCol>
                  </a:tblGrid>
                  <a:tr h="44036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900" dirty="0"/>
                            <a:t>Standard</a:t>
                          </a:r>
                          <a:endParaRPr lang="ko-KR" altLang="en-US" sz="1900" dirty="0"/>
                        </a:p>
                      </a:txBody>
                      <a:tcPr marL="62455" marR="62455" marT="31227" marB="31227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900" dirty="0" err="1"/>
                            <a:t>MinMax</a:t>
                          </a:r>
                          <a:endParaRPr lang="ko-KR" altLang="en-US" sz="1900" dirty="0"/>
                        </a:p>
                      </a:txBody>
                      <a:tcPr marL="62455" marR="62455" marT="31227" marB="31227" anchor="ctr"/>
                    </a:tc>
                    <a:extLst>
                      <a:ext uri="{0D108BD9-81ED-4DB2-BD59-A6C34878D82A}">
                        <a16:rowId xmlns:a16="http://schemas.microsoft.com/office/drawing/2014/main" val="4184130043"/>
                      </a:ext>
                    </a:extLst>
                  </a:tr>
                  <a:tr h="1573985">
                    <a:tc>
                      <a:txBody>
                        <a:bodyPr/>
                        <a:lstStyle/>
                        <a:p>
                          <a:pPr latinLnBrk="1"/>
                          <a:endParaRPr lang="en-US" altLang="ko-KR" sz="2200" dirty="0"/>
                        </a:p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20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ko-KR" sz="220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ko-KR" altLang="en-US" sz="2200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num>
                                  <m:den>
                                    <m:r>
                                      <a:rPr lang="en-US" altLang="ko-KR" sz="2200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den>
                                </m:f>
                                <m:r>
                                  <a:rPr lang="en-US" altLang="ko-KR" sz="2200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oMath>
                            </m:oMathPara>
                          </a14:m>
                          <a:endParaRPr lang="en-US" altLang="ko-KR" sz="2200" dirty="0"/>
                        </a:p>
                        <a:p>
                          <a:pPr latinLnBrk="1"/>
                          <a:r>
                            <a:rPr lang="en-US" altLang="ko-KR" sz="1300" dirty="0"/>
                            <a:t/>
                          </a:r>
                          <a:br>
                            <a:rPr lang="en-US" altLang="ko-KR" sz="1300" dirty="0"/>
                          </a:b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ko-KR" sz="1400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ko-KR" sz="14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smtClean="0">
                                    <a:latin typeface="Cambria Math" panose="02040503050406030204" pitchFamily="18" charset="0"/>
                                  </a:rPr>
                                  <m:t>𝑚𝑒𝑎𝑛</m:t>
                                </m:r>
                                <m:r>
                                  <a:rPr lang="en-US" altLang="ko-KR" sz="1400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oMath>
                            </m:oMathPara>
                          </a14:m>
                          <a:endParaRPr lang="en-US" altLang="ko-KR" sz="1400" dirty="0"/>
                        </a:p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ko-KR" sz="1400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altLang="ko-KR" sz="14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smtClean="0">
                                    <a:latin typeface="Cambria Math" panose="02040503050406030204" pitchFamily="18" charset="0"/>
                                  </a:rPr>
                                  <m:t>𝑠𝑡𝑎𝑛𝑑𝑎𝑟𝑑</m:t>
                                </m:r>
                                <m:r>
                                  <a:rPr lang="en-US" altLang="ko-KR" sz="14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400" smtClean="0">
                                    <a:latin typeface="Cambria Math" panose="02040503050406030204" pitchFamily="18" charset="0"/>
                                  </a:rPr>
                                  <m:t>𝑑𝑒𝑣𝑖𝑎𝑡𝑖𝑜𝑛</m:t>
                                </m:r>
                              </m:oMath>
                            </m:oMathPara>
                          </a14:m>
                          <a:endParaRPr lang="en-US" altLang="ko-KR" sz="1900" b="0" dirty="0"/>
                        </a:p>
                      </a:txBody>
                      <a:tcPr marL="62455" marR="62455" marT="31227" marB="31227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220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20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ko-KR" sz="220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sz="2200" b="0" i="1" smtClean="0"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num>
                                  <m:den>
                                    <m:r>
                                      <a:rPr lang="en-US" altLang="ko-KR" sz="2200" b="0" i="1" smtClean="0">
                                        <a:latin typeface="Cambria Math" panose="02040503050406030204" pitchFamily="18" charset="0"/>
                                      </a:rPr>
                                      <m:t>𝑀𝑎𝑥</m:t>
                                    </m:r>
                                    <m:r>
                                      <a:rPr lang="en-US" altLang="ko-KR" sz="2200" b="0" i="1" smtClean="0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altLang="ko-KR" sz="2200" b="0" i="1" smtClean="0"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den>
                                </m:f>
                                <m:r>
                                  <a:rPr lang="en-US" altLang="ko-KR" sz="2200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oMath>
                            </m:oMathPara>
                          </a14:m>
                          <a:endParaRPr lang="en-US" altLang="ko-KR" sz="2200" dirty="0"/>
                        </a:p>
                        <a:p>
                          <a:pPr latinLnBrk="1"/>
                          <a:endParaRPr lang="ko-KR" altLang="en-US" sz="1300" dirty="0"/>
                        </a:p>
                      </a:txBody>
                      <a:tcPr marL="62455" marR="62455" marT="31227" marB="31227"/>
                    </a:tc>
                    <a:extLst>
                      <a:ext uri="{0D108BD9-81ED-4DB2-BD59-A6C34878D82A}">
                        <a16:rowId xmlns:a16="http://schemas.microsoft.com/office/drawing/2014/main" val="31930451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표 26">
                <a:extLst>
                  <a:ext uri="{FF2B5EF4-FFF2-40B4-BE49-F238E27FC236}">
                    <a16:creationId xmlns:a16="http://schemas.microsoft.com/office/drawing/2014/main" id="{6E17EC76-1127-4863-A5A6-F11ABB3E5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7827316"/>
                  </p:ext>
                </p:extLst>
              </p:nvPr>
            </p:nvGraphicFramePr>
            <p:xfrm>
              <a:off x="5386864" y="1579403"/>
              <a:ext cx="5013304" cy="2037102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506652">
                      <a:extLst>
                        <a:ext uri="{9D8B030D-6E8A-4147-A177-3AD203B41FA5}">
                          <a16:colId xmlns:a16="http://schemas.microsoft.com/office/drawing/2014/main" val="2857121213"/>
                        </a:ext>
                      </a:extLst>
                    </a:gridCol>
                    <a:gridCol w="2506652">
                      <a:extLst>
                        <a:ext uri="{9D8B030D-6E8A-4147-A177-3AD203B41FA5}">
                          <a16:colId xmlns:a16="http://schemas.microsoft.com/office/drawing/2014/main" val="537292835"/>
                        </a:ext>
                      </a:extLst>
                    </a:gridCol>
                  </a:tblGrid>
                  <a:tr h="44036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900" dirty="0"/>
                            <a:t>Standard</a:t>
                          </a:r>
                          <a:endParaRPr lang="ko-KR" altLang="en-US" sz="1900" dirty="0"/>
                        </a:p>
                      </a:txBody>
                      <a:tcPr marL="62455" marR="62455" marT="31227" marB="31227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900" dirty="0" err="1"/>
                            <a:t>MinMax</a:t>
                          </a:r>
                          <a:endParaRPr lang="ko-KR" altLang="en-US" sz="1900" dirty="0"/>
                        </a:p>
                      </a:txBody>
                      <a:tcPr marL="62455" marR="62455" marT="31227" marB="31227" anchor="ctr"/>
                    </a:tc>
                    <a:extLst>
                      <a:ext uri="{0D108BD9-81ED-4DB2-BD59-A6C34878D82A}">
                        <a16:rowId xmlns:a16="http://schemas.microsoft.com/office/drawing/2014/main" val="4184130043"/>
                      </a:ext>
                    </a:extLst>
                  </a:tr>
                  <a:tr h="159674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2455" marR="62455" marT="31227" marB="31227">
                        <a:blipFill>
                          <a:blip r:embed="rId2"/>
                          <a:stretch>
                            <a:fillRect l="-243" t="-27757" r="-100971" b="-7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2455" marR="62455" marT="31227" marB="31227">
                        <a:blipFill>
                          <a:blip r:embed="rId2"/>
                          <a:stretch>
                            <a:fillRect l="-100243" t="-27757" r="-971" b="-7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304510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68093440-72F0-4E41-B0AE-C3AC4B547A2D}"/>
              </a:ext>
            </a:extLst>
          </p:cNvPr>
          <p:cNvGraphicFramePr>
            <a:graphicFrameLocks noGrp="1"/>
          </p:cNvGraphicFramePr>
          <p:nvPr/>
        </p:nvGraphicFramePr>
        <p:xfrm>
          <a:off x="940847" y="4122481"/>
          <a:ext cx="2461128" cy="201098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20376">
                  <a:extLst>
                    <a:ext uri="{9D8B030D-6E8A-4147-A177-3AD203B41FA5}">
                      <a16:colId xmlns:a16="http://schemas.microsoft.com/office/drawing/2014/main" val="1732837231"/>
                    </a:ext>
                  </a:extLst>
                </a:gridCol>
                <a:gridCol w="820376">
                  <a:extLst>
                    <a:ext uri="{9D8B030D-6E8A-4147-A177-3AD203B41FA5}">
                      <a16:colId xmlns:a16="http://schemas.microsoft.com/office/drawing/2014/main" val="3616476212"/>
                    </a:ext>
                  </a:extLst>
                </a:gridCol>
                <a:gridCol w="820376">
                  <a:extLst>
                    <a:ext uri="{9D8B030D-6E8A-4147-A177-3AD203B41FA5}">
                      <a16:colId xmlns:a16="http://schemas.microsoft.com/office/drawing/2014/main" val="2240179704"/>
                    </a:ext>
                  </a:extLst>
                </a:gridCol>
              </a:tblGrid>
              <a:tr h="402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Animal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Age(y)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size(m)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5107399"/>
                  </a:ext>
                </a:extLst>
              </a:tr>
              <a:tr h="402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10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0.5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445483"/>
                  </a:ext>
                </a:extLst>
              </a:tr>
              <a:tr h="402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6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0.2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6920965"/>
                  </a:ext>
                </a:extLst>
              </a:tr>
              <a:tr h="402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4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39483198"/>
                  </a:ext>
                </a:extLst>
              </a:tr>
              <a:tr h="402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3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80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0.3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4098258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752FE43D-7C76-497B-ABB1-5A94DED89954}"/>
              </a:ext>
            </a:extLst>
          </p:cNvPr>
          <p:cNvGraphicFramePr>
            <a:graphicFrameLocks noGrp="1"/>
          </p:cNvGraphicFramePr>
          <p:nvPr/>
        </p:nvGraphicFramePr>
        <p:xfrm>
          <a:off x="4819914" y="4134864"/>
          <a:ext cx="2506650" cy="20093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35550">
                  <a:extLst>
                    <a:ext uri="{9D8B030D-6E8A-4147-A177-3AD203B41FA5}">
                      <a16:colId xmlns:a16="http://schemas.microsoft.com/office/drawing/2014/main" val="1732837231"/>
                    </a:ext>
                  </a:extLst>
                </a:gridCol>
                <a:gridCol w="835550">
                  <a:extLst>
                    <a:ext uri="{9D8B030D-6E8A-4147-A177-3AD203B41FA5}">
                      <a16:colId xmlns:a16="http://schemas.microsoft.com/office/drawing/2014/main" val="3616476212"/>
                    </a:ext>
                  </a:extLst>
                </a:gridCol>
                <a:gridCol w="835550">
                  <a:extLst>
                    <a:ext uri="{9D8B030D-6E8A-4147-A177-3AD203B41FA5}">
                      <a16:colId xmlns:a16="http://schemas.microsoft.com/office/drawing/2014/main" val="2240179704"/>
                    </a:ext>
                  </a:extLst>
                </a:gridCol>
              </a:tblGrid>
              <a:tr h="4018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Animal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Age(y)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size(m)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5107399"/>
                  </a:ext>
                </a:extLst>
              </a:tr>
              <a:tr h="4018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-0.47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45483"/>
                  </a:ext>
                </a:extLst>
              </a:tr>
              <a:tr h="4018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-0.59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-0.97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920965"/>
                  </a:ext>
                </a:extLst>
              </a:tr>
              <a:tr h="4018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-0.65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1.62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483198"/>
                  </a:ext>
                </a:extLst>
              </a:tr>
              <a:tr h="4018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3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1.72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-0.64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098258"/>
                  </a:ext>
                </a:extLst>
              </a:tr>
            </a:tbl>
          </a:graphicData>
        </a:graphic>
      </p:graphicFrame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E57C5EFF-B56F-4C4D-80B9-794463BC6D95}"/>
              </a:ext>
            </a:extLst>
          </p:cNvPr>
          <p:cNvGraphicFramePr>
            <a:graphicFrameLocks noGrp="1"/>
          </p:cNvGraphicFramePr>
          <p:nvPr/>
        </p:nvGraphicFramePr>
        <p:xfrm>
          <a:off x="8744503" y="4134019"/>
          <a:ext cx="2506650" cy="201014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35550">
                  <a:extLst>
                    <a:ext uri="{9D8B030D-6E8A-4147-A177-3AD203B41FA5}">
                      <a16:colId xmlns:a16="http://schemas.microsoft.com/office/drawing/2014/main" val="1732837231"/>
                    </a:ext>
                  </a:extLst>
                </a:gridCol>
                <a:gridCol w="835550">
                  <a:extLst>
                    <a:ext uri="{9D8B030D-6E8A-4147-A177-3AD203B41FA5}">
                      <a16:colId xmlns:a16="http://schemas.microsoft.com/office/drawing/2014/main" val="3616476212"/>
                    </a:ext>
                  </a:extLst>
                </a:gridCol>
                <a:gridCol w="835550">
                  <a:extLst>
                    <a:ext uri="{9D8B030D-6E8A-4147-A177-3AD203B41FA5}">
                      <a16:colId xmlns:a16="http://schemas.microsoft.com/office/drawing/2014/main" val="2240179704"/>
                    </a:ext>
                  </a:extLst>
                </a:gridCol>
              </a:tblGrid>
              <a:tr h="4020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Animal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Age(y)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size(m)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5107399"/>
                  </a:ext>
                </a:extLst>
              </a:tr>
              <a:tr h="4020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0.07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0.37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445483"/>
                  </a:ext>
                </a:extLst>
              </a:tr>
              <a:tr h="4020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0.02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6920965"/>
                  </a:ext>
                </a:extLst>
              </a:tr>
              <a:tr h="4020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39483198"/>
                  </a:ext>
                </a:extLst>
              </a:tr>
              <a:tr h="4020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3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0.12</a:t>
                      </a:r>
                      <a:endParaRPr lang="ko-KR" altLang="en-US" sz="1300" dirty="0"/>
                    </a:p>
                  </a:txBody>
                  <a:tcPr marL="62455" marR="62455" marT="31227" marB="31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4098258"/>
                  </a:ext>
                </a:extLst>
              </a:tr>
            </a:tbl>
          </a:graphicData>
        </a:graphic>
      </p:graphicFrame>
      <p:sp>
        <p:nvSpPr>
          <p:cNvPr id="31" name="타원 30">
            <a:extLst>
              <a:ext uri="{FF2B5EF4-FFF2-40B4-BE49-F238E27FC236}">
                <a16:creationId xmlns:a16="http://schemas.microsoft.com/office/drawing/2014/main" id="{5EE90A10-9999-4A61-8739-88DDFE426998}"/>
              </a:ext>
            </a:extLst>
          </p:cNvPr>
          <p:cNvSpPr/>
          <p:nvPr/>
        </p:nvSpPr>
        <p:spPr>
          <a:xfrm>
            <a:off x="1742202" y="3979214"/>
            <a:ext cx="825040" cy="231891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A35EDE-F5B8-429D-B1D2-C2E54CA94B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CD856-78BA-4161-BF13-ACC74CA0965B}"/>
              </a:ext>
            </a:extLst>
          </p:cNvPr>
          <p:cNvSpPr/>
          <p:nvPr/>
        </p:nvSpPr>
        <p:spPr>
          <a:xfrm>
            <a:off x="0" y="0"/>
            <a:ext cx="12192000" cy="688085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正方形/長方形 1">
            <a:extLst>
              <a:ext uri="{FF2B5EF4-FFF2-40B4-BE49-F238E27FC236}">
                <a16:creationId xmlns:a16="http://schemas.microsoft.com/office/drawing/2014/main" id="{DF6EA75D-9458-45F1-BE28-67DEF5D29A4C}"/>
              </a:ext>
            </a:extLst>
          </p:cNvPr>
          <p:cNvSpPr/>
          <p:nvPr/>
        </p:nvSpPr>
        <p:spPr>
          <a:xfrm>
            <a:off x="808382" y="0"/>
            <a:ext cx="1828801" cy="132522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2">
            <a:extLst>
              <a:ext uri="{FF2B5EF4-FFF2-40B4-BE49-F238E27FC236}">
                <a16:creationId xmlns:a16="http://schemas.microsoft.com/office/drawing/2014/main" id="{DA6A0CE3-6368-4ED1-B0DB-3C0543FD046D}"/>
              </a:ext>
            </a:extLst>
          </p:cNvPr>
          <p:cNvSpPr/>
          <p:nvPr/>
        </p:nvSpPr>
        <p:spPr>
          <a:xfrm flipV="1">
            <a:off x="0" y="6804461"/>
            <a:ext cx="12192000" cy="76398"/>
          </a:xfrm>
          <a:prstGeom prst="rect">
            <a:avLst/>
          </a:prstGeom>
          <a:solidFill>
            <a:srgbClr val="3D3830"/>
          </a:solidFill>
          <a:ln>
            <a:solidFill>
              <a:srgbClr val="3D38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8" name="直線コネクタ 12">
            <a:extLst>
              <a:ext uri="{FF2B5EF4-FFF2-40B4-BE49-F238E27FC236}">
                <a16:creationId xmlns:a16="http://schemas.microsoft.com/office/drawing/2014/main" id="{62C87091-16DE-49DB-99D2-0CE67C3C6D09}"/>
              </a:ext>
            </a:extLst>
          </p:cNvPr>
          <p:cNvCxnSpPr/>
          <p:nvPr/>
        </p:nvCxnSpPr>
        <p:spPr>
          <a:xfrm>
            <a:off x="808382" y="1073426"/>
            <a:ext cx="113836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3">
            <a:extLst>
              <a:ext uri="{FF2B5EF4-FFF2-40B4-BE49-F238E27FC236}">
                <a16:creationId xmlns:a16="http://schemas.microsoft.com/office/drawing/2014/main" id="{4D8B0868-2C8F-465C-A821-4663920F8077}"/>
              </a:ext>
            </a:extLst>
          </p:cNvPr>
          <p:cNvSpPr txBox="1"/>
          <p:nvPr/>
        </p:nvSpPr>
        <p:spPr>
          <a:xfrm>
            <a:off x="736498" y="453868"/>
            <a:ext cx="39789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1-2.</a:t>
            </a:r>
            <a:r>
              <a:rPr kumimoji="1" lang="ko-KR" altLang="en-US" sz="3200" dirty="0"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 데이터 스케일링</a:t>
            </a:r>
            <a:endParaRPr kumimoji="1" lang="ja-JP" altLang="en-US" sz="3200" dirty="0">
              <a:latin typeface="배달의민족 도현" panose="020B0600000101010101" pitchFamily="50" charset="-127"/>
              <a:ea typeface="조선일보명조" pitchFamily="18" charset="-127"/>
              <a:cs typeface="조선일보명조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8E50FD4-17E9-4F08-8422-D97B1C461754}"/>
              </a:ext>
            </a:extLst>
          </p:cNvPr>
          <p:cNvGrpSpPr/>
          <p:nvPr/>
        </p:nvGrpSpPr>
        <p:grpSpPr>
          <a:xfrm>
            <a:off x="2115958" y="1359989"/>
            <a:ext cx="7790573" cy="5034447"/>
            <a:chOff x="2115958" y="1359989"/>
            <a:chExt cx="7790573" cy="5034447"/>
          </a:xfrm>
        </p:grpSpPr>
        <p:pic>
          <p:nvPicPr>
            <p:cNvPr id="8" name="그림 7" descr="스크린샷이(가) 표시된 사진&#10;&#10;자동 생성된 설명">
              <a:extLst>
                <a:ext uri="{FF2B5EF4-FFF2-40B4-BE49-F238E27FC236}">
                  <a16:creationId xmlns:a16="http://schemas.microsoft.com/office/drawing/2014/main" id="{6B11F562-DB1C-4B19-941C-1339DE5D9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5958" y="1359989"/>
              <a:ext cx="7790573" cy="5034447"/>
            </a:xfrm>
            <a:prstGeom prst="rect">
              <a:avLst/>
            </a:prstGeom>
          </p:spPr>
        </p:pic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417BE0B9-831B-4033-99A2-FF95FCDF35E7}"/>
                </a:ext>
              </a:extLst>
            </p:cNvPr>
            <p:cNvSpPr/>
            <p:nvPr/>
          </p:nvSpPr>
          <p:spPr>
            <a:xfrm>
              <a:off x="2712184" y="3514076"/>
              <a:ext cx="430331" cy="367355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FDA6F787-B2ED-488C-A3A9-8D209A876B42}"/>
                </a:ext>
              </a:extLst>
            </p:cNvPr>
            <p:cNvSpPr/>
            <p:nvPr/>
          </p:nvSpPr>
          <p:spPr>
            <a:xfrm>
              <a:off x="5317196" y="3522465"/>
              <a:ext cx="430331" cy="367355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07BBEF8B-37EF-4AE3-A504-AF6495EF528B}"/>
                </a:ext>
              </a:extLst>
            </p:cNvPr>
            <p:cNvSpPr/>
            <p:nvPr/>
          </p:nvSpPr>
          <p:spPr>
            <a:xfrm>
              <a:off x="7967304" y="3498241"/>
              <a:ext cx="430331" cy="367355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C93F0B54-7DB3-4A67-AB71-B016C65D2110}"/>
                </a:ext>
              </a:extLst>
            </p:cNvPr>
            <p:cNvSpPr/>
            <p:nvPr/>
          </p:nvSpPr>
          <p:spPr>
            <a:xfrm>
              <a:off x="2712184" y="5956315"/>
              <a:ext cx="430331" cy="367355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CF275E1-A6DA-4209-97D7-5876B953A2B9}"/>
                </a:ext>
              </a:extLst>
            </p:cNvPr>
            <p:cNvSpPr/>
            <p:nvPr/>
          </p:nvSpPr>
          <p:spPr>
            <a:xfrm>
              <a:off x="5564135" y="5984054"/>
              <a:ext cx="430331" cy="367355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6340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A35EDE-F5B8-429D-B1D2-C2E54CA94B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CD856-78BA-4161-BF13-ACC74CA0965B}"/>
              </a:ext>
            </a:extLst>
          </p:cNvPr>
          <p:cNvSpPr/>
          <p:nvPr/>
        </p:nvSpPr>
        <p:spPr>
          <a:xfrm>
            <a:off x="8389" y="25167"/>
            <a:ext cx="12192000" cy="688085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正方形/長方形 1">
            <a:extLst>
              <a:ext uri="{FF2B5EF4-FFF2-40B4-BE49-F238E27FC236}">
                <a16:creationId xmlns:a16="http://schemas.microsoft.com/office/drawing/2014/main" id="{DF6EA75D-9458-45F1-BE28-67DEF5D29A4C}"/>
              </a:ext>
            </a:extLst>
          </p:cNvPr>
          <p:cNvSpPr/>
          <p:nvPr/>
        </p:nvSpPr>
        <p:spPr>
          <a:xfrm>
            <a:off x="808382" y="0"/>
            <a:ext cx="1828801" cy="132522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2">
            <a:extLst>
              <a:ext uri="{FF2B5EF4-FFF2-40B4-BE49-F238E27FC236}">
                <a16:creationId xmlns:a16="http://schemas.microsoft.com/office/drawing/2014/main" id="{DA6A0CE3-6368-4ED1-B0DB-3C0543FD046D}"/>
              </a:ext>
            </a:extLst>
          </p:cNvPr>
          <p:cNvSpPr/>
          <p:nvPr/>
        </p:nvSpPr>
        <p:spPr>
          <a:xfrm flipV="1">
            <a:off x="0" y="6804461"/>
            <a:ext cx="12192000" cy="76398"/>
          </a:xfrm>
          <a:prstGeom prst="rect">
            <a:avLst/>
          </a:prstGeom>
          <a:solidFill>
            <a:srgbClr val="3D3830"/>
          </a:solidFill>
          <a:ln>
            <a:solidFill>
              <a:srgbClr val="3D38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8" name="直線コネクタ 12">
            <a:extLst>
              <a:ext uri="{FF2B5EF4-FFF2-40B4-BE49-F238E27FC236}">
                <a16:creationId xmlns:a16="http://schemas.microsoft.com/office/drawing/2014/main" id="{62C87091-16DE-49DB-99D2-0CE67C3C6D09}"/>
              </a:ext>
            </a:extLst>
          </p:cNvPr>
          <p:cNvCxnSpPr/>
          <p:nvPr/>
        </p:nvCxnSpPr>
        <p:spPr>
          <a:xfrm>
            <a:off x="808382" y="1073426"/>
            <a:ext cx="113836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3">
            <a:extLst>
              <a:ext uri="{FF2B5EF4-FFF2-40B4-BE49-F238E27FC236}">
                <a16:creationId xmlns:a16="http://schemas.microsoft.com/office/drawing/2014/main" id="{4D8B0868-2C8F-465C-A821-4663920F8077}"/>
              </a:ext>
            </a:extLst>
          </p:cNvPr>
          <p:cNvSpPr txBox="1"/>
          <p:nvPr/>
        </p:nvSpPr>
        <p:spPr>
          <a:xfrm>
            <a:off x="736498" y="453868"/>
            <a:ext cx="4110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1-2.</a:t>
            </a:r>
            <a:r>
              <a:rPr kumimoji="1" lang="ko-KR" altLang="en-US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 데이터 스케일링</a:t>
            </a:r>
            <a:endParaRPr kumimoji="1" lang="ja-JP" altLang="en-US" sz="3200" dirty="0">
              <a:solidFill>
                <a:srgbClr val="3D3830"/>
              </a:solidFill>
              <a:latin typeface="배달의민족 도현" panose="020B0600000101010101" pitchFamily="50" charset="-127"/>
              <a:ea typeface="조선일보명조" pitchFamily="18" charset="-127"/>
              <a:cs typeface="조선일보명조" pitchFamily="18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6168B0-0EE9-4C95-9B3A-2D1F5774DF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415919"/>
              </p:ext>
            </p:extLst>
          </p:nvPr>
        </p:nvGraphicFramePr>
        <p:xfrm>
          <a:off x="927337" y="2456538"/>
          <a:ext cx="5284365" cy="349913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61455">
                  <a:extLst>
                    <a:ext uri="{9D8B030D-6E8A-4147-A177-3AD203B41FA5}">
                      <a16:colId xmlns:a16="http://schemas.microsoft.com/office/drawing/2014/main" val="1732837231"/>
                    </a:ext>
                  </a:extLst>
                </a:gridCol>
                <a:gridCol w="1761455">
                  <a:extLst>
                    <a:ext uri="{9D8B030D-6E8A-4147-A177-3AD203B41FA5}">
                      <a16:colId xmlns:a16="http://schemas.microsoft.com/office/drawing/2014/main" val="3616476212"/>
                    </a:ext>
                  </a:extLst>
                </a:gridCol>
                <a:gridCol w="1761455">
                  <a:extLst>
                    <a:ext uri="{9D8B030D-6E8A-4147-A177-3AD203B41FA5}">
                      <a16:colId xmlns:a16="http://schemas.microsoft.com/office/drawing/2014/main" val="2240179704"/>
                    </a:ext>
                  </a:extLst>
                </a:gridCol>
              </a:tblGrid>
              <a:tr h="6998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Animal</a:t>
                      </a:r>
                      <a:endParaRPr lang="ko-KR" altLang="en-US" sz="1500" dirty="0"/>
                    </a:p>
                  </a:txBody>
                  <a:tcPr marT="37785" marB="3778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Age(y)</a:t>
                      </a:r>
                      <a:endParaRPr lang="ko-KR" altLang="en-US" sz="1500" dirty="0"/>
                    </a:p>
                  </a:txBody>
                  <a:tcPr marT="37785" marB="377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size(m)</a:t>
                      </a:r>
                      <a:endParaRPr lang="ko-KR" altLang="en-US" sz="1500" dirty="0"/>
                    </a:p>
                  </a:txBody>
                  <a:tcPr marT="37785" marB="377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5107399"/>
                  </a:ext>
                </a:extLst>
              </a:tr>
              <a:tr h="6998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0</a:t>
                      </a:r>
                      <a:endParaRPr lang="ko-KR" altLang="en-US" sz="1500" dirty="0"/>
                    </a:p>
                  </a:txBody>
                  <a:tcPr marT="37785" marB="3778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0.07</a:t>
                      </a:r>
                      <a:endParaRPr lang="ko-KR" altLang="en-US" sz="1500" dirty="0"/>
                    </a:p>
                  </a:txBody>
                  <a:tcPr marT="37785" marB="377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0.37</a:t>
                      </a:r>
                      <a:endParaRPr lang="ko-KR" altLang="en-US" sz="1500" dirty="0"/>
                    </a:p>
                  </a:txBody>
                  <a:tcPr marT="37785" marB="377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445483"/>
                  </a:ext>
                </a:extLst>
              </a:tr>
              <a:tr h="6998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1</a:t>
                      </a:r>
                      <a:endParaRPr lang="ko-KR" altLang="en-US" sz="1500" dirty="0"/>
                    </a:p>
                  </a:txBody>
                  <a:tcPr marT="37785" marB="3778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0.02</a:t>
                      </a:r>
                      <a:endParaRPr lang="ko-KR" altLang="en-US" sz="1500" dirty="0"/>
                    </a:p>
                  </a:txBody>
                  <a:tcPr marT="37785" marB="377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0</a:t>
                      </a:r>
                      <a:endParaRPr lang="ko-KR" altLang="en-US" sz="1500" dirty="0"/>
                    </a:p>
                  </a:txBody>
                  <a:tcPr marT="37785" marB="377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6920965"/>
                  </a:ext>
                </a:extLst>
              </a:tr>
              <a:tr h="6998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2</a:t>
                      </a:r>
                      <a:endParaRPr lang="ko-KR" altLang="en-US" sz="1500" dirty="0"/>
                    </a:p>
                  </a:txBody>
                  <a:tcPr marT="37785" marB="3778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0</a:t>
                      </a:r>
                      <a:endParaRPr lang="ko-KR" altLang="en-US" sz="1500" dirty="0"/>
                    </a:p>
                  </a:txBody>
                  <a:tcPr marT="37785" marB="377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1</a:t>
                      </a:r>
                      <a:endParaRPr lang="ko-KR" altLang="en-US" sz="1500" dirty="0"/>
                    </a:p>
                  </a:txBody>
                  <a:tcPr marT="37785" marB="377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39483198"/>
                  </a:ext>
                </a:extLst>
              </a:tr>
              <a:tr h="6998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3</a:t>
                      </a:r>
                      <a:endParaRPr lang="ko-KR" altLang="en-US" sz="1500" dirty="0"/>
                    </a:p>
                  </a:txBody>
                  <a:tcPr marT="37785" marB="3778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1</a:t>
                      </a:r>
                      <a:endParaRPr lang="ko-KR" altLang="en-US" sz="1500" dirty="0"/>
                    </a:p>
                  </a:txBody>
                  <a:tcPr marT="37785" marB="377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0.12</a:t>
                      </a:r>
                      <a:endParaRPr lang="ko-KR" altLang="en-US" sz="1500" dirty="0"/>
                    </a:p>
                  </a:txBody>
                  <a:tcPr marT="37785" marB="377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409825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FF79305-965F-404D-A72E-33E2E8F1C680}"/>
              </a:ext>
            </a:extLst>
          </p:cNvPr>
          <p:cNvSpPr txBox="1"/>
          <p:nvPr/>
        </p:nvSpPr>
        <p:spPr>
          <a:xfrm>
            <a:off x="808382" y="1623945"/>
            <a:ext cx="5331543" cy="39310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altLang="ko-KR" sz="2800" b="1" dirty="0" err="1">
                <a:solidFill>
                  <a:srgbClr val="3D3830"/>
                </a:solidFill>
              </a:rPr>
              <a:t>LabelEncoder</a:t>
            </a:r>
            <a:r>
              <a:rPr lang="en-US" altLang="ko-KR" sz="2800" b="1" dirty="0">
                <a:solidFill>
                  <a:srgbClr val="3D3830"/>
                </a:solidFill>
              </a:rPr>
              <a:t> + </a:t>
            </a:r>
            <a:r>
              <a:rPr lang="en-US" altLang="ko-KR" sz="2800" b="1" dirty="0" err="1">
                <a:solidFill>
                  <a:srgbClr val="3D3830"/>
                </a:solidFill>
              </a:rPr>
              <a:t>MinMaxScaler</a:t>
            </a:r>
            <a:endParaRPr lang="ko-KR" altLang="en-US" sz="2800" b="1" dirty="0">
              <a:solidFill>
                <a:srgbClr val="3D3830"/>
              </a:solidFill>
            </a:endParaRPr>
          </a:p>
        </p:txBody>
      </p:sp>
      <p:sp>
        <p:nvSpPr>
          <p:cNvPr id="10" name="말풍선: 타원형 9">
            <a:extLst>
              <a:ext uri="{FF2B5EF4-FFF2-40B4-BE49-F238E27FC236}">
                <a16:creationId xmlns:a16="http://schemas.microsoft.com/office/drawing/2014/main" id="{F5685A55-2B44-44D5-9EF0-588311CD00E8}"/>
              </a:ext>
            </a:extLst>
          </p:cNvPr>
          <p:cNvSpPr/>
          <p:nvPr/>
        </p:nvSpPr>
        <p:spPr>
          <a:xfrm>
            <a:off x="8497553" y="2297591"/>
            <a:ext cx="3111614" cy="1500319"/>
          </a:xfrm>
          <a:prstGeom prst="wedgeEllipseCallout">
            <a:avLst>
              <a:gd name="adj1" fmla="val -26046"/>
              <a:gd name="adj2" fmla="val 6631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I’m ready to train the data!!!</a:t>
            </a:r>
            <a:endParaRPr lang="ko-KR" altLang="en-US" sz="2800" b="1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BC8D640-F57C-4D46-B152-0D62872C9695}"/>
              </a:ext>
            </a:extLst>
          </p:cNvPr>
          <p:cNvGrpSpPr/>
          <p:nvPr/>
        </p:nvGrpSpPr>
        <p:grpSpPr>
          <a:xfrm>
            <a:off x="7890476" y="4189325"/>
            <a:ext cx="1357240" cy="1719494"/>
            <a:chOff x="7674242" y="4235229"/>
            <a:chExt cx="1806486" cy="2288646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7EBBB0AB-D75B-4497-9CC2-7EB50DC5BB53}"/>
                </a:ext>
              </a:extLst>
            </p:cNvPr>
            <p:cNvGrpSpPr/>
            <p:nvPr/>
          </p:nvGrpSpPr>
          <p:grpSpPr>
            <a:xfrm>
              <a:off x="7674242" y="4235229"/>
              <a:ext cx="1806486" cy="2288646"/>
              <a:chOff x="606175" y="1911879"/>
              <a:chExt cx="1425486" cy="1758448"/>
            </a:xfrm>
          </p:grpSpPr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60DAECEE-00B6-4A5A-A952-05C40027689F}"/>
                  </a:ext>
                </a:extLst>
              </p:cNvPr>
              <p:cNvSpPr/>
              <p:nvPr/>
            </p:nvSpPr>
            <p:spPr>
              <a:xfrm>
                <a:off x="1108508" y="3434109"/>
                <a:ext cx="101600" cy="236218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AF40EADC-A924-45BF-B1F0-1641133895C4}"/>
                  </a:ext>
                </a:extLst>
              </p:cNvPr>
              <p:cNvSpPr/>
              <p:nvPr/>
            </p:nvSpPr>
            <p:spPr>
              <a:xfrm>
                <a:off x="1475753" y="3432235"/>
                <a:ext cx="101600" cy="236218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86BF65B2-AC18-4BAC-9922-4D3D707A3488}"/>
                  </a:ext>
                </a:extLst>
              </p:cNvPr>
              <p:cNvSpPr/>
              <p:nvPr/>
            </p:nvSpPr>
            <p:spPr>
              <a:xfrm rot="942030">
                <a:off x="769297" y="2699290"/>
                <a:ext cx="63576" cy="492778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1FD8B8F9-428C-472F-9FAA-5DC5F934366C}"/>
                  </a:ext>
                </a:extLst>
              </p:cNvPr>
              <p:cNvSpPr/>
              <p:nvPr/>
            </p:nvSpPr>
            <p:spPr>
              <a:xfrm rot="20802753">
                <a:off x="1811035" y="2704273"/>
                <a:ext cx="65325" cy="509442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943CFEAF-1ACA-418D-AA06-8D776FB5290F}"/>
                  </a:ext>
                </a:extLst>
              </p:cNvPr>
              <p:cNvSpPr/>
              <p:nvPr/>
            </p:nvSpPr>
            <p:spPr>
              <a:xfrm>
                <a:off x="838200" y="2559068"/>
                <a:ext cx="981075" cy="869932"/>
              </a:xfrm>
              <a:prstGeom prst="round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21" name="사각형: 둥근 모서리 20">
                <a:extLst>
                  <a:ext uri="{FF2B5EF4-FFF2-40B4-BE49-F238E27FC236}">
                    <a16:creationId xmlns:a16="http://schemas.microsoft.com/office/drawing/2014/main" id="{C972832D-49D0-433F-97BD-0F4DA5EC9BA5}"/>
                  </a:ext>
                </a:extLst>
              </p:cNvPr>
              <p:cNvSpPr/>
              <p:nvPr/>
            </p:nvSpPr>
            <p:spPr>
              <a:xfrm>
                <a:off x="911591" y="1953676"/>
                <a:ext cx="816789" cy="600283"/>
              </a:xfrm>
              <a:prstGeom prst="round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2184B380-D566-4A12-9E07-A0C7D8504B02}"/>
                  </a:ext>
                </a:extLst>
              </p:cNvPr>
              <p:cNvSpPr/>
              <p:nvPr/>
            </p:nvSpPr>
            <p:spPr>
              <a:xfrm>
                <a:off x="1159308" y="2406813"/>
                <a:ext cx="300505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85AA953A-DF96-4D96-87CE-C6E00B99DA72}"/>
                  </a:ext>
                </a:extLst>
              </p:cNvPr>
              <p:cNvSpPr/>
              <p:nvPr/>
            </p:nvSpPr>
            <p:spPr>
              <a:xfrm>
                <a:off x="926588" y="2757537"/>
                <a:ext cx="796925" cy="43394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b="1" dirty="0">
                    <a:solidFill>
                      <a:schemeClr val="tx1"/>
                    </a:solidFill>
                    <a:latin typeface="배달의민족 한나는 열한살" panose="020B0600000101010101" pitchFamily="50" charset="-127"/>
                    <a:ea typeface="배달의민족 한나는 열한살" panose="020B0600000101010101" pitchFamily="50" charset="-127"/>
                  </a:rPr>
                  <a:t>머신</a:t>
                </a:r>
              </a:p>
            </p:txBody>
          </p:sp>
          <p:sp>
            <p:nvSpPr>
              <p:cNvPr id="24" name="막힌 원호 23">
                <a:extLst>
                  <a:ext uri="{FF2B5EF4-FFF2-40B4-BE49-F238E27FC236}">
                    <a16:creationId xmlns:a16="http://schemas.microsoft.com/office/drawing/2014/main" id="{6F3740BA-17F7-4B51-833C-2B685D4A4379}"/>
                  </a:ext>
                </a:extLst>
              </p:cNvPr>
              <p:cNvSpPr/>
              <p:nvPr/>
            </p:nvSpPr>
            <p:spPr>
              <a:xfrm rot="918457">
                <a:off x="606175" y="3174911"/>
                <a:ext cx="195262" cy="219075"/>
              </a:xfrm>
              <a:prstGeom prst="blockArc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schemeClr val="tx1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6897B765-BBAA-486D-9F54-DC6B479CDDFA}"/>
                  </a:ext>
                </a:extLst>
              </p:cNvPr>
              <p:cNvSpPr/>
              <p:nvPr/>
            </p:nvSpPr>
            <p:spPr>
              <a:xfrm>
                <a:off x="926588" y="1911879"/>
                <a:ext cx="780466" cy="143145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  <p:sp>
            <p:nvSpPr>
              <p:cNvPr id="26" name="막힌 원호 25">
                <a:extLst>
                  <a:ext uri="{FF2B5EF4-FFF2-40B4-BE49-F238E27FC236}">
                    <a16:creationId xmlns:a16="http://schemas.microsoft.com/office/drawing/2014/main" id="{DC749DD2-5E48-49A1-A317-00735F639DA4}"/>
                  </a:ext>
                </a:extLst>
              </p:cNvPr>
              <p:cNvSpPr/>
              <p:nvPr/>
            </p:nvSpPr>
            <p:spPr>
              <a:xfrm rot="20493245">
                <a:off x="1836399" y="3178286"/>
                <a:ext cx="195262" cy="219075"/>
              </a:xfrm>
              <a:prstGeom prst="blockArc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schemeClr val="tx1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</a:endParaRPr>
              </a:p>
            </p:txBody>
          </p:sp>
        </p:grpSp>
        <p:sp>
          <p:nvSpPr>
            <p:cNvPr id="13" name="막힌 원호 12">
              <a:extLst>
                <a:ext uri="{FF2B5EF4-FFF2-40B4-BE49-F238E27FC236}">
                  <a16:creationId xmlns:a16="http://schemas.microsoft.com/office/drawing/2014/main" id="{EF97501A-15BF-4BB1-BCB3-4E31DBEBBDE5}"/>
                </a:ext>
              </a:extLst>
            </p:cNvPr>
            <p:cNvSpPr/>
            <p:nvPr/>
          </p:nvSpPr>
          <p:spPr>
            <a:xfrm>
              <a:off x="8210550" y="4533900"/>
              <a:ext cx="285922" cy="332932"/>
            </a:xfrm>
            <a:prstGeom prst="blockArc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solidFill>
                  <a:schemeClr val="tx1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  <p:sp>
          <p:nvSpPr>
            <p:cNvPr id="14" name="막힌 원호 13">
              <a:extLst>
                <a:ext uri="{FF2B5EF4-FFF2-40B4-BE49-F238E27FC236}">
                  <a16:creationId xmlns:a16="http://schemas.microsoft.com/office/drawing/2014/main" id="{93664BD4-DEDA-4FA3-B834-D5F40C3B7107}"/>
                </a:ext>
              </a:extLst>
            </p:cNvPr>
            <p:cNvSpPr/>
            <p:nvPr/>
          </p:nvSpPr>
          <p:spPr>
            <a:xfrm>
              <a:off x="8692978" y="4522814"/>
              <a:ext cx="285922" cy="332932"/>
            </a:xfrm>
            <a:prstGeom prst="blockArc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solidFill>
                  <a:schemeClr val="tx1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2944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DB638E3-85EF-4D05-85F2-BF250A8CD5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2B18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243572" y="6093296"/>
            <a:ext cx="7704856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43572" y="2400317"/>
            <a:ext cx="4713150" cy="707886"/>
          </a:xfrm>
          <a:prstGeom prst="rect">
            <a:avLst/>
          </a:prstGeom>
          <a:solidFill>
            <a:srgbClr val="3D383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dirty="0">
                <a:solidFill>
                  <a:prstClr val="white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배달의민족 주아" panose="02020603020101020101" pitchFamily="18" charset="-127"/>
                <a:ea typeface="배달의민족 주아" panose="02020603020101020101" pitchFamily="18" charset="-127"/>
                <a:cs typeface="+mn-cs"/>
              </a:rPr>
              <a:t>.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배달의민족 주아" panose="02020603020101020101" pitchFamily="18" charset="-127"/>
                <a:ea typeface="배달의민족 주아" panose="02020603020101020101" pitchFamily="18" charset="-127"/>
                <a:cs typeface="+mn-cs"/>
              </a:rPr>
              <a:t>타이타닉 생존자 예측</a:t>
            </a:r>
            <a:endParaRPr kumimoji="0" lang="en-US" altLang="ko-KR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배달의민족 주아" panose="02020603020101020101" pitchFamily="18" charset="-127"/>
              <a:ea typeface="배달의민족 주아" panose="02020603020101020101" pitchFamily="18" charset="-127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58109" y="3046202"/>
            <a:ext cx="3179075" cy="1438855"/>
          </a:xfrm>
          <a:prstGeom prst="rect">
            <a:avLst/>
          </a:prstGeom>
          <a:solidFill>
            <a:srgbClr val="3D383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solidFill>
                  <a:prstClr val="white">
                    <a:lumMod val="85000"/>
                  </a:prst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-1. Preprocessing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solidFill>
                  <a:prstClr val="white">
                    <a:lumMod val="85000"/>
                  </a:prst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-2. </a:t>
            </a:r>
            <a:r>
              <a:rPr lang="ko-KR" altLang="en-US" sz="2000" dirty="0">
                <a:solidFill>
                  <a:prstClr val="white">
                    <a:lumMod val="85000"/>
                  </a:prst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테스트 데이터 추출법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solidFill>
                  <a:prstClr val="white">
                    <a:lumMod val="85000"/>
                  </a:prst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2-3. </a:t>
            </a:r>
            <a:r>
              <a:rPr lang="ko-KR" altLang="en-US" sz="2000" dirty="0">
                <a:solidFill>
                  <a:prstClr val="white">
                    <a:lumMod val="85000"/>
                  </a:prst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교차 검증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</p:txBody>
      </p:sp>
      <p:sp>
        <p:nvSpPr>
          <p:cNvPr id="14" name="오각형 13"/>
          <p:cNvSpPr/>
          <p:nvPr/>
        </p:nvSpPr>
        <p:spPr>
          <a:xfrm rot="5400000">
            <a:off x="9677269" y="0"/>
            <a:ext cx="720000" cy="720000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3725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A35EDE-F5B8-429D-B1D2-C2E54CA94B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CD856-78BA-4161-BF13-ACC74CA0965B}"/>
              </a:ext>
            </a:extLst>
          </p:cNvPr>
          <p:cNvSpPr/>
          <p:nvPr/>
        </p:nvSpPr>
        <p:spPr>
          <a:xfrm>
            <a:off x="0" y="-11430"/>
            <a:ext cx="12192000" cy="688085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正方形/長方形 1">
            <a:extLst>
              <a:ext uri="{FF2B5EF4-FFF2-40B4-BE49-F238E27FC236}">
                <a16:creationId xmlns:a16="http://schemas.microsoft.com/office/drawing/2014/main" id="{DF6EA75D-9458-45F1-BE28-67DEF5D29A4C}"/>
              </a:ext>
            </a:extLst>
          </p:cNvPr>
          <p:cNvSpPr/>
          <p:nvPr/>
        </p:nvSpPr>
        <p:spPr>
          <a:xfrm>
            <a:off x="808382" y="0"/>
            <a:ext cx="1828801" cy="132522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sp>
        <p:nvSpPr>
          <p:cNvPr id="47" name="正方形/長方形 2">
            <a:extLst>
              <a:ext uri="{FF2B5EF4-FFF2-40B4-BE49-F238E27FC236}">
                <a16:creationId xmlns:a16="http://schemas.microsoft.com/office/drawing/2014/main" id="{DA6A0CE3-6368-4ED1-B0DB-3C0543FD046D}"/>
              </a:ext>
            </a:extLst>
          </p:cNvPr>
          <p:cNvSpPr/>
          <p:nvPr/>
        </p:nvSpPr>
        <p:spPr>
          <a:xfrm flipV="1">
            <a:off x="0" y="6804461"/>
            <a:ext cx="12192000" cy="76398"/>
          </a:xfrm>
          <a:prstGeom prst="rect">
            <a:avLst/>
          </a:prstGeom>
          <a:solidFill>
            <a:srgbClr val="3D3830"/>
          </a:solidFill>
          <a:ln>
            <a:solidFill>
              <a:srgbClr val="3D38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cxnSp>
        <p:nvCxnSpPr>
          <p:cNvPr id="48" name="直線コネクタ 12">
            <a:extLst>
              <a:ext uri="{FF2B5EF4-FFF2-40B4-BE49-F238E27FC236}">
                <a16:creationId xmlns:a16="http://schemas.microsoft.com/office/drawing/2014/main" id="{62C87091-16DE-49DB-99D2-0CE67C3C6D09}"/>
              </a:ext>
            </a:extLst>
          </p:cNvPr>
          <p:cNvCxnSpPr/>
          <p:nvPr/>
        </p:nvCxnSpPr>
        <p:spPr>
          <a:xfrm>
            <a:off x="808382" y="1073426"/>
            <a:ext cx="113836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3">
            <a:extLst>
              <a:ext uri="{FF2B5EF4-FFF2-40B4-BE49-F238E27FC236}">
                <a16:creationId xmlns:a16="http://schemas.microsoft.com/office/drawing/2014/main" id="{4D8B0868-2C8F-465C-A821-4663920F8077}"/>
              </a:ext>
            </a:extLst>
          </p:cNvPr>
          <p:cNvSpPr txBox="1"/>
          <p:nvPr/>
        </p:nvSpPr>
        <p:spPr>
          <a:xfrm>
            <a:off x="736498" y="453868"/>
            <a:ext cx="66191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2-1. Preprocessing : </a:t>
            </a:r>
            <a:r>
              <a:rPr kumimoji="1" lang="ko-KR" altLang="en-US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데이터 정보</a:t>
            </a:r>
            <a:endParaRPr kumimoji="1" lang="ja-JP" altLang="en-US" sz="3200" dirty="0">
              <a:solidFill>
                <a:srgbClr val="3D3830"/>
              </a:solidFill>
              <a:latin typeface="배달의민족 도현" panose="020B0600000101010101" pitchFamily="50" charset="-127"/>
              <a:ea typeface="조선일보명조" pitchFamily="18" charset="-127"/>
              <a:cs typeface="조선일보명조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B64128-E5D6-488A-9D55-A1B114FF4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609" y="2064387"/>
            <a:ext cx="6948781" cy="367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934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A35EDE-F5B8-429D-B1D2-C2E54CA94B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CD856-78BA-4161-BF13-ACC74CA0965B}"/>
              </a:ext>
            </a:extLst>
          </p:cNvPr>
          <p:cNvSpPr/>
          <p:nvPr/>
        </p:nvSpPr>
        <p:spPr>
          <a:xfrm>
            <a:off x="0" y="-11430"/>
            <a:ext cx="12192000" cy="688085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正方形/長方形 1">
            <a:extLst>
              <a:ext uri="{FF2B5EF4-FFF2-40B4-BE49-F238E27FC236}">
                <a16:creationId xmlns:a16="http://schemas.microsoft.com/office/drawing/2014/main" id="{DF6EA75D-9458-45F1-BE28-67DEF5D29A4C}"/>
              </a:ext>
            </a:extLst>
          </p:cNvPr>
          <p:cNvSpPr/>
          <p:nvPr/>
        </p:nvSpPr>
        <p:spPr>
          <a:xfrm>
            <a:off x="808382" y="0"/>
            <a:ext cx="1828801" cy="132522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sp>
        <p:nvSpPr>
          <p:cNvPr id="47" name="正方形/長方形 2">
            <a:extLst>
              <a:ext uri="{FF2B5EF4-FFF2-40B4-BE49-F238E27FC236}">
                <a16:creationId xmlns:a16="http://schemas.microsoft.com/office/drawing/2014/main" id="{DA6A0CE3-6368-4ED1-B0DB-3C0543FD046D}"/>
              </a:ext>
            </a:extLst>
          </p:cNvPr>
          <p:cNvSpPr/>
          <p:nvPr/>
        </p:nvSpPr>
        <p:spPr>
          <a:xfrm flipV="1">
            <a:off x="0" y="6804461"/>
            <a:ext cx="12192000" cy="76398"/>
          </a:xfrm>
          <a:prstGeom prst="rect">
            <a:avLst/>
          </a:prstGeom>
          <a:solidFill>
            <a:srgbClr val="3D3830"/>
          </a:solidFill>
          <a:ln>
            <a:solidFill>
              <a:srgbClr val="3D38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cxnSp>
        <p:nvCxnSpPr>
          <p:cNvPr id="48" name="直線コネクタ 12">
            <a:extLst>
              <a:ext uri="{FF2B5EF4-FFF2-40B4-BE49-F238E27FC236}">
                <a16:creationId xmlns:a16="http://schemas.microsoft.com/office/drawing/2014/main" id="{62C87091-16DE-49DB-99D2-0CE67C3C6D09}"/>
              </a:ext>
            </a:extLst>
          </p:cNvPr>
          <p:cNvCxnSpPr/>
          <p:nvPr/>
        </p:nvCxnSpPr>
        <p:spPr>
          <a:xfrm>
            <a:off x="808382" y="1073426"/>
            <a:ext cx="113836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3">
            <a:extLst>
              <a:ext uri="{FF2B5EF4-FFF2-40B4-BE49-F238E27FC236}">
                <a16:creationId xmlns:a16="http://schemas.microsoft.com/office/drawing/2014/main" id="{4D8B0868-2C8F-465C-A821-4663920F8077}"/>
              </a:ext>
            </a:extLst>
          </p:cNvPr>
          <p:cNvSpPr txBox="1"/>
          <p:nvPr/>
        </p:nvSpPr>
        <p:spPr>
          <a:xfrm>
            <a:off x="736498" y="453868"/>
            <a:ext cx="66191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2-1. Preprocessing : </a:t>
            </a:r>
            <a:r>
              <a:rPr kumimoji="1" lang="ko-KR" altLang="en-US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데이터 정보</a:t>
            </a:r>
            <a:endParaRPr kumimoji="1" lang="ja-JP" altLang="en-US" sz="3200" dirty="0">
              <a:solidFill>
                <a:srgbClr val="3D3830"/>
              </a:solidFill>
              <a:latin typeface="배달의민족 도현" panose="020B0600000101010101" pitchFamily="50" charset="-127"/>
              <a:ea typeface="조선일보명조" pitchFamily="18" charset="-127"/>
              <a:cs typeface="조선일보명조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276B911-BEC6-46AD-9DF7-06C8199CA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611" y="1795062"/>
            <a:ext cx="7496777" cy="425297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E912AC1B-4CC2-4EB6-A1DE-185E4A3CF7A9}"/>
              </a:ext>
            </a:extLst>
          </p:cNvPr>
          <p:cNvSpPr/>
          <p:nvPr/>
        </p:nvSpPr>
        <p:spPr>
          <a:xfrm>
            <a:off x="2488871" y="3921552"/>
            <a:ext cx="2980752" cy="205832"/>
          </a:xfrm>
          <a:prstGeom prst="rect">
            <a:avLst/>
          </a:prstGeom>
          <a:solidFill>
            <a:srgbClr val="FFFF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383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D7ABD4E-4C56-466F-BE45-F2712170CDC4}"/>
              </a:ext>
            </a:extLst>
          </p:cNvPr>
          <p:cNvSpPr/>
          <p:nvPr/>
        </p:nvSpPr>
        <p:spPr>
          <a:xfrm>
            <a:off x="2488871" y="4971060"/>
            <a:ext cx="2980752" cy="205832"/>
          </a:xfrm>
          <a:prstGeom prst="rect">
            <a:avLst/>
          </a:prstGeom>
          <a:solidFill>
            <a:srgbClr val="FFFF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383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E187976-163D-49D8-86DE-9EF6EABCD20D}"/>
              </a:ext>
            </a:extLst>
          </p:cNvPr>
          <p:cNvSpPr/>
          <p:nvPr/>
        </p:nvSpPr>
        <p:spPr>
          <a:xfrm>
            <a:off x="2488871" y="5176892"/>
            <a:ext cx="2980752" cy="205832"/>
          </a:xfrm>
          <a:prstGeom prst="rect">
            <a:avLst/>
          </a:prstGeom>
          <a:solidFill>
            <a:srgbClr val="FFFF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38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6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A35EDE-F5B8-429D-B1D2-C2E54CA94B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CD856-78BA-4161-BF13-ACC74CA0965B}"/>
              </a:ext>
            </a:extLst>
          </p:cNvPr>
          <p:cNvSpPr/>
          <p:nvPr/>
        </p:nvSpPr>
        <p:spPr>
          <a:xfrm>
            <a:off x="0" y="-11430"/>
            <a:ext cx="12192000" cy="688085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正方形/長方形 1">
            <a:extLst>
              <a:ext uri="{FF2B5EF4-FFF2-40B4-BE49-F238E27FC236}">
                <a16:creationId xmlns:a16="http://schemas.microsoft.com/office/drawing/2014/main" id="{DF6EA75D-9458-45F1-BE28-67DEF5D29A4C}"/>
              </a:ext>
            </a:extLst>
          </p:cNvPr>
          <p:cNvSpPr/>
          <p:nvPr/>
        </p:nvSpPr>
        <p:spPr>
          <a:xfrm>
            <a:off x="808382" y="0"/>
            <a:ext cx="1828801" cy="132522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sp>
        <p:nvSpPr>
          <p:cNvPr id="47" name="正方形/長方形 2">
            <a:extLst>
              <a:ext uri="{FF2B5EF4-FFF2-40B4-BE49-F238E27FC236}">
                <a16:creationId xmlns:a16="http://schemas.microsoft.com/office/drawing/2014/main" id="{DA6A0CE3-6368-4ED1-B0DB-3C0543FD046D}"/>
              </a:ext>
            </a:extLst>
          </p:cNvPr>
          <p:cNvSpPr/>
          <p:nvPr/>
        </p:nvSpPr>
        <p:spPr>
          <a:xfrm flipV="1">
            <a:off x="0" y="6804461"/>
            <a:ext cx="12192000" cy="76398"/>
          </a:xfrm>
          <a:prstGeom prst="rect">
            <a:avLst/>
          </a:prstGeom>
          <a:solidFill>
            <a:srgbClr val="3D3830"/>
          </a:solidFill>
          <a:ln>
            <a:solidFill>
              <a:srgbClr val="3D38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cxnSp>
        <p:nvCxnSpPr>
          <p:cNvPr id="48" name="直線コネクタ 12">
            <a:extLst>
              <a:ext uri="{FF2B5EF4-FFF2-40B4-BE49-F238E27FC236}">
                <a16:creationId xmlns:a16="http://schemas.microsoft.com/office/drawing/2014/main" id="{62C87091-16DE-49DB-99D2-0CE67C3C6D09}"/>
              </a:ext>
            </a:extLst>
          </p:cNvPr>
          <p:cNvCxnSpPr/>
          <p:nvPr/>
        </p:nvCxnSpPr>
        <p:spPr>
          <a:xfrm>
            <a:off x="808382" y="1073426"/>
            <a:ext cx="113836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3">
            <a:extLst>
              <a:ext uri="{FF2B5EF4-FFF2-40B4-BE49-F238E27FC236}">
                <a16:creationId xmlns:a16="http://schemas.microsoft.com/office/drawing/2014/main" id="{4D8B0868-2C8F-465C-A821-4663920F8077}"/>
              </a:ext>
            </a:extLst>
          </p:cNvPr>
          <p:cNvSpPr txBox="1"/>
          <p:nvPr/>
        </p:nvSpPr>
        <p:spPr>
          <a:xfrm>
            <a:off x="736498" y="453868"/>
            <a:ext cx="65982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2-1. Preprocessing : Null</a:t>
            </a:r>
            <a:r>
              <a:rPr kumimoji="1" lang="ko-KR" altLang="en-US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값 정제</a:t>
            </a:r>
            <a:endParaRPr kumimoji="1" lang="ja-JP" altLang="en-US" sz="3200" dirty="0">
              <a:solidFill>
                <a:srgbClr val="3D3830"/>
              </a:solidFill>
              <a:latin typeface="배달의민족 도현" panose="020B0600000101010101" pitchFamily="50" charset="-127"/>
              <a:ea typeface="조선일보명조" pitchFamily="18" charset="-127"/>
              <a:cs typeface="조선일보명조" pitchFamily="18" charset="-127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F415935F-C978-4236-A33B-902E680EC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466" y="2434888"/>
            <a:ext cx="6833068" cy="1255295"/>
          </a:xfrm>
          <a:prstGeom prst="rect">
            <a:avLst/>
          </a:prstGeom>
          <a:noFill/>
          <a:ln>
            <a:noFill/>
          </a:ln>
          <a:effectLst>
            <a:innerShdw blurRad="114300">
              <a:prstClr val="black">
                <a:alpha val="44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4371820D-D19B-4BEA-968E-5AAE35D8CB77}"/>
              </a:ext>
            </a:extLst>
          </p:cNvPr>
          <p:cNvGrpSpPr/>
          <p:nvPr/>
        </p:nvGrpSpPr>
        <p:grpSpPr>
          <a:xfrm>
            <a:off x="2523115" y="4365070"/>
            <a:ext cx="7842250" cy="960263"/>
            <a:chOff x="1967188" y="4331514"/>
            <a:chExt cx="7842250" cy="96026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C7702F4-DCDD-45A0-B654-318906497384}"/>
                </a:ext>
              </a:extLst>
            </p:cNvPr>
            <p:cNvSpPr txBox="1"/>
            <p:nvPr/>
          </p:nvSpPr>
          <p:spPr>
            <a:xfrm>
              <a:off x="2382562" y="4331514"/>
              <a:ext cx="7426876" cy="96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2400" dirty="0" err="1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Inplace</a:t>
              </a:r>
              <a:r>
                <a:rPr lang="en-US" altLang="ko-KR" sz="2400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=True</a:t>
              </a:r>
              <a:r>
                <a:rPr lang="ko-KR" altLang="en-US" sz="2400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를 사용하게 되면</a:t>
              </a:r>
              <a:r>
                <a:rPr lang="en-US" altLang="ko-KR" sz="2400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, </a:t>
              </a:r>
            </a:p>
            <a:p>
              <a:pPr>
                <a:lnSpc>
                  <a:spcPct val="120000"/>
                </a:lnSpc>
              </a:pPr>
              <a:r>
                <a:rPr lang="ko-KR" altLang="en-US" sz="2400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또 다른 객체를 생성하지않고</a:t>
              </a:r>
              <a:r>
                <a:rPr lang="en-US" altLang="ko-KR" sz="2400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 </a:t>
              </a:r>
              <a:r>
                <a:rPr lang="ko-KR" altLang="en-US" sz="2400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기존 객체에 결과값 반환</a:t>
              </a:r>
              <a:endParaRPr lang="en-US" altLang="ko-KR" sz="24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FA316829-F779-4F75-A793-5D0C54EE3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7188" y="4409700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25825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A35EDE-F5B8-429D-B1D2-C2E54CA94B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CD856-78BA-4161-BF13-ACC74CA0965B}"/>
              </a:ext>
            </a:extLst>
          </p:cNvPr>
          <p:cNvSpPr/>
          <p:nvPr/>
        </p:nvSpPr>
        <p:spPr>
          <a:xfrm>
            <a:off x="0" y="-11430"/>
            <a:ext cx="12192000" cy="688085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正方形/長方形 1">
            <a:extLst>
              <a:ext uri="{FF2B5EF4-FFF2-40B4-BE49-F238E27FC236}">
                <a16:creationId xmlns:a16="http://schemas.microsoft.com/office/drawing/2014/main" id="{DF6EA75D-9458-45F1-BE28-67DEF5D29A4C}"/>
              </a:ext>
            </a:extLst>
          </p:cNvPr>
          <p:cNvSpPr/>
          <p:nvPr/>
        </p:nvSpPr>
        <p:spPr>
          <a:xfrm>
            <a:off x="808382" y="0"/>
            <a:ext cx="1828801" cy="132522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sp>
        <p:nvSpPr>
          <p:cNvPr id="47" name="正方形/長方形 2">
            <a:extLst>
              <a:ext uri="{FF2B5EF4-FFF2-40B4-BE49-F238E27FC236}">
                <a16:creationId xmlns:a16="http://schemas.microsoft.com/office/drawing/2014/main" id="{DA6A0CE3-6368-4ED1-B0DB-3C0543FD046D}"/>
              </a:ext>
            </a:extLst>
          </p:cNvPr>
          <p:cNvSpPr/>
          <p:nvPr/>
        </p:nvSpPr>
        <p:spPr>
          <a:xfrm flipV="1">
            <a:off x="0" y="6804461"/>
            <a:ext cx="12192000" cy="76398"/>
          </a:xfrm>
          <a:prstGeom prst="rect">
            <a:avLst/>
          </a:prstGeom>
          <a:solidFill>
            <a:srgbClr val="3D3830"/>
          </a:solidFill>
          <a:ln>
            <a:solidFill>
              <a:srgbClr val="3D38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cxnSp>
        <p:nvCxnSpPr>
          <p:cNvPr id="48" name="直線コネクタ 12">
            <a:extLst>
              <a:ext uri="{FF2B5EF4-FFF2-40B4-BE49-F238E27FC236}">
                <a16:creationId xmlns:a16="http://schemas.microsoft.com/office/drawing/2014/main" id="{62C87091-16DE-49DB-99D2-0CE67C3C6D09}"/>
              </a:ext>
            </a:extLst>
          </p:cNvPr>
          <p:cNvCxnSpPr/>
          <p:nvPr/>
        </p:nvCxnSpPr>
        <p:spPr>
          <a:xfrm>
            <a:off x="808382" y="1073426"/>
            <a:ext cx="113836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3">
            <a:extLst>
              <a:ext uri="{FF2B5EF4-FFF2-40B4-BE49-F238E27FC236}">
                <a16:creationId xmlns:a16="http://schemas.microsoft.com/office/drawing/2014/main" id="{4D8B0868-2C8F-465C-A821-4663920F8077}"/>
              </a:ext>
            </a:extLst>
          </p:cNvPr>
          <p:cNvSpPr txBox="1"/>
          <p:nvPr/>
        </p:nvSpPr>
        <p:spPr>
          <a:xfrm>
            <a:off x="736498" y="453868"/>
            <a:ext cx="65982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2-1. Preprocessing : Null</a:t>
            </a:r>
            <a:r>
              <a:rPr kumimoji="1" lang="ko-KR" altLang="en-US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값 정제</a:t>
            </a:r>
            <a:endParaRPr kumimoji="1" lang="ja-JP" altLang="en-US" sz="3200" dirty="0">
              <a:solidFill>
                <a:srgbClr val="3D3830"/>
              </a:solidFill>
              <a:latin typeface="배달의민족 도현" panose="020B0600000101010101" pitchFamily="50" charset="-127"/>
              <a:ea typeface="조선일보명조" pitchFamily="18" charset="-127"/>
              <a:cs typeface="조선일보명조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6A225D-4546-4779-8C61-671A2C602725}"/>
              </a:ext>
            </a:extLst>
          </p:cNvPr>
          <p:cNvSpPr txBox="1"/>
          <p:nvPr/>
        </p:nvSpPr>
        <p:spPr>
          <a:xfrm>
            <a:off x="1301999" y="2212875"/>
            <a:ext cx="6622875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400" dirty="0">
                <a:solidFill>
                  <a:srgbClr val="3D3830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  <a:cs typeface="조선일보명조" pitchFamily="18" charset="-127"/>
              </a:rPr>
              <a:t>Sum()</a:t>
            </a:r>
            <a:r>
              <a:rPr lang="ko-KR" altLang="en-US" sz="2400" dirty="0">
                <a:solidFill>
                  <a:srgbClr val="3D3830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  <a:cs typeface="조선일보명조" pitchFamily="18" charset="-127"/>
              </a:rPr>
              <a:t>을 한 번만 하게 될 경우에는 각 </a:t>
            </a:r>
            <a:r>
              <a:rPr lang="en-US" altLang="ko-KR" sz="2400" dirty="0">
                <a:solidFill>
                  <a:srgbClr val="3D3830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  <a:cs typeface="조선일보명조" pitchFamily="18" charset="-127"/>
              </a:rPr>
              <a:t>feature</a:t>
            </a:r>
            <a:r>
              <a:rPr lang="ko-KR" altLang="en-US" sz="2400" dirty="0">
                <a:solidFill>
                  <a:srgbClr val="3D3830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  <a:cs typeface="조선일보명조" pitchFamily="18" charset="-127"/>
              </a:rPr>
              <a:t>별 </a:t>
            </a:r>
            <a:r>
              <a:rPr lang="en-US" altLang="ko-KR" sz="2400" dirty="0">
                <a:solidFill>
                  <a:srgbClr val="3D3830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  <a:cs typeface="조선일보명조" pitchFamily="18" charset="-127"/>
              </a:rPr>
              <a:t>null</a:t>
            </a:r>
            <a:r>
              <a:rPr lang="ko-KR" altLang="en-US" sz="2400" dirty="0">
                <a:solidFill>
                  <a:srgbClr val="3D3830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  <a:cs typeface="조선일보명조" pitchFamily="18" charset="-127"/>
              </a:rPr>
              <a:t>값 개수의 합을 </a:t>
            </a:r>
            <a:r>
              <a:rPr lang="ko-KR" altLang="en-US" sz="24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시리즈</a:t>
            </a:r>
            <a:r>
              <a:rPr lang="ko-KR" altLang="en-US" sz="2400" dirty="0">
                <a:solidFill>
                  <a:srgbClr val="3D3830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  <a:cs typeface="조선일보명조" pitchFamily="18" charset="-127"/>
              </a:rPr>
              <a:t> 형태로 반환</a:t>
            </a:r>
            <a:endParaRPr lang="en-US" altLang="ko-KR" sz="2400" dirty="0">
              <a:solidFill>
                <a:srgbClr val="3D3830"/>
              </a:solidFill>
              <a:latin typeface="배달의민족 한나는 열한살" panose="020B0600000101010101" pitchFamily="50" charset="-127"/>
              <a:ea typeface="배달의민족 한나는 열한살" panose="020B0600000101010101" pitchFamily="50" charset="-127"/>
              <a:cs typeface="조선일보명조" pitchFamily="18" charset="-127"/>
            </a:endParaRP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B7FBC11D-3B75-4084-890E-4AA4B87C1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079" y="2046209"/>
            <a:ext cx="2430780" cy="3268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DC6E3DD-A90E-4C03-B56A-DC44E8B81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752" y="2317072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790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A35EDE-F5B8-429D-B1D2-C2E54CA94B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CD856-78BA-4161-BF13-ACC74CA0965B}"/>
              </a:ext>
            </a:extLst>
          </p:cNvPr>
          <p:cNvSpPr/>
          <p:nvPr/>
        </p:nvSpPr>
        <p:spPr>
          <a:xfrm>
            <a:off x="0" y="-11430"/>
            <a:ext cx="12192000" cy="688085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正方形/長方形 1">
            <a:extLst>
              <a:ext uri="{FF2B5EF4-FFF2-40B4-BE49-F238E27FC236}">
                <a16:creationId xmlns:a16="http://schemas.microsoft.com/office/drawing/2014/main" id="{DF6EA75D-9458-45F1-BE28-67DEF5D29A4C}"/>
              </a:ext>
            </a:extLst>
          </p:cNvPr>
          <p:cNvSpPr/>
          <p:nvPr/>
        </p:nvSpPr>
        <p:spPr>
          <a:xfrm>
            <a:off x="808382" y="0"/>
            <a:ext cx="1828801" cy="132522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sp>
        <p:nvSpPr>
          <p:cNvPr id="47" name="正方形/長方形 2">
            <a:extLst>
              <a:ext uri="{FF2B5EF4-FFF2-40B4-BE49-F238E27FC236}">
                <a16:creationId xmlns:a16="http://schemas.microsoft.com/office/drawing/2014/main" id="{DA6A0CE3-6368-4ED1-B0DB-3C0543FD046D}"/>
              </a:ext>
            </a:extLst>
          </p:cNvPr>
          <p:cNvSpPr/>
          <p:nvPr/>
        </p:nvSpPr>
        <p:spPr>
          <a:xfrm flipV="1">
            <a:off x="0" y="6804461"/>
            <a:ext cx="12192000" cy="76398"/>
          </a:xfrm>
          <a:prstGeom prst="rect">
            <a:avLst/>
          </a:prstGeom>
          <a:solidFill>
            <a:srgbClr val="3D3830"/>
          </a:solidFill>
          <a:ln>
            <a:solidFill>
              <a:srgbClr val="3D38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cxnSp>
        <p:nvCxnSpPr>
          <p:cNvPr id="48" name="直線コネクタ 12">
            <a:extLst>
              <a:ext uri="{FF2B5EF4-FFF2-40B4-BE49-F238E27FC236}">
                <a16:creationId xmlns:a16="http://schemas.microsoft.com/office/drawing/2014/main" id="{62C87091-16DE-49DB-99D2-0CE67C3C6D09}"/>
              </a:ext>
            </a:extLst>
          </p:cNvPr>
          <p:cNvCxnSpPr/>
          <p:nvPr/>
        </p:nvCxnSpPr>
        <p:spPr>
          <a:xfrm>
            <a:off x="808382" y="1073426"/>
            <a:ext cx="113836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3">
            <a:extLst>
              <a:ext uri="{FF2B5EF4-FFF2-40B4-BE49-F238E27FC236}">
                <a16:creationId xmlns:a16="http://schemas.microsoft.com/office/drawing/2014/main" id="{4D8B0868-2C8F-465C-A821-4663920F8077}"/>
              </a:ext>
            </a:extLst>
          </p:cNvPr>
          <p:cNvSpPr txBox="1"/>
          <p:nvPr/>
        </p:nvSpPr>
        <p:spPr>
          <a:xfrm>
            <a:off x="736498" y="453868"/>
            <a:ext cx="66191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2-1. Preprocessing : </a:t>
            </a:r>
            <a:r>
              <a:rPr kumimoji="1" lang="ko-KR" altLang="en-US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데이터 정보</a:t>
            </a:r>
            <a:endParaRPr kumimoji="1" lang="ja-JP" altLang="en-US" sz="3200" dirty="0">
              <a:solidFill>
                <a:srgbClr val="3D3830"/>
              </a:solidFill>
              <a:latin typeface="배달의민족 도현" panose="020B0600000101010101" pitchFamily="50" charset="-127"/>
              <a:ea typeface="조선일보명조" pitchFamily="18" charset="-127"/>
              <a:cs typeface="조선일보명조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276B911-BEC6-46AD-9DF7-06C8199CA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611" y="1795062"/>
            <a:ext cx="7496777" cy="425297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E912AC1B-4CC2-4EB6-A1DE-185E4A3CF7A9}"/>
              </a:ext>
            </a:extLst>
          </p:cNvPr>
          <p:cNvSpPr/>
          <p:nvPr/>
        </p:nvSpPr>
        <p:spPr>
          <a:xfrm>
            <a:off x="2488871" y="3733112"/>
            <a:ext cx="2980752" cy="205832"/>
          </a:xfrm>
          <a:prstGeom prst="rect">
            <a:avLst/>
          </a:prstGeom>
          <a:solidFill>
            <a:srgbClr val="FFFF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383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D7ABD4E-4C56-466F-BE45-F2712170CDC4}"/>
              </a:ext>
            </a:extLst>
          </p:cNvPr>
          <p:cNvSpPr/>
          <p:nvPr/>
        </p:nvSpPr>
        <p:spPr>
          <a:xfrm>
            <a:off x="2488871" y="4971060"/>
            <a:ext cx="2980752" cy="205832"/>
          </a:xfrm>
          <a:prstGeom prst="rect">
            <a:avLst/>
          </a:prstGeom>
          <a:solidFill>
            <a:srgbClr val="FFFF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383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E187976-163D-49D8-86DE-9EF6EABCD20D}"/>
              </a:ext>
            </a:extLst>
          </p:cNvPr>
          <p:cNvSpPr/>
          <p:nvPr/>
        </p:nvSpPr>
        <p:spPr>
          <a:xfrm>
            <a:off x="2488871" y="5176892"/>
            <a:ext cx="2980752" cy="205832"/>
          </a:xfrm>
          <a:prstGeom prst="rect">
            <a:avLst/>
          </a:prstGeom>
          <a:solidFill>
            <a:srgbClr val="FFFF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38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944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A35EDE-F5B8-429D-B1D2-C2E54CA94B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CD856-78BA-4161-BF13-ACC74CA0965B}"/>
              </a:ext>
            </a:extLst>
          </p:cNvPr>
          <p:cNvSpPr/>
          <p:nvPr/>
        </p:nvSpPr>
        <p:spPr>
          <a:xfrm>
            <a:off x="0" y="-11430"/>
            <a:ext cx="12192000" cy="688085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正方形/長方形 1">
            <a:extLst>
              <a:ext uri="{FF2B5EF4-FFF2-40B4-BE49-F238E27FC236}">
                <a16:creationId xmlns:a16="http://schemas.microsoft.com/office/drawing/2014/main" id="{DF6EA75D-9458-45F1-BE28-67DEF5D29A4C}"/>
              </a:ext>
            </a:extLst>
          </p:cNvPr>
          <p:cNvSpPr/>
          <p:nvPr/>
        </p:nvSpPr>
        <p:spPr>
          <a:xfrm>
            <a:off x="808382" y="0"/>
            <a:ext cx="1828801" cy="132522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sp>
        <p:nvSpPr>
          <p:cNvPr id="47" name="正方形/長方形 2">
            <a:extLst>
              <a:ext uri="{FF2B5EF4-FFF2-40B4-BE49-F238E27FC236}">
                <a16:creationId xmlns:a16="http://schemas.microsoft.com/office/drawing/2014/main" id="{DA6A0CE3-6368-4ED1-B0DB-3C0543FD046D}"/>
              </a:ext>
            </a:extLst>
          </p:cNvPr>
          <p:cNvSpPr/>
          <p:nvPr/>
        </p:nvSpPr>
        <p:spPr>
          <a:xfrm flipV="1">
            <a:off x="0" y="6804461"/>
            <a:ext cx="12192000" cy="76398"/>
          </a:xfrm>
          <a:prstGeom prst="rect">
            <a:avLst/>
          </a:prstGeom>
          <a:solidFill>
            <a:srgbClr val="3D3830"/>
          </a:solidFill>
          <a:ln>
            <a:solidFill>
              <a:srgbClr val="3D38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cxnSp>
        <p:nvCxnSpPr>
          <p:cNvPr id="48" name="直線コネクタ 12">
            <a:extLst>
              <a:ext uri="{FF2B5EF4-FFF2-40B4-BE49-F238E27FC236}">
                <a16:creationId xmlns:a16="http://schemas.microsoft.com/office/drawing/2014/main" id="{62C87091-16DE-49DB-99D2-0CE67C3C6D09}"/>
              </a:ext>
            </a:extLst>
          </p:cNvPr>
          <p:cNvCxnSpPr/>
          <p:nvPr/>
        </p:nvCxnSpPr>
        <p:spPr>
          <a:xfrm>
            <a:off x="808382" y="1073426"/>
            <a:ext cx="113836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3">
            <a:extLst>
              <a:ext uri="{FF2B5EF4-FFF2-40B4-BE49-F238E27FC236}">
                <a16:creationId xmlns:a16="http://schemas.microsoft.com/office/drawing/2014/main" id="{4D8B0868-2C8F-465C-A821-4663920F8077}"/>
              </a:ext>
            </a:extLst>
          </p:cNvPr>
          <p:cNvSpPr txBox="1"/>
          <p:nvPr/>
        </p:nvSpPr>
        <p:spPr>
          <a:xfrm>
            <a:off x="736498" y="453868"/>
            <a:ext cx="66191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2-1. Preprocessing : </a:t>
            </a:r>
            <a:r>
              <a:rPr kumimoji="1" lang="ko-KR" altLang="en-US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데이터 정보</a:t>
            </a:r>
            <a:endParaRPr kumimoji="1" lang="ja-JP" altLang="en-US" sz="3200" dirty="0">
              <a:solidFill>
                <a:srgbClr val="3D3830"/>
              </a:solidFill>
              <a:latin typeface="배달의민족 도현" panose="020B0600000101010101" pitchFamily="50" charset="-127"/>
              <a:ea typeface="조선일보명조" pitchFamily="18" charset="-127"/>
              <a:cs typeface="조선일보명조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4CA6C1D-8184-46CE-B799-153CB1844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357" y="1852615"/>
            <a:ext cx="7495668" cy="393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67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A35EDE-F5B8-429D-B1D2-C2E54CA94B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CD856-78BA-4161-BF13-ACC74CA0965B}"/>
              </a:ext>
            </a:extLst>
          </p:cNvPr>
          <p:cNvSpPr/>
          <p:nvPr/>
        </p:nvSpPr>
        <p:spPr>
          <a:xfrm>
            <a:off x="0" y="47293"/>
            <a:ext cx="12192000" cy="688085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正方形/長方形 1">
            <a:extLst>
              <a:ext uri="{FF2B5EF4-FFF2-40B4-BE49-F238E27FC236}">
                <a16:creationId xmlns:a16="http://schemas.microsoft.com/office/drawing/2014/main" id="{DF6EA75D-9458-45F1-BE28-67DEF5D29A4C}"/>
              </a:ext>
            </a:extLst>
          </p:cNvPr>
          <p:cNvSpPr/>
          <p:nvPr/>
        </p:nvSpPr>
        <p:spPr>
          <a:xfrm>
            <a:off x="808382" y="0"/>
            <a:ext cx="1828801" cy="132522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sp>
        <p:nvSpPr>
          <p:cNvPr id="47" name="正方形/長方形 2">
            <a:extLst>
              <a:ext uri="{FF2B5EF4-FFF2-40B4-BE49-F238E27FC236}">
                <a16:creationId xmlns:a16="http://schemas.microsoft.com/office/drawing/2014/main" id="{DA6A0CE3-6368-4ED1-B0DB-3C0543FD046D}"/>
              </a:ext>
            </a:extLst>
          </p:cNvPr>
          <p:cNvSpPr/>
          <p:nvPr/>
        </p:nvSpPr>
        <p:spPr>
          <a:xfrm flipV="1">
            <a:off x="0" y="6804461"/>
            <a:ext cx="12192000" cy="76398"/>
          </a:xfrm>
          <a:prstGeom prst="rect">
            <a:avLst/>
          </a:prstGeom>
          <a:solidFill>
            <a:srgbClr val="3D3830"/>
          </a:solidFill>
          <a:ln>
            <a:solidFill>
              <a:srgbClr val="3D38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cxnSp>
        <p:nvCxnSpPr>
          <p:cNvPr id="48" name="直線コネクタ 12">
            <a:extLst>
              <a:ext uri="{FF2B5EF4-FFF2-40B4-BE49-F238E27FC236}">
                <a16:creationId xmlns:a16="http://schemas.microsoft.com/office/drawing/2014/main" id="{62C87091-16DE-49DB-99D2-0CE67C3C6D09}"/>
              </a:ext>
            </a:extLst>
          </p:cNvPr>
          <p:cNvCxnSpPr/>
          <p:nvPr/>
        </p:nvCxnSpPr>
        <p:spPr>
          <a:xfrm>
            <a:off x="808382" y="1073426"/>
            <a:ext cx="113836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3">
            <a:extLst>
              <a:ext uri="{FF2B5EF4-FFF2-40B4-BE49-F238E27FC236}">
                <a16:creationId xmlns:a16="http://schemas.microsoft.com/office/drawing/2014/main" id="{4D8B0868-2C8F-465C-A821-4663920F8077}"/>
              </a:ext>
            </a:extLst>
          </p:cNvPr>
          <p:cNvSpPr txBox="1"/>
          <p:nvPr/>
        </p:nvSpPr>
        <p:spPr>
          <a:xfrm>
            <a:off x="736498" y="453868"/>
            <a:ext cx="83279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2-1. Preprocessing : </a:t>
            </a:r>
            <a:r>
              <a:rPr kumimoji="1" lang="ko-KR" altLang="en-US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문자열 레이블 인코딩</a:t>
            </a:r>
            <a:endParaRPr kumimoji="1" lang="ja-JP" altLang="en-US" sz="3200" dirty="0">
              <a:solidFill>
                <a:srgbClr val="3D3830"/>
              </a:solidFill>
              <a:latin typeface="배달의민족 도현" panose="020B0600000101010101" pitchFamily="50" charset="-127"/>
              <a:ea typeface="조선일보명조" pitchFamily="18" charset="-127"/>
              <a:cs typeface="조선일보명조" pitchFamily="18" charset="-127"/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48D718EA-42C7-492B-B617-F6449D019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82" y="1609222"/>
            <a:ext cx="5385848" cy="2598570"/>
          </a:xfrm>
          <a:prstGeom prst="rect">
            <a:avLst/>
          </a:prstGeom>
          <a:noFill/>
          <a:ln>
            <a:noFill/>
          </a:ln>
          <a:effectLst>
            <a:innerShdw blurRad="114300">
              <a:prstClr val="black">
                <a:alpha val="51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5">
            <a:extLst>
              <a:ext uri="{FF2B5EF4-FFF2-40B4-BE49-F238E27FC236}">
                <a16:creationId xmlns:a16="http://schemas.microsoft.com/office/drawing/2014/main" id="{60A92139-8348-47C1-BD07-D05E0F6AE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191" y="3013576"/>
            <a:ext cx="5525753" cy="322095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57A7E7-20B6-4181-97EB-9F487D5C1A01}"/>
              </a:ext>
            </a:extLst>
          </p:cNvPr>
          <p:cNvSpPr txBox="1"/>
          <p:nvPr/>
        </p:nvSpPr>
        <p:spPr>
          <a:xfrm>
            <a:off x="7002612" y="3490375"/>
            <a:ext cx="46061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fit, transform 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메서드를 한 줄로 </a:t>
            </a:r>
            <a:endParaRPr lang="en-US" altLang="ko-KR" sz="2000" dirty="0">
              <a:solidFill>
                <a:srgbClr val="3D383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조선일보명조" pitchFamily="18" charset="-127"/>
            </a:endParaRPr>
          </a:p>
          <a:p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바꿀 수 있다</a:t>
            </a:r>
            <a:endParaRPr lang="en-US" altLang="ko-KR" sz="2000" dirty="0">
              <a:solidFill>
                <a:srgbClr val="3D383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조선일보명조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F9FCC5-D5AF-4C56-B78C-ADC1FC1DB2FC}"/>
              </a:ext>
            </a:extLst>
          </p:cNvPr>
          <p:cNvSpPr txBox="1"/>
          <p:nvPr/>
        </p:nvSpPr>
        <p:spPr>
          <a:xfrm>
            <a:off x="7002612" y="1633220"/>
            <a:ext cx="46120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dirty="0" err="1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LabelEncoder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란 </a:t>
            </a:r>
            <a:endParaRPr lang="en-US" altLang="ko-KR" sz="2000" dirty="0">
              <a:solidFill>
                <a:srgbClr val="3D383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조선일보명조" pitchFamily="18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문자열 </a:t>
            </a:r>
            <a:r>
              <a:rPr lang="en-US" altLang="ko-KR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feature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들의 값을 </a:t>
            </a:r>
            <a:endParaRPr lang="en-US" altLang="ko-KR" sz="2000" dirty="0">
              <a:solidFill>
                <a:srgbClr val="3D383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조선일보명조" pitchFamily="18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2000" dirty="0" err="1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숫자형으로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 바꿔주는 </a:t>
            </a:r>
            <a:r>
              <a:rPr lang="ko-KR" altLang="en-US" sz="2000" dirty="0" err="1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메서드이다</a:t>
            </a:r>
            <a:endParaRPr lang="en-US" altLang="ko-KR" sz="2000" dirty="0">
              <a:solidFill>
                <a:srgbClr val="3D383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조선일보명조" pitchFamily="18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FD01F94-8AF5-470B-B1A0-A7E0F7ACEB0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1692" y="1747230"/>
            <a:ext cx="252000" cy="252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3B5A3C8-F66B-441B-AFB7-F7F21FB79FE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1692" y="3543552"/>
            <a:ext cx="252000" cy="2520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EBAE4B8D-99AC-4345-96AB-32DFDE64CC8F}"/>
              </a:ext>
            </a:extLst>
          </p:cNvPr>
          <p:cNvSpPr/>
          <p:nvPr/>
        </p:nvSpPr>
        <p:spPr>
          <a:xfrm>
            <a:off x="808382" y="4825369"/>
            <a:ext cx="1292701" cy="629917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ko-KR" b="1" dirty="0">
                <a:solidFill>
                  <a:schemeClr val="bg1"/>
                </a:solidFill>
              </a:rPr>
              <a:t>Appendix</a:t>
            </a:r>
            <a:endParaRPr kumimoji="1"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7" name="テキスト ボックス 3">
            <a:extLst>
              <a:ext uri="{FF2B5EF4-FFF2-40B4-BE49-F238E27FC236}">
                <a16:creationId xmlns:a16="http://schemas.microsoft.com/office/drawing/2014/main" id="{F258687D-C87D-472F-9713-1AE7D599676C}"/>
              </a:ext>
            </a:extLst>
          </p:cNvPr>
          <p:cNvSpPr txBox="1"/>
          <p:nvPr/>
        </p:nvSpPr>
        <p:spPr>
          <a:xfrm>
            <a:off x="2248767" y="4944293"/>
            <a:ext cx="9507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Mapping</a:t>
            </a:r>
            <a:r>
              <a:rPr kumimoji="1" lang="ko-KR" altLang="en-US" sz="24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을 통한 문자열 </a:t>
            </a:r>
            <a:r>
              <a:rPr kumimoji="1" lang="en-US" altLang="ko-KR" sz="24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Preprocessing (EX. Embarked)</a:t>
            </a:r>
            <a:endParaRPr kumimoji="1" lang="ja-JP" altLang="en-US" sz="2400" dirty="0">
              <a:solidFill>
                <a:srgbClr val="3D3830"/>
              </a:solidFill>
              <a:latin typeface="배달의민족 도현" panose="020B0600000101010101" pitchFamily="50" charset="-127"/>
              <a:ea typeface="조선일보명조" pitchFamily="18" charset="-127"/>
              <a:cs typeface="조선일보명조" pitchFamily="18" charset="-127"/>
            </a:endParaRPr>
          </a:p>
        </p:txBody>
      </p:sp>
      <p:pic>
        <p:nvPicPr>
          <p:cNvPr id="18" name="Picture 8">
            <a:extLst>
              <a:ext uri="{FF2B5EF4-FFF2-40B4-BE49-F238E27FC236}">
                <a16:creationId xmlns:a16="http://schemas.microsoft.com/office/drawing/2014/main" id="{C251E1B9-C867-46E9-A5C9-768A122A8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63" y="5660437"/>
            <a:ext cx="9857198" cy="617871"/>
          </a:xfrm>
          <a:prstGeom prst="rect">
            <a:avLst/>
          </a:prstGeom>
          <a:noFill/>
          <a:ln>
            <a:noFill/>
          </a:ln>
          <a:effectLst>
            <a:innerShdw blurRad="114300">
              <a:prstClr val="black">
                <a:alpha val="34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5659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A35EDE-F5B8-429D-B1D2-C2E54CA94B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CD856-78BA-4161-BF13-ACC74CA0965B}"/>
              </a:ext>
            </a:extLst>
          </p:cNvPr>
          <p:cNvSpPr/>
          <p:nvPr/>
        </p:nvSpPr>
        <p:spPr>
          <a:xfrm>
            <a:off x="0" y="132522"/>
            <a:ext cx="12192000" cy="688085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正方形/長方形 1">
            <a:extLst>
              <a:ext uri="{FF2B5EF4-FFF2-40B4-BE49-F238E27FC236}">
                <a16:creationId xmlns:a16="http://schemas.microsoft.com/office/drawing/2014/main" id="{DF6EA75D-9458-45F1-BE28-67DEF5D29A4C}"/>
              </a:ext>
            </a:extLst>
          </p:cNvPr>
          <p:cNvSpPr/>
          <p:nvPr/>
        </p:nvSpPr>
        <p:spPr>
          <a:xfrm>
            <a:off x="808382" y="0"/>
            <a:ext cx="1828801" cy="132522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sp>
        <p:nvSpPr>
          <p:cNvPr id="47" name="正方形/長方形 2">
            <a:extLst>
              <a:ext uri="{FF2B5EF4-FFF2-40B4-BE49-F238E27FC236}">
                <a16:creationId xmlns:a16="http://schemas.microsoft.com/office/drawing/2014/main" id="{DA6A0CE3-6368-4ED1-B0DB-3C0543FD046D}"/>
              </a:ext>
            </a:extLst>
          </p:cNvPr>
          <p:cNvSpPr/>
          <p:nvPr/>
        </p:nvSpPr>
        <p:spPr>
          <a:xfrm flipV="1">
            <a:off x="0" y="6804461"/>
            <a:ext cx="12192000" cy="76398"/>
          </a:xfrm>
          <a:prstGeom prst="rect">
            <a:avLst/>
          </a:prstGeom>
          <a:solidFill>
            <a:srgbClr val="3D3830"/>
          </a:solidFill>
          <a:ln>
            <a:solidFill>
              <a:srgbClr val="3D38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sp>
        <p:nvSpPr>
          <p:cNvPr id="49" name="テキスト ボックス 3">
            <a:extLst>
              <a:ext uri="{FF2B5EF4-FFF2-40B4-BE49-F238E27FC236}">
                <a16:creationId xmlns:a16="http://schemas.microsoft.com/office/drawing/2014/main" id="{4D8B0868-2C8F-465C-A821-4663920F8077}"/>
              </a:ext>
            </a:extLst>
          </p:cNvPr>
          <p:cNvSpPr txBox="1"/>
          <p:nvPr/>
        </p:nvSpPr>
        <p:spPr>
          <a:xfrm>
            <a:off x="736498" y="453868"/>
            <a:ext cx="41408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2-1. Preprocessing</a:t>
            </a:r>
            <a:endParaRPr kumimoji="1" lang="ja-JP" altLang="en-US" sz="3200" dirty="0">
              <a:solidFill>
                <a:srgbClr val="3D3830"/>
              </a:solidFill>
              <a:latin typeface="배달의민족 도현" panose="020B0600000101010101" pitchFamily="50" charset="-127"/>
              <a:ea typeface="조선일보명조" pitchFamily="18" charset="-127"/>
              <a:cs typeface="조선일보명조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395D3FB-E92C-492E-8152-12DCCC841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1571981"/>
            <a:ext cx="5781675" cy="4733925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cxnSp>
        <p:nvCxnSpPr>
          <p:cNvPr id="19" name="直線コネクタ 12">
            <a:extLst>
              <a:ext uri="{FF2B5EF4-FFF2-40B4-BE49-F238E27FC236}">
                <a16:creationId xmlns:a16="http://schemas.microsoft.com/office/drawing/2014/main" id="{7A620270-947D-45F4-8D60-060DFAA5B09E}"/>
              </a:ext>
            </a:extLst>
          </p:cNvPr>
          <p:cNvCxnSpPr/>
          <p:nvPr/>
        </p:nvCxnSpPr>
        <p:spPr>
          <a:xfrm>
            <a:off x="808382" y="1073426"/>
            <a:ext cx="113836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157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A35EDE-F5B8-429D-B1D2-C2E54CA94B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CD856-78BA-4161-BF13-ACC74CA0965B}"/>
              </a:ext>
            </a:extLst>
          </p:cNvPr>
          <p:cNvSpPr/>
          <p:nvPr/>
        </p:nvSpPr>
        <p:spPr>
          <a:xfrm>
            <a:off x="0" y="-11430"/>
            <a:ext cx="12192000" cy="688085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正方形/長方形 1">
            <a:extLst>
              <a:ext uri="{FF2B5EF4-FFF2-40B4-BE49-F238E27FC236}">
                <a16:creationId xmlns:a16="http://schemas.microsoft.com/office/drawing/2014/main" id="{DF6EA75D-9458-45F1-BE28-67DEF5D29A4C}"/>
              </a:ext>
            </a:extLst>
          </p:cNvPr>
          <p:cNvSpPr/>
          <p:nvPr/>
        </p:nvSpPr>
        <p:spPr>
          <a:xfrm>
            <a:off x="808382" y="0"/>
            <a:ext cx="1828801" cy="132522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sp>
        <p:nvSpPr>
          <p:cNvPr id="47" name="正方形/長方形 2">
            <a:extLst>
              <a:ext uri="{FF2B5EF4-FFF2-40B4-BE49-F238E27FC236}">
                <a16:creationId xmlns:a16="http://schemas.microsoft.com/office/drawing/2014/main" id="{DA6A0CE3-6368-4ED1-B0DB-3C0543FD046D}"/>
              </a:ext>
            </a:extLst>
          </p:cNvPr>
          <p:cNvSpPr/>
          <p:nvPr/>
        </p:nvSpPr>
        <p:spPr>
          <a:xfrm flipV="1">
            <a:off x="0" y="6804461"/>
            <a:ext cx="12192000" cy="76398"/>
          </a:xfrm>
          <a:prstGeom prst="rect">
            <a:avLst/>
          </a:prstGeom>
          <a:solidFill>
            <a:srgbClr val="3D3830"/>
          </a:solidFill>
          <a:ln>
            <a:solidFill>
              <a:srgbClr val="3D38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cxnSp>
        <p:nvCxnSpPr>
          <p:cNvPr id="48" name="直線コネクタ 12">
            <a:extLst>
              <a:ext uri="{FF2B5EF4-FFF2-40B4-BE49-F238E27FC236}">
                <a16:creationId xmlns:a16="http://schemas.microsoft.com/office/drawing/2014/main" id="{62C87091-16DE-49DB-99D2-0CE67C3C6D09}"/>
              </a:ext>
            </a:extLst>
          </p:cNvPr>
          <p:cNvCxnSpPr/>
          <p:nvPr/>
        </p:nvCxnSpPr>
        <p:spPr>
          <a:xfrm>
            <a:off x="808382" y="1073426"/>
            <a:ext cx="113836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3">
            <a:extLst>
              <a:ext uri="{FF2B5EF4-FFF2-40B4-BE49-F238E27FC236}">
                <a16:creationId xmlns:a16="http://schemas.microsoft.com/office/drawing/2014/main" id="{4D8B0868-2C8F-465C-A821-4663920F8077}"/>
              </a:ext>
            </a:extLst>
          </p:cNvPr>
          <p:cNvSpPr txBox="1"/>
          <p:nvPr/>
        </p:nvSpPr>
        <p:spPr>
          <a:xfrm>
            <a:off x="736498" y="453868"/>
            <a:ext cx="49744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2-2. </a:t>
            </a:r>
            <a:r>
              <a:rPr kumimoji="1" lang="ko-KR" altLang="en-US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테스트 데이터 추출법</a:t>
            </a:r>
            <a:endParaRPr kumimoji="1" lang="ja-JP" altLang="en-US" sz="3200" dirty="0">
              <a:solidFill>
                <a:srgbClr val="3D3830"/>
              </a:solidFill>
              <a:latin typeface="배달의민족 도현" panose="020B0600000101010101" pitchFamily="50" charset="-127"/>
              <a:ea typeface="조선일보명조" pitchFamily="18" charset="-127"/>
              <a:cs typeface="조선일보명조" pitchFamily="18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4312A5F-DD81-4455-B666-A0F1F7AB1712}"/>
              </a:ext>
            </a:extLst>
          </p:cNvPr>
          <p:cNvGrpSpPr/>
          <p:nvPr/>
        </p:nvGrpSpPr>
        <p:grpSpPr>
          <a:xfrm>
            <a:off x="1955267" y="1407207"/>
            <a:ext cx="8281465" cy="2520839"/>
            <a:chOff x="856509" y="1398024"/>
            <a:chExt cx="9979934" cy="2772923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1AF40A5-A7B7-416A-80AA-57051BDEE144}"/>
                </a:ext>
              </a:extLst>
            </p:cNvPr>
            <p:cNvSpPr/>
            <p:nvPr/>
          </p:nvSpPr>
          <p:spPr>
            <a:xfrm>
              <a:off x="856509" y="1398024"/>
              <a:ext cx="9979934" cy="277292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3D3830"/>
                </a:solidFill>
              </a:endParaRPr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4C6A3A47-374B-4CA7-A062-C846A23BB3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613" y="1446151"/>
              <a:ext cx="9901468" cy="2666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1" name="Picture 3">
            <a:extLst>
              <a:ext uri="{FF2B5EF4-FFF2-40B4-BE49-F238E27FC236}">
                <a16:creationId xmlns:a16="http://schemas.microsoft.com/office/drawing/2014/main" id="{BFAAAEE9-97FF-460B-BF1C-633B94D2B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267" y="4163901"/>
            <a:ext cx="8694570" cy="686959"/>
          </a:xfrm>
          <a:prstGeom prst="rect">
            <a:avLst/>
          </a:prstGeom>
          <a:noFill/>
          <a:ln>
            <a:noFill/>
          </a:ln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1C5B66D-0861-45F0-8531-6B2CA513D69F}"/>
              </a:ext>
            </a:extLst>
          </p:cNvPr>
          <p:cNvSpPr txBox="1"/>
          <p:nvPr/>
        </p:nvSpPr>
        <p:spPr>
          <a:xfrm>
            <a:off x="2486474" y="5221281"/>
            <a:ext cx="891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test_size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는 테스트 할 데이터의 양을 결정</a:t>
            </a:r>
            <a:r>
              <a:rPr lang="en-US" altLang="ko-KR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, </a:t>
            </a:r>
          </a:p>
          <a:p>
            <a:r>
              <a:rPr lang="en-US" altLang="ko-KR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0.2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일 경우에 원본 데이터의 </a:t>
            </a:r>
            <a:r>
              <a:rPr lang="en-US" altLang="ko-KR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20%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를 </a:t>
            </a:r>
            <a:r>
              <a:rPr lang="en-US" altLang="ko-KR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test data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로</a:t>
            </a:r>
            <a:r>
              <a:rPr lang="en-US" altLang="ko-KR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, 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나머지 </a:t>
            </a:r>
            <a:r>
              <a:rPr lang="en-US" altLang="ko-KR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80%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를 </a:t>
            </a:r>
            <a:r>
              <a:rPr lang="en-US" altLang="ko-KR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train data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로 사용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406EF4-B011-481D-979B-21327E0C5197}"/>
              </a:ext>
            </a:extLst>
          </p:cNvPr>
          <p:cNvSpPr txBox="1"/>
          <p:nvPr/>
        </p:nvSpPr>
        <p:spPr>
          <a:xfrm>
            <a:off x="2486474" y="5989601"/>
            <a:ext cx="89194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Random_state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는 데이터 분할 시 랜덤하게 </a:t>
            </a:r>
            <a:r>
              <a:rPr lang="ko-KR" altLang="en-US" sz="2000" dirty="0" err="1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셔플이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 이루어지는데 이를 위한 </a:t>
            </a:r>
            <a:r>
              <a:rPr lang="ko-KR" altLang="en-US" sz="2000" dirty="0" err="1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시드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 값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440F2BA-BE33-455D-8AEB-D7EADA2046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823" y="5989601"/>
            <a:ext cx="360000" cy="360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9DB73AD-AC68-4962-B62A-FA8D96A6CF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822" y="5251913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654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A35EDE-F5B8-429D-B1D2-C2E54CA94B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CD856-78BA-4161-BF13-ACC74CA0965B}"/>
              </a:ext>
            </a:extLst>
          </p:cNvPr>
          <p:cNvSpPr/>
          <p:nvPr/>
        </p:nvSpPr>
        <p:spPr>
          <a:xfrm>
            <a:off x="0" y="-162431"/>
            <a:ext cx="12192000" cy="688085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正方形/長方形 1">
            <a:extLst>
              <a:ext uri="{FF2B5EF4-FFF2-40B4-BE49-F238E27FC236}">
                <a16:creationId xmlns:a16="http://schemas.microsoft.com/office/drawing/2014/main" id="{DF6EA75D-9458-45F1-BE28-67DEF5D29A4C}"/>
              </a:ext>
            </a:extLst>
          </p:cNvPr>
          <p:cNvSpPr/>
          <p:nvPr/>
        </p:nvSpPr>
        <p:spPr>
          <a:xfrm>
            <a:off x="808382" y="0"/>
            <a:ext cx="1828801" cy="132522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sp>
        <p:nvSpPr>
          <p:cNvPr id="47" name="正方形/長方形 2">
            <a:extLst>
              <a:ext uri="{FF2B5EF4-FFF2-40B4-BE49-F238E27FC236}">
                <a16:creationId xmlns:a16="http://schemas.microsoft.com/office/drawing/2014/main" id="{DA6A0CE3-6368-4ED1-B0DB-3C0543FD046D}"/>
              </a:ext>
            </a:extLst>
          </p:cNvPr>
          <p:cNvSpPr/>
          <p:nvPr/>
        </p:nvSpPr>
        <p:spPr>
          <a:xfrm flipV="1">
            <a:off x="0" y="6804461"/>
            <a:ext cx="12192000" cy="76398"/>
          </a:xfrm>
          <a:prstGeom prst="rect">
            <a:avLst/>
          </a:prstGeom>
          <a:solidFill>
            <a:srgbClr val="3D3830"/>
          </a:solidFill>
          <a:ln>
            <a:solidFill>
              <a:srgbClr val="3D38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cxnSp>
        <p:nvCxnSpPr>
          <p:cNvPr id="48" name="直線コネクタ 12">
            <a:extLst>
              <a:ext uri="{FF2B5EF4-FFF2-40B4-BE49-F238E27FC236}">
                <a16:creationId xmlns:a16="http://schemas.microsoft.com/office/drawing/2014/main" id="{62C87091-16DE-49DB-99D2-0CE67C3C6D09}"/>
              </a:ext>
            </a:extLst>
          </p:cNvPr>
          <p:cNvCxnSpPr/>
          <p:nvPr/>
        </p:nvCxnSpPr>
        <p:spPr>
          <a:xfrm>
            <a:off x="808382" y="1073426"/>
            <a:ext cx="113836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3">
            <a:extLst>
              <a:ext uri="{FF2B5EF4-FFF2-40B4-BE49-F238E27FC236}">
                <a16:creationId xmlns:a16="http://schemas.microsoft.com/office/drawing/2014/main" id="{4D8B0868-2C8F-465C-A821-4663920F8077}"/>
              </a:ext>
            </a:extLst>
          </p:cNvPr>
          <p:cNvSpPr txBox="1"/>
          <p:nvPr/>
        </p:nvSpPr>
        <p:spPr>
          <a:xfrm>
            <a:off x="736498" y="453868"/>
            <a:ext cx="79977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2-3. </a:t>
            </a:r>
            <a:r>
              <a:rPr kumimoji="1" lang="ko-KR" altLang="en-US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교차 검증 </a:t>
            </a:r>
            <a:r>
              <a:rPr kumimoji="1" lang="en-US" altLang="ko-KR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: </a:t>
            </a:r>
            <a:r>
              <a:rPr kumimoji="1" lang="en-US" altLang="ko-KR" sz="3200" dirty="0" err="1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DecisionTreeClassifier</a:t>
            </a:r>
            <a:endParaRPr kumimoji="1" lang="ja-JP" altLang="en-US" sz="3200" dirty="0">
              <a:solidFill>
                <a:srgbClr val="3D3830"/>
              </a:solidFill>
              <a:latin typeface="배달의민족 도현" panose="020B0600000101010101" pitchFamily="50" charset="-127"/>
              <a:ea typeface="조선일보명조" pitchFamily="18" charset="-127"/>
              <a:cs typeface="조선일보명조" pitchFamily="18" charset="-127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F98486F7-C3B3-490A-9022-2604F054D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18" y="1636444"/>
            <a:ext cx="4724400" cy="1125622"/>
          </a:xfrm>
          <a:prstGeom prst="rect">
            <a:avLst/>
          </a:prstGeom>
          <a:noFill/>
          <a:ln>
            <a:noFill/>
          </a:ln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85B2555D-22BE-489A-80BE-CA370C5AA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436" y="3702970"/>
            <a:ext cx="4115957" cy="1358314"/>
          </a:xfrm>
          <a:prstGeom prst="rect">
            <a:avLst/>
          </a:prstGeom>
          <a:noFill/>
          <a:ln>
            <a:noFill/>
          </a:ln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91A012-DF8F-4C33-ABD9-C25352FEB9E9}"/>
              </a:ext>
            </a:extLst>
          </p:cNvPr>
          <p:cNvSpPr txBox="1"/>
          <p:nvPr/>
        </p:nvSpPr>
        <p:spPr>
          <a:xfrm>
            <a:off x="6414855" y="1937953"/>
            <a:ext cx="3626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의사결정나무 </a:t>
            </a:r>
            <a:r>
              <a:rPr lang="en-US" altLang="ko-KR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Classifier 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생성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52A67C1-6882-4011-A38D-9330872BDB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5745" y="1920292"/>
            <a:ext cx="360000" cy="360000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837D6333-C0E6-49B4-8531-1F45C6BEAF6F}"/>
              </a:ext>
            </a:extLst>
          </p:cNvPr>
          <p:cNvGrpSpPr/>
          <p:nvPr/>
        </p:nvGrpSpPr>
        <p:grpSpPr>
          <a:xfrm>
            <a:off x="5957354" y="3680837"/>
            <a:ext cx="6464711" cy="2415623"/>
            <a:chOff x="5697295" y="3680837"/>
            <a:chExt cx="6464711" cy="241562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A9AB79E-2774-489B-A8B9-DC96ACFC7220}"/>
                </a:ext>
              </a:extLst>
            </p:cNvPr>
            <p:cNvSpPr txBox="1"/>
            <p:nvPr/>
          </p:nvSpPr>
          <p:spPr>
            <a:xfrm>
              <a:off x="6136465" y="3680837"/>
              <a:ext cx="40185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(</a:t>
              </a:r>
              <a:r>
                <a:rPr lang="ko-KR" altLang="en-US" sz="2000" b="1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학습</a:t>
              </a:r>
              <a:r>
                <a:rPr lang="en-US" altLang="ko-KR" sz="2000" b="1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) </a:t>
              </a:r>
              <a:r>
                <a:rPr lang="en-US" altLang="ko-KR" sz="2000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Classifier</a:t>
              </a:r>
              <a:r>
                <a:rPr lang="ko-KR" altLang="en-US" sz="2000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에 </a:t>
              </a:r>
              <a:r>
                <a:rPr lang="en-US" altLang="ko-KR" sz="2000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train data</a:t>
              </a:r>
              <a:r>
                <a:rPr lang="ko-KR" altLang="en-US" sz="2000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를 학습</a:t>
              </a:r>
              <a:r>
                <a:rPr lang="en-US" altLang="ko-KR" sz="2000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 </a:t>
              </a:r>
              <a:endPara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E9795FA-6ECE-4B0D-B3CA-7341447F10D3}"/>
                </a:ext>
              </a:extLst>
            </p:cNvPr>
            <p:cNvSpPr txBox="1"/>
            <p:nvPr/>
          </p:nvSpPr>
          <p:spPr>
            <a:xfrm>
              <a:off x="6130172" y="4236016"/>
              <a:ext cx="6031834" cy="9771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000" b="1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(</a:t>
              </a:r>
              <a:r>
                <a:rPr lang="ko-KR" altLang="en-US" sz="2000" b="1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예측</a:t>
              </a:r>
              <a:r>
                <a:rPr lang="en-US" altLang="ko-KR" sz="2000" b="1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) </a:t>
              </a:r>
              <a:r>
                <a:rPr lang="ko-KR" altLang="en-US" sz="2000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학습된 </a:t>
              </a:r>
              <a:r>
                <a:rPr lang="en-US" altLang="ko-KR" sz="2000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Classifier</a:t>
              </a:r>
              <a:r>
                <a:rPr lang="ko-KR" altLang="en-US" sz="2000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에 </a:t>
              </a:r>
              <a:r>
                <a:rPr lang="en-US" altLang="ko-KR" sz="2000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x test data</a:t>
              </a:r>
              <a:r>
                <a:rPr lang="ko-KR" altLang="en-US" sz="2000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를 넣어 결과 </a:t>
              </a:r>
              <a:endParaRPr lang="en-US" altLang="ko-KR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2000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예측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EC20F95-BEBD-493D-9C8F-7EFDE33A0AE7}"/>
                </a:ext>
              </a:extLst>
            </p:cNvPr>
            <p:cNvSpPr txBox="1"/>
            <p:nvPr/>
          </p:nvSpPr>
          <p:spPr>
            <a:xfrm>
              <a:off x="6129556" y="5119269"/>
              <a:ext cx="6031834" cy="9771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000" b="1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(</a:t>
              </a:r>
              <a:r>
                <a:rPr lang="ko-KR" altLang="en-US" sz="2000" b="1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평가</a:t>
              </a:r>
              <a:r>
                <a:rPr lang="en-US" altLang="ko-KR" sz="2000" b="1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) </a:t>
              </a:r>
              <a:r>
                <a:rPr lang="ko-KR" altLang="en-US" sz="2000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예측한 결과를 실제 </a:t>
              </a:r>
              <a:r>
                <a:rPr lang="en-US" altLang="ko-KR" sz="2000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test data</a:t>
              </a:r>
              <a:r>
                <a:rPr lang="ko-KR" altLang="en-US" sz="2000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와 비교해 정확도 </a:t>
              </a:r>
              <a:endParaRPr lang="en-US" altLang="ko-KR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2000" dirty="0">
                  <a:solidFill>
                    <a:srgbClr val="3D3830"/>
                  </a:solidFill>
                  <a:latin typeface="배달의민족 주아" panose="02020603020101020101" pitchFamily="18" charset="-127"/>
                  <a:ea typeface="배달의민족 주아" panose="02020603020101020101" pitchFamily="18" charset="-127"/>
                  <a:cs typeface="조선일보명조" pitchFamily="18" charset="-127"/>
                </a:rPr>
                <a:t>평가</a:t>
              </a:r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6CAC0B1B-F827-4D3D-8F41-8E773ADB4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7297" y="3718471"/>
              <a:ext cx="360000" cy="360000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F7953E6B-E9EA-460F-AD42-3E1F51371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7295" y="4371823"/>
              <a:ext cx="360000" cy="360000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76D7697B-CD97-40DF-9F70-A0AEB7B31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7295" y="5258200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28440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A35EDE-F5B8-429D-B1D2-C2E54CA94B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CD856-78BA-4161-BF13-ACC74CA0965B}"/>
              </a:ext>
            </a:extLst>
          </p:cNvPr>
          <p:cNvSpPr/>
          <p:nvPr/>
        </p:nvSpPr>
        <p:spPr>
          <a:xfrm>
            <a:off x="0" y="-162431"/>
            <a:ext cx="12192000" cy="688085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正方形/長方形 1">
            <a:extLst>
              <a:ext uri="{FF2B5EF4-FFF2-40B4-BE49-F238E27FC236}">
                <a16:creationId xmlns:a16="http://schemas.microsoft.com/office/drawing/2014/main" id="{DF6EA75D-9458-45F1-BE28-67DEF5D29A4C}"/>
              </a:ext>
            </a:extLst>
          </p:cNvPr>
          <p:cNvSpPr/>
          <p:nvPr/>
        </p:nvSpPr>
        <p:spPr>
          <a:xfrm>
            <a:off x="808382" y="0"/>
            <a:ext cx="1828801" cy="132522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sp>
        <p:nvSpPr>
          <p:cNvPr id="47" name="正方形/長方形 2">
            <a:extLst>
              <a:ext uri="{FF2B5EF4-FFF2-40B4-BE49-F238E27FC236}">
                <a16:creationId xmlns:a16="http://schemas.microsoft.com/office/drawing/2014/main" id="{DA6A0CE3-6368-4ED1-B0DB-3C0543FD046D}"/>
              </a:ext>
            </a:extLst>
          </p:cNvPr>
          <p:cNvSpPr/>
          <p:nvPr/>
        </p:nvSpPr>
        <p:spPr>
          <a:xfrm flipV="1">
            <a:off x="0" y="6804461"/>
            <a:ext cx="12192000" cy="76398"/>
          </a:xfrm>
          <a:prstGeom prst="rect">
            <a:avLst/>
          </a:prstGeom>
          <a:solidFill>
            <a:srgbClr val="3D3830"/>
          </a:solidFill>
          <a:ln>
            <a:solidFill>
              <a:srgbClr val="3D38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cxnSp>
        <p:nvCxnSpPr>
          <p:cNvPr id="48" name="直線コネクタ 12">
            <a:extLst>
              <a:ext uri="{FF2B5EF4-FFF2-40B4-BE49-F238E27FC236}">
                <a16:creationId xmlns:a16="http://schemas.microsoft.com/office/drawing/2014/main" id="{62C87091-16DE-49DB-99D2-0CE67C3C6D09}"/>
              </a:ext>
            </a:extLst>
          </p:cNvPr>
          <p:cNvCxnSpPr/>
          <p:nvPr/>
        </p:nvCxnSpPr>
        <p:spPr>
          <a:xfrm>
            <a:off x="808382" y="1073426"/>
            <a:ext cx="113836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3">
            <a:extLst>
              <a:ext uri="{FF2B5EF4-FFF2-40B4-BE49-F238E27FC236}">
                <a16:creationId xmlns:a16="http://schemas.microsoft.com/office/drawing/2014/main" id="{4D8B0868-2C8F-465C-A821-4663920F8077}"/>
              </a:ext>
            </a:extLst>
          </p:cNvPr>
          <p:cNvSpPr txBox="1"/>
          <p:nvPr/>
        </p:nvSpPr>
        <p:spPr>
          <a:xfrm>
            <a:off x="736498" y="453868"/>
            <a:ext cx="46554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2-3. </a:t>
            </a:r>
            <a:r>
              <a:rPr kumimoji="1" lang="ko-KR" altLang="en-US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교차 검증 </a:t>
            </a:r>
            <a:r>
              <a:rPr kumimoji="1" lang="en-US" altLang="ko-KR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: K-Fold</a:t>
            </a:r>
            <a:endParaRPr kumimoji="1" lang="ja-JP" altLang="en-US" sz="3200" dirty="0">
              <a:solidFill>
                <a:srgbClr val="3D3830"/>
              </a:solidFill>
              <a:latin typeface="배달의민족 도현" panose="020B0600000101010101" pitchFamily="50" charset="-127"/>
              <a:ea typeface="조선일보명조" pitchFamily="18" charset="-127"/>
              <a:cs typeface="조선일보명조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8E714D-FE46-4AF0-8E1E-E3286216ACA7}"/>
              </a:ext>
            </a:extLst>
          </p:cNvPr>
          <p:cNvSpPr txBox="1"/>
          <p:nvPr/>
        </p:nvSpPr>
        <p:spPr>
          <a:xfrm>
            <a:off x="1566083" y="4270100"/>
            <a:ext cx="9996638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Split </a:t>
            </a:r>
            <a:r>
              <a:rPr lang="ko-KR" altLang="en-US" sz="2000" b="1" dirty="0" err="1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메서드</a:t>
            </a:r>
            <a:r>
              <a:rPr lang="ko-KR" altLang="en-US" sz="2000" dirty="0" err="1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는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 </a:t>
            </a:r>
            <a:r>
              <a:rPr lang="en-US" altLang="ko-KR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train, test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용 데이터의 </a:t>
            </a:r>
            <a:r>
              <a:rPr lang="en-US" altLang="ko-KR" sz="2000" b="1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index</a:t>
            </a:r>
            <a:r>
              <a:rPr lang="ko-KR" altLang="en-US" sz="2000" b="1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를 출력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하는 </a:t>
            </a:r>
            <a:r>
              <a:rPr lang="ko-KR" altLang="en-US" sz="2000" dirty="0" err="1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파이썬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 반복자</a:t>
            </a:r>
            <a:r>
              <a:rPr lang="en-US" altLang="ko-KR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(iterator)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를 반환</a:t>
            </a:r>
            <a:endParaRPr lang="en-US" altLang="ko-KR" sz="2000" dirty="0">
              <a:solidFill>
                <a:srgbClr val="3D383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조선일보명조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여기서 생성되는 </a:t>
            </a:r>
            <a:r>
              <a:rPr lang="en-US" altLang="ko-KR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index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의 개수는 </a:t>
            </a:r>
            <a:r>
              <a:rPr lang="en-US" altLang="ko-KR" sz="2000" dirty="0" err="1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Kfold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의 </a:t>
            </a:r>
            <a:r>
              <a:rPr lang="en-US" altLang="ko-KR" sz="2000" dirty="0" err="1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n_splits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 설정에 의해 결정됨</a:t>
            </a:r>
            <a:endParaRPr lang="en-US" altLang="ko-KR" sz="2000" dirty="0">
              <a:solidFill>
                <a:srgbClr val="3D383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조선일보명조" pitchFamily="18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3041252-93C5-447E-B809-669EF299E7F1}"/>
              </a:ext>
            </a:extLst>
          </p:cNvPr>
          <p:cNvGrpSpPr/>
          <p:nvPr/>
        </p:nvGrpSpPr>
        <p:grpSpPr>
          <a:xfrm>
            <a:off x="2020252" y="1832300"/>
            <a:ext cx="8151495" cy="2011680"/>
            <a:chOff x="2020252" y="1832300"/>
            <a:chExt cx="8151495" cy="2011680"/>
          </a:xfrm>
        </p:grpSpPr>
        <p:pic>
          <p:nvPicPr>
            <p:cNvPr id="19" name="Picture 3">
              <a:extLst>
                <a:ext uri="{FF2B5EF4-FFF2-40B4-BE49-F238E27FC236}">
                  <a16:creationId xmlns:a16="http://schemas.microsoft.com/office/drawing/2014/main" id="{9912BF8C-71FA-4012-8819-D4C0653380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0252" y="1832300"/>
              <a:ext cx="8151495" cy="2011680"/>
            </a:xfrm>
            <a:prstGeom prst="rect">
              <a:avLst/>
            </a:prstGeom>
            <a:noFill/>
            <a:ln>
              <a:noFill/>
            </a:ln>
            <a:effectLst>
              <a:innerShdw blurRad="114300">
                <a:prstClr val="black">
                  <a:alpha val="31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DDAB5D90-F06B-4075-96BA-27E5AF4B48E9}"/>
                </a:ext>
              </a:extLst>
            </p:cNvPr>
            <p:cNvSpPr/>
            <p:nvPr/>
          </p:nvSpPr>
          <p:spPr>
            <a:xfrm>
              <a:off x="2715373" y="3131350"/>
              <a:ext cx="4079709" cy="676977"/>
            </a:xfrm>
            <a:prstGeom prst="rect">
              <a:avLst/>
            </a:prstGeom>
            <a:solidFill>
              <a:srgbClr val="FFFF00">
                <a:alpha val="2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3D3830"/>
                </a:solidFill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C697D5B-542C-4605-894F-8508C5D2053D}"/>
              </a:ext>
            </a:extLst>
          </p:cNvPr>
          <p:cNvSpPr txBox="1"/>
          <p:nvPr/>
        </p:nvSpPr>
        <p:spPr>
          <a:xfrm>
            <a:off x="1566083" y="5238174"/>
            <a:ext cx="9996638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Index 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번호로 </a:t>
            </a:r>
            <a:r>
              <a:rPr lang="en-US" altLang="ko-KR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train, test 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데이터를 설정하고 </a:t>
            </a:r>
            <a:r>
              <a:rPr lang="en-US" altLang="ko-KR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fit, predict, </a:t>
            </a:r>
            <a:r>
              <a:rPr lang="en-US" altLang="ko-KR" sz="2000" dirty="0" err="1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accuracy_score</a:t>
            </a:r>
            <a:r>
              <a:rPr lang="en-US" altLang="ko-KR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 </a:t>
            </a:r>
            <a:r>
              <a:rPr lang="ko-KR" altLang="en-US" sz="2000" dirty="0" err="1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메서드를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 이용하여 학습</a:t>
            </a:r>
            <a:r>
              <a:rPr lang="en-US" altLang="ko-KR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,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 예측</a:t>
            </a:r>
            <a:r>
              <a:rPr lang="en-US" altLang="ko-KR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, </a:t>
            </a:r>
            <a:r>
              <a:rPr lang="ko-KR" altLang="en-US" sz="2000" dirty="0">
                <a:solidFill>
                  <a:srgbClr val="3D383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조선일보명조" pitchFamily="18" charset="-127"/>
              </a:rPr>
              <a:t>평가를 실행</a:t>
            </a:r>
            <a:endParaRPr lang="en-US" altLang="ko-KR" sz="2000" dirty="0">
              <a:solidFill>
                <a:srgbClr val="3D383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  <a:cs typeface="조선일보명조" pitchFamily="18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2157EFEA-F528-4893-A0E5-0144378732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417" y="5340426"/>
            <a:ext cx="360000" cy="360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9F004F4F-A45D-445C-87A3-EBBE2C02CB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416" y="4402102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21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A35EDE-F5B8-429D-B1D2-C2E54CA94B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CD856-78BA-4161-BF13-ACC74CA0965B}"/>
              </a:ext>
            </a:extLst>
          </p:cNvPr>
          <p:cNvSpPr/>
          <p:nvPr/>
        </p:nvSpPr>
        <p:spPr>
          <a:xfrm>
            <a:off x="0" y="-162431"/>
            <a:ext cx="12192000" cy="688085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正方形/長方形 1">
            <a:extLst>
              <a:ext uri="{FF2B5EF4-FFF2-40B4-BE49-F238E27FC236}">
                <a16:creationId xmlns:a16="http://schemas.microsoft.com/office/drawing/2014/main" id="{DF6EA75D-9458-45F1-BE28-67DEF5D29A4C}"/>
              </a:ext>
            </a:extLst>
          </p:cNvPr>
          <p:cNvSpPr/>
          <p:nvPr/>
        </p:nvSpPr>
        <p:spPr>
          <a:xfrm>
            <a:off x="808382" y="0"/>
            <a:ext cx="1828801" cy="132522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sp>
        <p:nvSpPr>
          <p:cNvPr id="47" name="正方形/長方形 2">
            <a:extLst>
              <a:ext uri="{FF2B5EF4-FFF2-40B4-BE49-F238E27FC236}">
                <a16:creationId xmlns:a16="http://schemas.microsoft.com/office/drawing/2014/main" id="{DA6A0CE3-6368-4ED1-B0DB-3C0543FD046D}"/>
              </a:ext>
            </a:extLst>
          </p:cNvPr>
          <p:cNvSpPr/>
          <p:nvPr/>
        </p:nvSpPr>
        <p:spPr>
          <a:xfrm flipV="1">
            <a:off x="0" y="6804461"/>
            <a:ext cx="12192000" cy="76398"/>
          </a:xfrm>
          <a:prstGeom prst="rect">
            <a:avLst/>
          </a:prstGeom>
          <a:solidFill>
            <a:srgbClr val="3D3830"/>
          </a:solidFill>
          <a:ln>
            <a:solidFill>
              <a:srgbClr val="3D38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cxnSp>
        <p:nvCxnSpPr>
          <p:cNvPr id="48" name="直線コネクタ 12">
            <a:extLst>
              <a:ext uri="{FF2B5EF4-FFF2-40B4-BE49-F238E27FC236}">
                <a16:creationId xmlns:a16="http://schemas.microsoft.com/office/drawing/2014/main" id="{62C87091-16DE-49DB-99D2-0CE67C3C6D09}"/>
              </a:ext>
            </a:extLst>
          </p:cNvPr>
          <p:cNvCxnSpPr/>
          <p:nvPr/>
        </p:nvCxnSpPr>
        <p:spPr>
          <a:xfrm>
            <a:off x="808382" y="1073426"/>
            <a:ext cx="113836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3">
            <a:extLst>
              <a:ext uri="{FF2B5EF4-FFF2-40B4-BE49-F238E27FC236}">
                <a16:creationId xmlns:a16="http://schemas.microsoft.com/office/drawing/2014/main" id="{4D8B0868-2C8F-465C-A821-4663920F8077}"/>
              </a:ext>
            </a:extLst>
          </p:cNvPr>
          <p:cNvSpPr txBox="1"/>
          <p:nvPr/>
        </p:nvSpPr>
        <p:spPr>
          <a:xfrm>
            <a:off x="736498" y="453868"/>
            <a:ext cx="66319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2-3. </a:t>
            </a:r>
            <a:r>
              <a:rPr kumimoji="1" lang="ko-KR" altLang="en-US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교차 검증 </a:t>
            </a:r>
            <a:r>
              <a:rPr kumimoji="1" lang="en-US" altLang="ko-KR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: Cross Validation</a:t>
            </a:r>
            <a:endParaRPr kumimoji="1" lang="ja-JP" altLang="en-US" sz="3200" dirty="0">
              <a:solidFill>
                <a:srgbClr val="3D3830"/>
              </a:solidFill>
              <a:latin typeface="배달의민족 도현" panose="020B0600000101010101" pitchFamily="50" charset="-127"/>
              <a:ea typeface="조선일보명조" pitchFamily="18" charset="-127"/>
              <a:cs typeface="조선일보명조" pitchFamily="18" charset="-127"/>
            </a:endParaRP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AEFFF1D8-7484-4706-BD6D-3A5E3BA77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592" y="2702777"/>
            <a:ext cx="6508033" cy="509085"/>
          </a:xfrm>
          <a:prstGeom prst="rect">
            <a:avLst/>
          </a:prstGeom>
          <a:noFill/>
          <a:ln>
            <a:noFill/>
          </a:ln>
          <a:effectLst>
            <a:innerShdw blurRad="114300">
              <a:prstClr val="black">
                <a:alpha val="26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3">
            <a:extLst>
              <a:ext uri="{FF2B5EF4-FFF2-40B4-BE49-F238E27FC236}">
                <a16:creationId xmlns:a16="http://schemas.microsoft.com/office/drawing/2014/main" id="{F45CEAEC-22CA-4F01-9483-7F5B85F85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0465" y="3528445"/>
            <a:ext cx="3351068" cy="1835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B2007015-AAC1-413F-BC63-BE212898E4CE}"/>
              </a:ext>
            </a:extLst>
          </p:cNvPr>
          <p:cNvGrpSpPr/>
          <p:nvPr/>
        </p:nvGrpSpPr>
        <p:grpSpPr>
          <a:xfrm>
            <a:off x="1435851" y="1366027"/>
            <a:ext cx="9320297" cy="1012735"/>
            <a:chOff x="2390734" y="1492511"/>
            <a:chExt cx="7644063" cy="850231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014B384-216F-4E77-8B47-F2066E1C69D2}"/>
                </a:ext>
              </a:extLst>
            </p:cNvPr>
            <p:cNvSpPr/>
            <p:nvPr/>
          </p:nvSpPr>
          <p:spPr>
            <a:xfrm>
              <a:off x="2390734" y="1492511"/>
              <a:ext cx="7644063" cy="850231"/>
            </a:xfrm>
            <a:prstGeom prst="rect">
              <a:avLst/>
            </a:prstGeom>
            <a:solidFill>
              <a:schemeClr val="tx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3D3830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7D82C98-EA8B-4F52-968E-1A44156298D3}"/>
                </a:ext>
              </a:extLst>
            </p:cNvPr>
            <p:cNvSpPr txBox="1"/>
            <p:nvPr/>
          </p:nvSpPr>
          <p:spPr>
            <a:xfrm>
              <a:off x="2510975" y="1599805"/>
              <a:ext cx="7403580" cy="6356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dirty="0">
                  <a:solidFill>
                    <a:srgbClr val="3D3830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  <a:cs typeface="조선일보명조" pitchFamily="18" charset="-127"/>
                </a:rPr>
                <a:t>Cross Validation</a:t>
              </a:r>
              <a:r>
                <a:rPr lang="ko-KR" altLang="en-US" dirty="0">
                  <a:solidFill>
                    <a:srgbClr val="3D3830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  <a:cs typeface="조선일보명조" pitchFamily="18" charset="-127"/>
                </a:rPr>
                <a:t>이란 </a:t>
              </a:r>
              <a:r>
                <a:rPr lang="en-US" altLang="ko-KR" dirty="0">
                  <a:solidFill>
                    <a:srgbClr val="3D3830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  <a:cs typeface="조선일보명조" pitchFamily="18" charset="-127"/>
                </a:rPr>
                <a:t>?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dirty="0">
                  <a:solidFill>
                    <a:srgbClr val="3D3830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  <a:cs typeface="조선일보명조" pitchFamily="18" charset="-127"/>
                </a:rPr>
                <a:t>K-Fold</a:t>
              </a:r>
              <a:r>
                <a:rPr lang="ko-KR" altLang="en-US" dirty="0">
                  <a:solidFill>
                    <a:srgbClr val="3D3830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  <a:cs typeface="조선일보명조" pitchFamily="18" charset="-127"/>
                </a:rPr>
                <a:t>와 같은 교차검증을 반복하는 코드를 더욱 간단하게 만들어 주는 함수</a:t>
              </a:r>
            </a:p>
          </p:txBody>
        </p:sp>
      </p:grpSp>
      <p:pic>
        <p:nvPicPr>
          <p:cNvPr id="26" name="Picture 5">
            <a:extLst>
              <a:ext uri="{FF2B5EF4-FFF2-40B4-BE49-F238E27FC236}">
                <a16:creationId xmlns:a16="http://schemas.microsoft.com/office/drawing/2014/main" id="{6F0ED828-3378-497F-9B3C-B78E06D1F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235" y="5770263"/>
            <a:ext cx="7657546" cy="321981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01385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A35EDE-F5B8-429D-B1D2-C2E54CA94B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CD856-78BA-4161-BF13-ACC74CA0965B}"/>
              </a:ext>
            </a:extLst>
          </p:cNvPr>
          <p:cNvSpPr/>
          <p:nvPr/>
        </p:nvSpPr>
        <p:spPr>
          <a:xfrm>
            <a:off x="0" y="-162431"/>
            <a:ext cx="12192000" cy="688085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D383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正方形/長方形 1">
            <a:extLst>
              <a:ext uri="{FF2B5EF4-FFF2-40B4-BE49-F238E27FC236}">
                <a16:creationId xmlns:a16="http://schemas.microsoft.com/office/drawing/2014/main" id="{DF6EA75D-9458-45F1-BE28-67DEF5D29A4C}"/>
              </a:ext>
            </a:extLst>
          </p:cNvPr>
          <p:cNvSpPr/>
          <p:nvPr/>
        </p:nvSpPr>
        <p:spPr>
          <a:xfrm>
            <a:off x="808382" y="0"/>
            <a:ext cx="1828801" cy="132522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sp>
        <p:nvSpPr>
          <p:cNvPr id="47" name="正方形/長方形 2">
            <a:extLst>
              <a:ext uri="{FF2B5EF4-FFF2-40B4-BE49-F238E27FC236}">
                <a16:creationId xmlns:a16="http://schemas.microsoft.com/office/drawing/2014/main" id="{DA6A0CE3-6368-4ED1-B0DB-3C0543FD046D}"/>
              </a:ext>
            </a:extLst>
          </p:cNvPr>
          <p:cNvSpPr/>
          <p:nvPr/>
        </p:nvSpPr>
        <p:spPr>
          <a:xfrm flipV="1">
            <a:off x="0" y="6804461"/>
            <a:ext cx="12192000" cy="76398"/>
          </a:xfrm>
          <a:prstGeom prst="rect">
            <a:avLst/>
          </a:prstGeom>
          <a:solidFill>
            <a:srgbClr val="3D3830"/>
          </a:solidFill>
          <a:ln>
            <a:solidFill>
              <a:srgbClr val="3D38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3D3830"/>
              </a:solidFill>
            </a:endParaRPr>
          </a:p>
        </p:txBody>
      </p:sp>
      <p:cxnSp>
        <p:nvCxnSpPr>
          <p:cNvPr id="48" name="直線コネクタ 12">
            <a:extLst>
              <a:ext uri="{FF2B5EF4-FFF2-40B4-BE49-F238E27FC236}">
                <a16:creationId xmlns:a16="http://schemas.microsoft.com/office/drawing/2014/main" id="{62C87091-16DE-49DB-99D2-0CE67C3C6D09}"/>
              </a:ext>
            </a:extLst>
          </p:cNvPr>
          <p:cNvCxnSpPr/>
          <p:nvPr/>
        </p:nvCxnSpPr>
        <p:spPr>
          <a:xfrm>
            <a:off x="808382" y="1073426"/>
            <a:ext cx="113836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3">
            <a:extLst>
              <a:ext uri="{FF2B5EF4-FFF2-40B4-BE49-F238E27FC236}">
                <a16:creationId xmlns:a16="http://schemas.microsoft.com/office/drawing/2014/main" id="{4D8B0868-2C8F-465C-A821-4663920F8077}"/>
              </a:ext>
            </a:extLst>
          </p:cNvPr>
          <p:cNvSpPr txBox="1"/>
          <p:nvPr/>
        </p:nvSpPr>
        <p:spPr>
          <a:xfrm>
            <a:off x="736498" y="453868"/>
            <a:ext cx="72651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2-3. </a:t>
            </a:r>
            <a:r>
              <a:rPr kumimoji="1" lang="ko-KR" altLang="en-US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교차 검증 </a:t>
            </a:r>
            <a:r>
              <a:rPr kumimoji="1" lang="en-US" altLang="ko-KR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: CV –</a:t>
            </a:r>
            <a:r>
              <a:rPr kumimoji="1" lang="ko-KR" altLang="en-US" sz="3200" dirty="0">
                <a:solidFill>
                  <a:srgbClr val="3D383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조선일보명조" pitchFamily="18" charset="-127"/>
              </a:rPr>
              <a:t> 모형 최적화 도구</a:t>
            </a:r>
            <a:endParaRPr kumimoji="1" lang="ja-JP" altLang="en-US" sz="3200" dirty="0">
              <a:solidFill>
                <a:srgbClr val="3D3830"/>
              </a:solidFill>
              <a:latin typeface="배달의민족 도현" panose="020B0600000101010101" pitchFamily="50" charset="-127"/>
              <a:ea typeface="조선일보명조" pitchFamily="18" charset="-127"/>
              <a:cs typeface="조선일보명조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2007015-AAC1-413F-BC63-BE212898E4CE}"/>
              </a:ext>
            </a:extLst>
          </p:cNvPr>
          <p:cNvGrpSpPr/>
          <p:nvPr/>
        </p:nvGrpSpPr>
        <p:grpSpPr>
          <a:xfrm>
            <a:off x="1435851" y="1366027"/>
            <a:ext cx="9320297" cy="1012735"/>
            <a:chOff x="2390734" y="1492511"/>
            <a:chExt cx="7644063" cy="850231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014B384-216F-4E77-8B47-F2066E1C69D2}"/>
                </a:ext>
              </a:extLst>
            </p:cNvPr>
            <p:cNvSpPr/>
            <p:nvPr/>
          </p:nvSpPr>
          <p:spPr>
            <a:xfrm>
              <a:off x="2390734" y="1492511"/>
              <a:ext cx="7644063" cy="850231"/>
            </a:xfrm>
            <a:prstGeom prst="rect">
              <a:avLst/>
            </a:prstGeom>
            <a:solidFill>
              <a:schemeClr val="tx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3D3830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7D82C98-EA8B-4F52-968E-1A44156298D3}"/>
                </a:ext>
              </a:extLst>
            </p:cNvPr>
            <p:cNvSpPr txBox="1"/>
            <p:nvPr/>
          </p:nvSpPr>
          <p:spPr>
            <a:xfrm>
              <a:off x="2510975" y="1599805"/>
              <a:ext cx="7403580" cy="6356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dirty="0">
                  <a:solidFill>
                    <a:srgbClr val="3D3830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  <a:cs typeface="조선일보명조" pitchFamily="18" charset="-127"/>
                </a:rPr>
                <a:t>복수개의 </a:t>
              </a:r>
              <a:r>
                <a:rPr lang="en-US" altLang="ko-KR" dirty="0">
                  <a:solidFill>
                    <a:srgbClr val="3D3830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  <a:cs typeface="조선일보명조" pitchFamily="18" charset="-127"/>
                </a:rPr>
                <a:t>Parameter </a:t>
              </a:r>
              <a:r>
                <a:rPr lang="ko-KR" altLang="en-US" dirty="0">
                  <a:solidFill>
                    <a:srgbClr val="3D3830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  <a:cs typeface="조선일보명조" pitchFamily="18" charset="-127"/>
                </a:rPr>
                <a:t>중</a:t>
              </a:r>
              <a:endParaRPr lang="en-US" altLang="ko-KR" dirty="0">
                <a:solidFill>
                  <a:srgbClr val="3D3830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  <a:cs typeface="조선일보명조" pitchFamily="18" charset="-127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dirty="0">
                  <a:solidFill>
                    <a:srgbClr val="3D3830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  <a:cs typeface="조선일보명조" pitchFamily="18" charset="-127"/>
                </a:rPr>
                <a:t>Grid Search</a:t>
              </a:r>
              <a:r>
                <a:rPr lang="ko-KR" altLang="en-US" dirty="0">
                  <a:solidFill>
                    <a:srgbClr val="3D3830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  <a:cs typeface="조선일보명조" pitchFamily="18" charset="-127"/>
                </a:rPr>
                <a:t>를 사용해 최적의 </a:t>
              </a:r>
              <a:r>
                <a:rPr lang="en-US" altLang="ko-KR" dirty="0">
                  <a:solidFill>
                    <a:srgbClr val="3D3830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  <a:cs typeface="조선일보명조" pitchFamily="18" charset="-127"/>
                </a:rPr>
                <a:t>Parameter</a:t>
              </a:r>
              <a:r>
                <a:rPr lang="ko-KR" altLang="en-US" dirty="0">
                  <a:solidFill>
                    <a:srgbClr val="3D3830"/>
                  </a:solidFill>
                  <a:latin typeface="배달의민족 한나는 열한살" panose="020B0600000101010101" pitchFamily="50" charset="-127"/>
                  <a:ea typeface="배달의민족 한나는 열한살" panose="020B0600000101010101" pitchFamily="50" charset="-127"/>
                  <a:cs typeface="조선일보명조" pitchFamily="18" charset="-127"/>
                </a:rPr>
                <a:t>를 찾는 도구</a:t>
              </a:r>
              <a:endParaRPr lang="en-US" altLang="ko-KR" dirty="0">
                <a:solidFill>
                  <a:srgbClr val="3D3830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  <a:cs typeface="조선일보명조" pitchFamily="18" charset="-127"/>
              </a:endParaRPr>
            </a:p>
          </p:txBody>
        </p:sp>
      </p:grpSp>
      <p:pic>
        <p:nvPicPr>
          <p:cNvPr id="14" name="Picture 2">
            <a:extLst>
              <a:ext uri="{FF2B5EF4-FFF2-40B4-BE49-F238E27FC236}">
                <a16:creationId xmlns:a16="http://schemas.microsoft.com/office/drawing/2014/main" id="{E218E784-3FBF-44CD-8163-D9E3E5DF6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303" y="3088773"/>
            <a:ext cx="7305679" cy="934953"/>
          </a:xfrm>
          <a:prstGeom prst="rect">
            <a:avLst/>
          </a:prstGeom>
          <a:noFill/>
          <a:ln>
            <a:noFill/>
          </a:ln>
          <a:effectLst>
            <a:innerShdw blurRad="114300">
              <a:prstClr val="black">
                <a:alpha val="19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3">
            <a:extLst>
              <a:ext uri="{FF2B5EF4-FFF2-40B4-BE49-F238E27FC236}">
                <a16:creationId xmlns:a16="http://schemas.microsoft.com/office/drawing/2014/main" id="{4C6A166C-F2B5-445C-A7F3-73CFB6582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474" y="4994775"/>
            <a:ext cx="6203090" cy="895851"/>
          </a:xfrm>
          <a:prstGeom prst="rect">
            <a:avLst/>
          </a:prstGeom>
          <a:noFill/>
          <a:ln>
            <a:noFill/>
          </a:ln>
          <a:effectLst>
            <a:innerShdw blurRad="114300">
              <a:prstClr val="black">
                <a:alpha val="2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4">
            <a:extLst>
              <a:ext uri="{FF2B5EF4-FFF2-40B4-BE49-F238E27FC236}">
                <a16:creationId xmlns:a16="http://schemas.microsoft.com/office/drawing/2014/main" id="{58075B30-384C-427A-A139-4D83B57F6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131" y="4219747"/>
            <a:ext cx="6482396" cy="520114"/>
          </a:xfrm>
          <a:prstGeom prst="rect">
            <a:avLst/>
          </a:prstGeom>
          <a:noFill/>
          <a:ln>
            <a:noFill/>
          </a:ln>
          <a:effectLst>
            <a:innerShdw blurRad="114300">
              <a:prstClr val="black">
                <a:alpha val="25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5">
            <a:extLst>
              <a:ext uri="{FF2B5EF4-FFF2-40B4-BE49-F238E27FC236}">
                <a16:creationId xmlns:a16="http://schemas.microsoft.com/office/drawing/2014/main" id="{3E5B35AD-E188-41D4-9D01-9FF3C2268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018" y="4220859"/>
            <a:ext cx="3800475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47584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2051AB2-2089-4204-9542-15A818D6F0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2B18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98088" y="2444846"/>
            <a:ext cx="2704587" cy="830998"/>
          </a:xfrm>
          <a:prstGeom prst="rect">
            <a:avLst/>
          </a:prstGeom>
          <a:solidFill>
            <a:srgbClr val="3D383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  <a:cs typeface="+mn-cs"/>
              </a:rPr>
              <a:t>감사합니다</a:t>
            </a:r>
            <a:endParaRPr kumimoji="0" lang="en-US" altLang="ko-KR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배달의민족 한나는 열한살" panose="020B0600000101010101" pitchFamily="50" charset="-127"/>
              <a:ea typeface="배달의민족 한나는 열한살" panose="020B0600000101010101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06427" y="408904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배달의민족 주아" panose="02020603020101020101" pitchFamily="18" charset="-127"/>
                <a:ea typeface="배달의민족 주아" panose="02020603020101020101" pitchFamily="18" charset="-127"/>
                <a:cs typeface="+mn-cs"/>
              </a:rPr>
              <a:t>발표자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배달의민족 주아" panose="02020603020101020101" pitchFamily="18" charset="-127"/>
                <a:ea typeface="배달의민족 주아" panose="02020603020101020101" pitchFamily="18" charset="-127"/>
                <a:cs typeface="+mn-cs"/>
              </a:rPr>
              <a:t>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배달의민족 주아" panose="02020603020101020101" pitchFamily="18" charset="-127"/>
                <a:ea typeface="배달의민족 주아" panose="02020603020101020101" pitchFamily="18" charset="-127"/>
                <a:cs typeface="+mn-cs"/>
              </a:rPr>
              <a:t>장예솔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배달의민족 주아" panose="02020603020101020101" pitchFamily="18" charset="-127"/>
              <a:ea typeface="배달의민족 주아" panose="02020603020101020101" pitchFamily="18" charset="-127"/>
              <a:cs typeface="+mn-cs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2243572" y="3774779"/>
            <a:ext cx="7704856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BDFC10B7-F47F-4860-8387-775F9AFD7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665" y="1284014"/>
            <a:ext cx="838670" cy="83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90262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sb</Template>
  <TotalTime>1098</TotalTime>
  <Words>650</Words>
  <Application>Microsoft Office PowerPoint</Application>
  <PresentationFormat>와이드스크린</PresentationFormat>
  <Paragraphs>244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7" baseType="lpstr">
      <vt:lpstr>배달의민족 도현</vt:lpstr>
      <vt:lpstr>배달의민족 주아</vt:lpstr>
      <vt:lpstr>맑은 고딕</vt:lpstr>
      <vt:lpstr>조선일보명조</vt:lpstr>
      <vt:lpstr>배달의민족 한나는 열한살</vt:lpstr>
      <vt:lpstr>Arial</vt:lpstr>
      <vt:lpstr>ＭＳ Ｐゴシック</vt:lpstr>
      <vt:lpstr>Cambria Math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Saebyeol Yu</dc:creator>
  <cp:lastModifiedBy>박세연</cp:lastModifiedBy>
  <cp:revision>46</cp:revision>
  <dcterms:created xsi:type="dcterms:W3CDTF">2019-08-12T05:10:14Z</dcterms:created>
  <dcterms:modified xsi:type="dcterms:W3CDTF">2019-09-17T12:52:45Z</dcterms:modified>
</cp:coreProperties>
</file>